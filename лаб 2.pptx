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96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3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8" r:id="rId28"/>
    <p:sldId id="289" r:id="rId29"/>
    <p:sldId id="287" r:id="rId30"/>
    <p:sldId id="286" r:id="rId31"/>
    <p:sldId id="290" r:id="rId32"/>
    <p:sldId id="297" r:id="rId33"/>
    <p:sldId id="291" r:id="rId34"/>
    <p:sldId id="292" r:id="rId35"/>
    <p:sldId id="293" r:id="rId36"/>
    <p:sldId id="294" r:id="rId37"/>
    <p:sldId id="295" r:id="rId38"/>
    <p:sldId id="262" r:id="rId39"/>
  </p:sldIdLst>
  <p:sldSz cx="12954000" cy="6832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CACC"/>
          </a:solidFill>
        </a:fill>
      </a:tcStyle>
    </a:wholeTbl>
    <a:band2H>
      <a:tcTxStyle/>
      <a:tcStyle>
        <a:tcBdr/>
        <a:fill>
          <a:solidFill>
            <a:srgbClr val="F0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9DEE9"/>
          </a:solidFill>
        </a:fill>
      </a:tcStyle>
    </a:wholeTbl>
    <a:band2H>
      <a:tcTxStyle/>
      <a:tcStyle>
        <a:tcBdr/>
        <a:fill>
          <a:solidFill>
            <a:srgbClr val="EDEF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2"/>
          </a:solidFill>
        </a:fill>
      </a:tcStyle>
    </a:wholeTbl>
    <a:band2H>
      <a:tcTxStyle/>
      <a:tcStyle>
        <a:tcBdr/>
        <a:fill>
          <a:solidFill>
            <a:srgbClr val="E6F0F1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94660"/>
  </p:normalViewPr>
  <p:slideViewPr>
    <p:cSldViewPr snapToGrid="0">
      <p:cViewPr>
        <p:scale>
          <a:sx n="75" d="100"/>
          <a:sy n="75" d="100"/>
        </p:scale>
        <p:origin x="754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2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5" name="Shape 22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79388" y="685800"/>
            <a:ext cx="64992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231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" name="TextBox 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26" name="Straight Connector 11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3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" name="TextBox 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37" name="Straight Connector 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8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/>
            </a:lvl1pPr>
            <a:lvl2pPr indent="456056">
              <a:defRPr sz="2400" b="1"/>
            </a:lvl2pPr>
            <a:lvl3pPr indent="912113">
              <a:defRPr sz="2400" b="1"/>
            </a:lvl3pPr>
            <a:lvl4pPr indent="1368171">
              <a:defRPr sz="2400" b="1"/>
            </a:lvl4pPr>
            <a:lvl5pPr indent="1824227">
              <a:defRPr sz="2400" b="1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48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50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1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19196"/>
            <a:ext cx="8649708" cy="53514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5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1">
                <a:solidFill>
                  <a:schemeClr val="accent1"/>
                </a:solidFill>
              </a:defRPr>
            </a:lvl1pPr>
            <a:lvl2pPr indent="456056">
              <a:defRPr sz="3600" b="1">
                <a:solidFill>
                  <a:schemeClr val="accent1"/>
                </a:solidFill>
              </a:defRPr>
            </a:lvl2pPr>
            <a:lvl3pPr indent="912113">
              <a:defRPr sz="3600" b="1">
                <a:solidFill>
                  <a:schemeClr val="accent1"/>
                </a:solidFill>
              </a:defRPr>
            </a:lvl3pPr>
            <a:lvl4pPr indent="1368171">
              <a:defRPr sz="3600" b="1">
                <a:solidFill>
                  <a:schemeClr val="accent1"/>
                </a:solidFill>
              </a:defRPr>
            </a:lvl4pPr>
            <a:lvl5pPr indent="1824227">
              <a:defRPr sz="3600" b="1">
                <a:solidFill>
                  <a:schemeClr val="accent1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1500"/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0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77012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 b="1">
                <a:solidFill>
                  <a:srgbClr val="FFFFFF"/>
                </a:solidFill>
              </a:defRPr>
            </a:lvl1pPr>
            <a:lvl2pPr indent="456056">
              <a:defRPr sz="3600" b="1">
                <a:solidFill>
                  <a:srgbClr val="FFFFFF"/>
                </a:solidFill>
              </a:defRPr>
            </a:lvl2pPr>
            <a:lvl3pPr indent="912113">
              <a:defRPr sz="3600" b="1">
                <a:solidFill>
                  <a:srgbClr val="FFFFFF"/>
                </a:solidFill>
              </a:defRPr>
            </a:lvl3pPr>
            <a:lvl4pPr indent="1368171">
              <a:defRPr sz="3600" b="1">
                <a:solidFill>
                  <a:srgbClr val="FFFFFF"/>
                </a:solidFill>
              </a:defRPr>
            </a:lvl4pPr>
            <a:lvl5pPr indent="1824227">
              <a:defRPr sz="3600" b="1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BE003E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65" name="Picture 16" descr="Picture 16"/>
          <p:cNvPicPr>
            <a:picLocks noChangeAspect="1"/>
          </p:cNvPicPr>
          <p:nvPr/>
        </p:nvPicPr>
        <p:blipFill>
          <a:blip r:embed="rId2"/>
          <a:srcRect t="4828"/>
          <a:stretch>
            <a:fillRect/>
          </a:stretch>
        </p:blipFill>
        <p:spPr>
          <a:xfrm>
            <a:off x="10684389" y="-1"/>
            <a:ext cx="1950722" cy="9761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TextBox 1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t>2024</a:t>
            </a:r>
          </a:p>
        </p:txBody>
      </p:sp>
      <p:sp>
        <p:nvSpPr>
          <p:cNvPr id="67" name="Straight Connector 18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6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77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8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00000"/>
            <a:ext cx="9576680" cy="71435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79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" name="TextBox 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90" name="Straight Connector 10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1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900000"/>
            <a:ext cx="9627700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9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9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3" name="TextBox 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04" name="Straight Connector 12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5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00000" y="863999"/>
            <a:ext cx="9627700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06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09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" name="TextBox 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19" name="Straight Connector 14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0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892712" y="900000"/>
            <a:ext cx="9627701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21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2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4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5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4" name="TextBox 1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35" name="Straight Connector 1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6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892712" y="900000"/>
            <a:ext cx="9627701" cy="7405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100"/>
            </a:lvl1pPr>
          </a:lstStyle>
          <a:p>
            <a:r>
              <a:t>Образец заголовка</a:t>
            </a:r>
          </a:p>
        </p:txBody>
      </p:sp>
      <p:sp>
        <p:nvSpPr>
          <p:cNvPr id="137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500"/>
            </a:lvl1pPr>
            <a:lvl2pPr indent="456056">
              <a:defRPr sz="1500"/>
            </a:lvl2pPr>
            <a:lvl3pPr indent="912113">
              <a:defRPr sz="1500"/>
            </a:lvl3pPr>
            <a:lvl4pPr indent="1368171">
              <a:defRPr sz="1500"/>
            </a:lvl4pPr>
            <a:lvl5pPr indent="1824227">
              <a:defRPr sz="15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40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1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2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3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" name="TextBox 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54" name="Straight Connector 9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5900"/>
            </a:lvl1pPr>
          </a:lstStyle>
          <a:p>
            <a:r>
              <a:t>Текст заголовка</a:t>
            </a:r>
          </a:p>
        </p:txBody>
      </p:sp>
      <p:sp>
        <p:nvSpPr>
          <p:cNvPr id="156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888888"/>
                </a:solidFill>
              </a:defRPr>
            </a:lvl1pPr>
            <a:lvl2pPr indent="456056">
              <a:defRPr sz="2300">
                <a:solidFill>
                  <a:srgbClr val="888888"/>
                </a:solidFill>
              </a:defRPr>
            </a:lvl2pPr>
            <a:lvl3pPr indent="912113">
              <a:defRPr sz="2300">
                <a:solidFill>
                  <a:srgbClr val="888888"/>
                </a:solidFill>
              </a:defRPr>
            </a:lvl3pPr>
            <a:lvl4pPr indent="1368171">
              <a:defRPr sz="2300">
                <a:solidFill>
                  <a:srgbClr val="888888"/>
                </a:solidFill>
              </a:defRPr>
            </a:lvl4pPr>
            <a:lvl5pPr indent="1824227">
              <a:defRPr sz="2300"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5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Рисунок 9" descr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" name="TextBox 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67" name="Straight Connector 8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178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2024</a:t>
            </a:r>
          </a:p>
        </p:txBody>
      </p:sp>
      <p:sp>
        <p:nvSpPr>
          <p:cNvPr id="181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2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183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7_Титульный слайд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19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192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193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195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6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_Титульный слайд"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ОБРАЗЕЦ ЗАГОЛОВКА"/>
          <p:cNvSpPr txBox="1">
            <a:spLocks noGrp="1"/>
          </p:cNvSpPr>
          <p:nvPr>
            <p:ph type="title" hasCustomPrompt="1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900">
                <a:solidFill>
                  <a:srgbClr val="FFFFFF"/>
                </a:solidFill>
                <a:latin typeface="+mn-lt"/>
                <a:ea typeface="+mn-ea"/>
                <a:cs typeface="+mn-cs"/>
                <a:sym typeface="Times New Roman"/>
              </a:defRPr>
            </a:lvl1pPr>
          </a:lstStyle>
          <a:p>
            <a:r>
              <a:t>ОБРАЗЕЦ ЗАГОЛОВКА</a:t>
            </a:r>
          </a:p>
        </p:txBody>
      </p:sp>
      <p:sp>
        <p:nvSpPr>
          <p:cNvPr id="205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300">
                <a:solidFill>
                  <a:srgbClr val="FFFFFF"/>
                </a:solidFill>
              </a:defRPr>
            </a:lvl1pPr>
            <a:lvl2pPr indent="456056">
              <a:defRPr sz="2300">
                <a:solidFill>
                  <a:srgbClr val="FFFFFF"/>
                </a:solidFill>
              </a:defRPr>
            </a:lvl2pPr>
            <a:lvl3pPr indent="912113">
              <a:defRPr sz="2300">
                <a:solidFill>
                  <a:srgbClr val="FFFFFF"/>
                </a:solidFill>
              </a:defRPr>
            </a:lvl3pPr>
            <a:lvl4pPr indent="1368171">
              <a:defRPr sz="2300">
                <a:solidFill>
                  <a:srgbClr val="FFFFFF"/>
                </a:solidFill>
              </a:defRPr>
            </a:lvl4pPr>
            <a:lvl5pPr indent="1824227">
              <a:defRPr sz="23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206" name="Рисунок 21" descr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519" y="0"/>
            <a:ext cx="4189831" cy="6840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Рисунок 13" descr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9" y="329337"/>
            <a:ext cx="1862897" cy="819676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TextBox 12"/>
          <p:cNvSpPr txBox="1"/>
          <p:nvPr/>
        </p:nvSpPr>
        <p:spPr>
          <a:xfrm rot="16200000">
            <a:off x="11737005" y="954870"/>
            <a:ext cx="690615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209" name="Straight Connector 14"/>
          <p:cNvSpPr/>
          <p:nvPr/>
        </p:nvSpPr>
        <p:spPr>
          <a:xfrm>
            <a:off x="12128268" y="1404850"/>
            <a:ext cx="1" cy="2302626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0" name="TextBox 15"/>
          <p:cNvSpPr txBox="1"/>
          <p:nvPr/>
        </p:nvSpPr>
        <p:spPr>
          <a:xfrm rot="16200000">
            <a:off x="11531872" y="5633390"/>
            <a:ext cx="109710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 spc="100">
                <a:solidFill>
                  <a:srgbClr val="FFFFFF"/>
                </a:solidFill>
              </a:defRPr>
            </a:lvl1pPr>
          </a:lstStyle>
          <a:p>
            <a:r>
              <a:t>РАНХиГС</a:t>
            </a:r>
          </a:p>
        </p:txBody>
      </p:sp>
      <p:sp>
        <p:nvSpPr>
          <p:cNvPr id="21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</p:spPr>
        <p:txBody>
          <a:bodyPr lIns="25305" tIns="25305" rIns="25305" bIns="25305" anchor="b"/>
          <a:lstStyle>
            <a:lvl1pPr algn="ctr" defTabSz="291018">
              <a:defRPr sz="80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9" descr="Рисунок 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56487" y="124476"/>
            <a:ext cx="1574790" cy="687183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Прямоугольник 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extBox 1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808080"/>
                </a:solidFill>
              </a:defRPr>
            </a:lvl1pPr>
          </a:lstStyle>
          <a:p>
            <a:r>
              <a:t>2023</a:t>
            </a:r>
          </a:p>
        </p:txBody>
      </p:sp>
      <p:sp>
        <p:nvSpPr>
          <p:cNvPr id="5" name="Straight Connector 16"/>
          <p:cNvSpPr/>
          <p:nvPr/>
        </p:nvSpPr>
        <p:spPr>
          <a:xfrm>
            <a:off x="1258528" y="6571636"/>
            <a:ext cx="2303435" cy="1"/>
          </a:xfrm>
          <a:prstGeom prst="line">
            <a:avLst/>
          </a:prstGeom>
          <a:ln w="19050">
            <a:solidFill>
              <a:srgbClr val="80808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" name="Рисунок 7" descr="Рисунок 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902203" y="0"/>
            <a:ext cx="1058147" cy="6840539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4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Текст заголовка</a:t>
            </a:r>
          </a:p>
        </p:txBody>
      </p:sp>
      <p:sp>
        <p:nvSpPr>
          <p:cNvPr id="9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txStyles>
    <p:titleStyle>
      <a:lvl1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211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1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494900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50957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07014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63071" marR="0" indent="-214615" algn="l" defTabSz="912113" rtl="0" latinLnBrk="0">
        <a:lnSpc>
          <a:spcPct val="100000"/>
        </a:lnSpc>
        <a:spcBef>
          <a:spcPts val="900"/>
        </a:spcBef>
        <a:spcAft>
          <a:spcPts val="0"/>
        </a:spcAft>
        <a:buClrTx/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21.xml"/><Relationship Id="rId3" Type="http://schemas.openxmlformats.org/officeDocument/2006/relationships/slide" Target="slide4.xml"/><Relationship Id="rId7" Type="http://schemas.openxmlformats.org/officeDocument/2006/relationships/slide" Target="slide11.xml"/><Relationship Id="rId12" Type="http://schemas.openxmlformats.org/officeDocument/2006/relationships/slide" Target="slide20.xml"/><Relationship Id="rId2" Type="http://schemas.openxmlformats.org/officeDocument/2006/relationships/slide" Target="slide3.xml"/><Relationship Id="rId16" Type="http://schemas.openxmlformats.org/officeDocument/2006/relationships/slide" Target="slide3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7.xml"/><Relationship Id="rId11" Type="http://schemas.openxmlformats.org/officeDocument/2006/relationships/slide" Target="slide17.xml"/><Relationship Id="rId5" Type="http://schemas.openxmlformats.org/officeDocument/2006/relationships/slide" Target="slide6.xml"/><Relationship Id="rId15" Type="http://schemas.openxmlformats.org/officeDocument/2006/relationships/slide" Target="slide36.xml"/><Relationship Id="rId10" Type="http://schemas.openxmlformats.org/officeDocument/2006/relationships/slide" Target="slide16.xml"/><Relationship Id="rId4" Type="http://schemas.openxmlformats.org/officeDocument/2006/relationships/slide" Target="slide5.xml"/><Relationship Id="rId9" Type="http://schemas.openxmlformats.org/officeDocument/2006/relationships/slide" Target="slide15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log.gov.ru/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mbpmn.com/" TargetMode="External"/><Relationship Id="rId3" Type="http://schemas.openxmlformats.org/officeDocument/2006/relationships/hyperlink" Target="https://online-kassa.ru/blog/kak-rabotat-na-kasse-instruktsiya-dlya-kassira/" TargetMode="External"/><Relationship Id="rId7" Type="http://schemas.openxmlformats.org/officeDocument/2006/relationships/hyperlink" Target="https://bpmn20.ru/docs/docly-documentation/elements/oficzialnaya-dokumentacziya-bpmn/" TargetMode="External"/><Relationship Id="rId2" Type="http://schemas.openxmlformats.org/officeDocument/2006/relationships/hyperlink" Target="http://www.consultant.ru/document/cons_doc_LAW_42359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pmn2.0.ru/" TargetMode="External"/><Relationship Id="rId5" Type="http://schemas.openxmlformats.org/officeDocument/2006/relationships/hyperlink" Target="https://www.nalog.gov.ru/" TargetMode="External"/><Relationship Id="rId4" Type="http://schemas.openxmlformats.org/officeDocument/2006/relationships/hyperlink" Target="https://torg.1c.ru/upload/iblock/5eb/5eb2d08927a7fe3ffebcf4a866836949.pdf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itle 1"/>
          <p:cNvSpPr txBox="1">
            <a:spLocks noGrp="1"/>
          </p:cNvSpPr>
          <p:nvPr>
            <p:ph type="title"/>
          </p:nvPr>
        </p:nvSpPr>
        <p:spPr>
          <a:xfrm>
            <a:off x="693174" y="977528"/>
            <a:ext cx="11045339" cy="304105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ru-RU" sz="5000" dirty="0">
                <a:effectLst/>
                <a:ea typeface="Open Sans ExtraBold" pitchFamily="2" charset="0"/>
                <a:cs typeface="Open Sans ExtraBold" pitchFamily="2" charset="0"/>
              </a:rPr>
              <a:t>Реквизитный анализ экономического документа и создание его </a:t>
            </a:r>
            <a:r>
              <a:rPr lang="ru-RU" sz="5000" dirty="0" err="1">
                <a:effectLst/>
                <a:ea typeface="Open Sans ExtraBold" pitchFamily="2" charset="0"/>
                <a:cs typeface="Open Sans ExtraBold" pitchFamily="2" charset="0"/>
              </a:rPr>
              <a:t>внутримашинного</a:t>
            </a:r>
            <a:r>
              <a:rPr lang="ru-RU" sz="5000" dirty="0">
                <a:effectLst/>
                <a:ea typeface="Open Sans ExtraBold" pitchFamily="2" charset="0"/>
                <a:cs typeface="Open Sans ExtraBold" pitchFamily="2" charset="0"/>
              </a:rPr>
              <a:t> представления</a:t>
            </a:r>
            <a:endParaRPr lang="ru-RU" sz="5000" dirty="0">
              <a:ea typeface="Open Sans ExtraBold" pitchFamily="2" charset="0"/>
              <a:cs typeface="Open Sans ExtraBold" pitchFamily="2" charset="0"/>
            </a:endParaRPr>
          </a:p>
        </p:txBody>
      </p:sp>
      <p:sp>
        <p:nvSpPr>
          <p:cNvPr id="228" name="Subtitle 2"/>
          <p:cNvSpPr txBox="1">
            <a:spLocks noGrp="1"/>
          </p:cNvSpPr>
          <p:nvPr>
            <p:ph type="body" sz="quarter" idx="1"/>
          </p:nvPr>
        </p:nvSpPr>
        <p:spPr>
          <a:xfrm>
            <a:off x="916863" y="4807537"/>
            <a:ext cx="10423444" cy="104753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algn="r">
              <a:spcBef>
                <a:spcPts val="0"/>
              </a:spcBef>
              <a:defRPr>
                <a:latin typeface="+mn-lt"/>
                <a:ea typeface="+mn-ea"/>
                <a:cs typeface="+mn-cs"/>
                <a:sym typeface="Times New Roman"/>
              </a:defRPr>
            </a:pPr>
            <a:r>
              <a:rPr lang="ru-RU" dirty="0"/>
              <a:t>Выполнили студенты группы Иб-321:</a:t>
            </a:r>
            <a:br>
              <a:rPr lang="ru-RU" dirty="0"/>
            </a:br>
            <a:r>
              <a:rPr lang="ru-RU" dirty="0"/>
              <a:t>Туманова Дарья Александровна</a:t>
            </a:r>
            <a:br>
              <a:rPr lang="ru-RU" dirty="0"/>
            </a:br>
            <a:r>
              <a:rPr lang="ru-RU" dirty="0"/>
              <a:t>Храмова Екатерина Ивановна</a:t>
            </a:r>
            <a:endParaRPr dirty="0"/>
          </a:p>
        </p:txBody>
      </p:sp>
      <p:sp>
        <p:nvSpPr>
          <p:cNvPr id="229" name="TextBox 3"/>
          <p:cNvSpPr txBox="1"/>
          <p:nvPr/>
        </p:nvSpPr>
        <p:spPr>
          <a:xfrm>
            <a:off x="913800" y="6125934"/>
            <a:ext cx="214692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rPr dirty="0" err="1"/>
              <a:t>Нижний</a:t>
            </a:r>
            <a:r>
              <a:rPr dirty="0"/>
              <a:t> </a:t>
            </a:r>
            <a:r>
              <a:rPr dirty="0" err="1"/>
              <a:t>Новгород</a:t>
            </a:r>
            <a:r>
              <a:rPr dirty="0"/>
              <a:t>, 202</a:t>
            </a:r>
            <a:r>
              <a:rPr lang="ru-RU" dirty="0"/>
              <a:t>6</a:t>
            </a:r>
            <a:endParaRPr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8294112-4E27-E1E5-8F8A-6373CC63DCE7}"/>
              </a:ext>
            </a:extLst>
          </p:cNvPr>
          <p:cNvSpPr/>
          <p:nvPr/>
        </p:nvSpPr>
        <p:spPr>
          <a:xfrm>
            <a:off x="11985523" y="707923"/>
            <a:ext cx="275303" cy="590941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СОДЕРЖАНИЕ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C2F814-276D-2344-3418-70F83DB3AED8}"/>
              </a:ext>
            </a:extLst>
          </p:cNvPr>
          <p:cNvSpPr txBox="1"/>
          <p:nvPr/>
        </p:nvSpPr>
        <p:spPr>
          <a:xfrm>
            <a:off x="2663333" y="830978"/>
            <a:ext cx="7627334" cy="517064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  <a:hlinkClick r:id="rId2" action="ppaction://hlinksldjump"/>
              </a:rPr>
              <a:t>Цель работы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…………………………………………………...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3</a:t>
            </a: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3" action="ppaction://hlinksldjump"/>
              </a:rPr>
              <a:t>Задачи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…………………………………………………………..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4</a:t>
            </a:r>
            <a:br>
              <a:rPr lang="ru-RU" sz="2200" dirty="0">
                <a:latin typeface="+mn-lt"/>
              </a:rPr>
            </a:br>
            <a:r>
              <a:rPr lang="ru-RU" sz="2200" dirty="0">
                <a:latin typeface="+mn-lt"/>
                <a:hlinkClick r:id="rId4" action="ppaction://hlinksldjump"/>
              </a:rPr>
              <a:t>Используемое ПО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……………...……………………………..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5</a:t>
            </a:r>
            <a:br>
              <a:rPr lang="ru-RU" sz="2200" dirty="0">
                <a:latin typeface="+mn-lt"/>
              </a:rPr>
            </a:br>
            <a:r>
              <a:rPr lang="ru-RU" sz="2200" dirty="0">
                <a:latin typeface="+mn-lt"/>
                <a:hlinkClick r:id="rId5" action="ppaction://hlinksldjump"/>
              </a:rPr>
              <a:t>Выбор документа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……………………………………………..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6</a:t>
            </a:r>
            <a:br>
              <a:rPr lang="ru-RU" sz="2200" dirty="0">
                <a:latin typeface="+mn-lt"/>
              </a:rPr>
            </a:br>
            <a:r>
              <a:rPr lang="ru-RU" sz="2200" dirty="0">
                <a:latin typeface="+mn-lt"/>
                <a:hlinkClick r:id="rId6" action="ppaction://hlinksldjump"/>
              </a:rPr>
              <a:t>Реквизитный анализ документа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7</a:t>
            </a:r>
            <a:br>
              <a:rPr lang="ru-RU" sz="2200" dirty="0">
                <a:latin typeface="+mn-lt"/>
              </a:rPr>
            </a:br>
            <a:r>
              <a:rPr lang="ru-RU" sz="2200" dirty="0">
                <a:latin typeface="+mn-lt"/>
                <a:hlinkClick r:id="rId7" action="ppaction://hlinksldjump"/>
              </a:rPr>
              <a:t>Финансовые и экономические реквизиты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11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8" action="ppaction://hlinksldjump"/>
              </a:rPr>
              <a:t>Описание процесса работы с документом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……………....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13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9" action="ppaction://hlinksldjump"/>
              </a:rPr>
              <a:t>Изучение назначения и особенностей </a:t>
            </a:r>
            <a:r>
              <a:rPr lang="en-US" sz="2200" dirty="0">
                <a:latin typeface="+mn-lt"/>
                <a:hlinkClick r:id="rId9" action="ppaction://hlinksldjump"/>
              </a:rPr>
              <a:t>BPMN 2.0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……...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15</a:t>
            </a:r>
            <a:endParaRPr lang="en-US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0" action="ppaction://hlinksldjump"/>
              </a:rPr>
              <a:t>История и стандартизация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………………………………....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16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1" action="ppaction://hlinksldjump"/>
              </a:rPr>
              <a:t>Ключевые особенности </a:t>
            </a:r>
            <a:r>
              <a:rPr lang="en-US" sz="2200" dirty="0">
                <a:latin typeface="+mn-lt"/>
                <a:hlinkClick r:id="rId11" action="ppaction://hlinksldjump"/>
              </a:rPr>
              <a:t>BPMN 2.0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17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2" action="ppaction://hlinksldjump"/>
              </a:rPr>
              <a:t>Преимущества использования </a:t>
            </a:r>
            <a:r>
              <a:rPr lang="en-US" sz="2200" dirty="0">
                <a:latin typeface="+mn-lt"/>
                <a:hlinkClick r:id="rId12" action="ppaction://hlinksldjump"/>
              </a:rPr>
              <a:t>BPMN 2.0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20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3" action="ppaction://hlinksldjump"/>
              </a:rPr>
              <a:t>Моделирование процесса в нотации </a:t>
            </a:r>
            <a:r>
              <a:rPr lang="en-US" sz="2200" dirty="0">
                <a:latin typeface="+mn-lt"/>
                <a:hlinkClick r:id="rId13" action="ppaction://hlinksldjump"/>
              </a:rPr>
              <a:t>BPMN 2.0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21</a:t>
            </a:r>
            <a:endParaRPr lang="ru-RU" sz="2200" dirty="0">
              <a:latin typeface="+mn-lt"/>
            </a:endParaRP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4" action="ppaction://hlinksldjump"/>
              </a:rPr>
              <a:t>Проектирование базы данных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23</a:t>
            </a:r>
          </a:p>
          <a:p>
            <a:pPr marL="0" marR="0" indent="0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200" dirty="0">
                <a:latin typeface="+mn-lt"/>
                <a:hlinkClick r:id="rId15" action="ppaction://hlinksldjump"/>
              </a:rPr>
              <a:t>Вывод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……………………………….………………………….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36</a:t>
            </a:r>
            <a:br>
              <a:rPr lang="ru-RU" sz="2200" dirty="0">
                <a:latin typeface="+mn-lt"/>
              </a:rPr>
            </a:br>
            <a:r>
              <a:rPr lang="ru-RU" sz="2200" dirty="0">
                <a:latin typeface="+mn-lt"/>
                <a:hlinkClick r:id="rId16" action="ppaction://hlinksldjump"/>
              </a:rPr>
              <a:t>Используемые источники</a:t>
            </a:r>
            <a:r>
              <a:rPr kumimoji="0" lang="ru-RU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…………………………………..</a:t>
            </a:r>
            <a:r>
              <a:rPr kumimoji="0" lang="ru-RU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37</a:t>
            </a:r>
            <a:endParaRPr lang="ru-RU" sz="2200" dirty="0">
              <a:latin typeface="+mn-lt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2030361" y="1503452"/>
            <a:ext cx="8893277" cy="28031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Провести реквизитный анализ экономического документа (кассового чека), смоделировать процесс его обработки с использованием нотации BPMN 2.0 и разработать структуру базы данных (концептуальную, логическую, физическую) для хранения его </a:t>
            </a:r>
            <a:r>
              <a:rPr lang="ru-RU" sz="2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внутримашинного</a:t>
            </a: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представления.</a:t>
            </a:r>
            <a:endParaRPr lang="en-US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ЦЕЛЬ РАБОТЫ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047600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462116" y="702546"/>
            <a:ext cx="9896168" cy="5819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Выбрать экономический документ в соответствии с заданием.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Провести реквизитный анализ выбранного документа.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Выделить в документе финансовые и экономические реквизиты.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Изучить и описать процесс работы с документом, используя найденные в интернете источники.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Изучить стандарт BPMN 2.0 и освоить инструмент для создания диаграмм.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Разработать схему процесса обработки документа в нотации BPMN 2.0.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Спроектировать базу данных для хранения информации из документа на концептуальном, логическом и физическом уровнях.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20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Оформить отчет и сохранить его в репозитории.</a:t>
            </a:r>
            <a:endParaRPr lang="en-US" sz="200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3903407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ЗАДАЧИ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5086692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65354" y="1455182"/>
            <a:ext cx="10849898" cy="376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Операционная система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Microsoft Windows 11</a:t>
            </a:r>
            <a:r>
              <a:rPr lang="en-US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Текстовый редактор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Microsoft Word 2021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Инструмент BPMN-моделирования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4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Stormbpmn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(онлайн-сервис, https://stormbpmn.com/)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Инструмент проектирования БД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 Draw.io (онлайн-сервис для создания диаграмм)</a:t>
            </a:r>
            <a:endParaRPr lang="en-US" sz="2400" dirty="0">
              <a:solidFill>
                <a:srgbClr val="0F1115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36832"/>
            <a:ext cx="4699820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ИСПОЛЬЗУЕМОЕ ПО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8650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142272" y="1095486"/>
            <a:ext cx="7251289" cy="446513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выполнения лабораторной работы был выбран документ, представленный на изображении. Это кассовый чек, сформированный обществом с ограниченной ответственностью «Альфа». Данный документ является первичным учетным документом, подтверждающим факт приобретения товара (мебельного гарнитура) и осуществления денежного расчета.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67609"/>
            <a:ext cx="6479458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ВЫБОР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9FCA092-49CB-9337-8745-AFDA6217D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634" y="812175"/>
            <a:ext cx="3238500" cy="5401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6022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337187" y="1622732"/>
            <a:ext cx="10279626" cy="35871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 ходе анализа структуры кассового чека были выделены постоянные и переменные реквизиты, а также идентифицированы обязательные элементы, предусмотренные Федеральным законом № 54-ФЗ.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Кассовый чек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— это документ, подтверждающий факт оплаты товаров или услуг. Его структура включает следующие обязательные реквизиты.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80767" y="167609"/>
            <a:ext cx="8937523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710222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60438" y="1187324"/>
            <a:ext cx="11833123" cy="44579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Постоянные реквизиты (остаются неизменными для всех чеков данного продавца):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продавца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ООО «Альфа»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ИНН продавца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7701123456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Система налогообложения (СНО)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ОСН (Общая система налогообложения)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Адрес и место расчетов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121000 г. Москва, ул. Лесная д. 8, Деловой центр «АВС», офис 500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Регистрационный номер ККТ (РН ККТ)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0000000012345678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Сайт ФНС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 </a:t>
            </a:r>
            <a:r>
              <a:rPr lang="ru-RU" sz="2400" u="none" strike="noStrike" dirty="0">
                <a:solidFill>
                  <a:srgbClr val="0070C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www.nalog.gov.ru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67609"/>
            <a:ext cx="8534400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447060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865238" y="736979"/>
            <a:ext cx="11213691" cy="5565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Переменные реквизиты (уникальны для каждой операции):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документа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«КАССОВЫЙ ЧЕК»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Указание типа операции, "ПРИХОД" (получение средств от покупателя).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Мебельный гарнитур «Вектор»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 товара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Стоимость с учетом скидок/наценок (ИТОГ)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4 000.00 (выделена отдельной строкой)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предмета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ТОВАР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94041" y="146344"/>
            <a:ext cx="868188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7207618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648929" y="829790"/>
            <a:ext cx="11656142" cy="51730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Признак способа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Полный расчет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НАЛИЧНЫМИ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 расчета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03.03.23 15:30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Фискальные данные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ФН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(номер фискального накопителя): 9897078944322222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(фискальный документ): 181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ФПД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(фискальный признак документа): 1438138231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ФИО Кассира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Иванова Анна Ивановна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228600" algn="just">
              <a:lnSpc>
                <a:spcPct val="150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Обязательные реквизиты кассового чека регламентируются законодательством РФ.</a:t>
            </a:r>
            <a:endParaRPr lang="en-US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63561" y="156504"/>
            <a:ext cx="8642555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РЕКВИЗИТНЫЙ АНАЛИЗ ДОКУМЕНТА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907844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113503" y="1115285"/>
            <a:ext cx="10726993" cy="46020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предоставленном чеке присутствуют следующие реквизиты, имеющие финансовое и экономическое значение: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Финансовые реквизиты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(непосредственно отражают движение денежных средств):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 руб. — стоимость одного товара.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Итоговая сумма (ИТОГ)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24 000.00 руб. — общая сумма денежных средств, полученных от покупателя. Является ключевым финансовым показателем операции.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4 000.00 руб. — сумма налога на добавленную стоимость, подлежащая уплате в бюджет.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НАЛИЧНЫМИ — указывает на форму денежного обращения.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ФИНАНСОВЫЕ И ЭКОНОМИЧЕСКИЕ РЕКВИЗИТЫ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3712400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406809" y="861370"/>
            <a:ext cx="12140381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Экономические реквизиты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(характеризуют хозяйственную операцию, ее состав и участников):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Мебельный гарнитур «Вектор» — объект хозяйственной операции.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1.00 — количественная мера товара.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ИНН продавца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7701123456 — идентификатор экономического субъекта (продавца) для налогового учета.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Система налогообложения (СНО)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ОСН — определяет порядок налогового учета и расчета налогов.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03.03.23 15:30 — временная характеристика экономического события.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Фискальный признак (ФПД)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1438138231 — уникальный идентификатор документа в системе ФНС, гарантирующий его подлинность и неизменность.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ФИНАНСОВЫЕ И ЭКОНОМИЧЕСКИЕ РЕКВИЗИТЫ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313985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435077" y="690827"/>
            <a:ext cx="12083846" cy="55769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Процесс работы с кассовым чеком в общем случае включает несколько этапов, как со стороны продавца, так и со стороны покупателя.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Инициирование покупки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Покупатель выбирает товар и предъявляет его кассиру для оплаты.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Регистрация товара в системе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Кассир с помощью сканера или вручную вносит информацию о товаре (его наименование, цену, количество) в кассовое программное обеспечение. В данном случае, товар один, поэтому процесс прост.</a:t>
            </a: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итога чека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Кассовая программа автоматически рассчитывает итоговую сумму покупки, включая налоги (НДС), и отображает ее для покупателя.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+mj-lt"/>
              <a:buAutoNum type="arabicPeriod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Осуществление оплаты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Покупатель производит оплату наличными денежными средствами. Кассир принимает деньги.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lvl="0" algn="just">
              <a:lnSpc>
                <a:spcPct val="150000"/>
              </a:lnSpc>
              <a:tabLst>
                <a:tab pos="457200" algn="l"/>
              </a:tabLst>
            </a:pP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ОПИСАНИЕ ПРОЦЕССА РАБОТЫ С ДОКУМЕНТОМ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3817199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865238" y="995799"/>
            <a:ext cx="11230896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Фискализация</a:t>
            </a: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печать чека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После внесения суммы оплаты, кассир закрывает чек. Контрольно-кассовая техника (ККТ) передает данные о чеке в фискальный накопитель, который формирует фискальные признаки (ФД, ФПД). Затем ККТ печатает чек на бумажном носителе.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Передача чека покупателю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Кассир отдает покупателю бумажный чек, который служит единственным подтверждением покупки при расчете наличными.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 startAt="5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Передача данных в ФНС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Фискальный накопитель хранит данные о всех операциях и периодически (в соответствии с настройками) передает их оператору фискальных данных (ОФД), который, в свою очередь, направляет их в Федеральную налоговую службу (ФНС).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9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ОПИСАНИЕ ПРОЦЕССА РАБОТЫ С ДОКУМЕНТОМ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14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56765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851604"/>
            <a:ext cx="12644284" cy="58441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2.0 (Business Process Model </a:t>
            </a:r>
            <a:r>
              <a:rPr lang="ru-RU" sz="20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and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Notation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это международный стандарт моделирования бизнес-процессов, разработанный для создания понятных и единообразных схем, описывающих последовательность действий, роли участников и потоки информации в организации.</a:t>
            </a:r>
            <a:endParaRPr lang="en-US" sz="2000" dirty="0">
              <a:solidFill>
                <a:srgbClr val="0F1115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en-US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Основная цель BPMN 2.0 — создать универсальный язык общения между разными участниками процесса: бизнес-аналитиками, разработчиками, менеджерами и исполнителями. Стандарт позволяет 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Визуализировать процессы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наглядно представить, как работает тот или иной процесс от начала до конца.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Устранить неоднозначности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графические схемы понятнее текстовых описаний и исключают разночтения.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Связать бизнес и IT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диаграммы BPMN могут быть преобразованы в исполняемый код (XML) для движков бизнес-процессов 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Оптимизировать деятельность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выявлять узкие места, дублирование функций и возможности для автоматизации.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865238" y="209507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ИЗУЧЕНИЕ НАЗНАЧЕНИЯ И ОСОБЕННОСТЕЙ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4003270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765687" y="1187324"/>
            <a:ext cx="11063748" cy="44579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en-US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был изначально разработан организацией BPMI.org в 2004 году. В 2005 году BPMI объединилась с Object Management Group (OMG), которая взяла на себя дальнейшее развитие стандарта. Версия </a:t>
            </a: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BPMN 2.0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была выпущена в 2011 году и стала важным этапом развития, так как ввела не только графическую нотацию, но и формальную метамодель, а также формат обмена данными.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2013 году BPMN 2.0 получил официальное признание как международный стандарт ISO </a:t>
            </a: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ISO/IEC 19510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что подтверждает его глобальное значение и применение в различных отраслях.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34064" y="189842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800" b="1" dirty="0">
                <a:solidFill>
                  <a:schemeClr val="accent1"/>
                </a:solidFill>
                <a:latin typeface="+mn-lt"/>
              </a:rPr>
              <a:t>ИСТОРИЯ И СТАНДАРТИЗАЦИЯ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53799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851604"/>
            <a:ext cx="12644284" cy="7677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b="1" dirty="0">
                <a:solidFill>
                  <a:srgbClr val="0F1115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1. Четыре основные категории элементов</a:t>
            </a:r>
            <a:endParaRPr lang="ru-RU" b="1" dirty="0"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Нотация BPMN 2.0 включает более 100 различных символов, но все они группируются в четыре основные категории:</a:t>
            </a:r>
            <a:endParaRPr lang="en-US" sz="1800" dirty="0">
              <a:effectLst/>
              <a:latin typeface="+mn-lt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43896" y="179183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81E10C5-55BA-7F41-8273-77B75F520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187077"/>
              </p:ext>
            </p:extLst>
          </p:nvPr>
        </p:nvGraphicFramePr>
        <p:xfrm>
          <a:off x="602226" y="1768518"/>
          <a:ext cx="11749548" cy="4303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578941">
                  <a:extLst>
                    <a:ext uri="{9D8B030D-6E8A-4147-A177-3AD203B41FA5}">
                      <a16:colId xmlns:a16="http://schemas.microsoft.com/office/drawing/2014/main" val="2126030946"/>
                    </a:ext>
                  </a:extLst>
                </a:gridCol>
                <a:gridCol w="3441291">
                  <a:extLst>
                    <a:ext uri="{9D8B030D-6E8A-4147-A177-3AD203B41FA5}">
                      <a16:colId xmlns:a16="http://schemas.microsoft.com/office/drawing/2014/main" val="2738707327"/>
                    </a:ext>
                  </a:extLst>
                </a:gridCol>
                <a:gridCol w="4729316">
                  <a:extLst>
                    <a:ext uri="{9D8B030D-6E8A-4147-A177-3AD203B41FA5}">
                      <a16:colId xmlns:a16="http://schemas.microsoft.com/office/drawing/2014/main" val="2533489795"/>
                    </a:ext>
                  </a:extLst>
                </a:gridCol>
              </a:tblGrid>
              <a:tr h="2387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b="1" dirty="0">
                          <a:effectLst/>
                        </a:rPr>
                        <a:t>Категория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b="1" dirty="0">
                          <a:effectLst/>
                        </a:rPr>
                        <a:t>Описание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b="1" dirty="0">
                          <a:effectLst/>
                        </a:rPr>
                        <a:t>Примеры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403765"/>
                  </a:ext>
                </a:extLst>
              </a:tr>
              <a:tr h="116205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</a:rPr>
                        <a:t>Объекты потока (</a:t>
                      </a:r>
                      <a:r>
                        <a:rPr lang="ru-RU" sz="1400" dirty="0" err="1">
                          <a:effectLst/>
                        </a:rPr>
                        <a:t>Flow</a:t>
                      </a:r>
                      <a:r>
                        <a:rPr lang="ru-RU" sz="1400" dirty="0">
                          <a:effectLst/>
                        </a:rPr>
                        <a:t> </a:t>
                      </a:r>
                      <a:r>
                        <a:rPr lang="ru-RU" sz="1400" dirty="0" err="1">
                          <a:effectLst/>
                        </a:rPr>
                        <a:t>Objects</a:t>
                      </a:r>
                      <a:r>
                        <a:rPr lang="ru-RU" sz="1400" dirty="0">
                          <a:effectLst/>
                        </a:rPr>
                        <a:t>)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</a:rPr>
                        <a:t>Основные строительные блоки, определяющие поведение процесса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</a:rPr>
                        <a:t>События (круги), действия (прямоугольники со скруглениями), шлюзы (ромбы)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759272579"/>
                  </a:ext>
                </a:extLst>
              </a:tr>
              <a:tr h="130832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Соединяющие объекты (Connecting Objects)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Показывают, как элементы связаны между собой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Поток управления (сплошная стрелка), поток сообщений (пунктирная), ассоциации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194504253"/>
                  </a:ext>
                </a:extLst>
              </a:tr>
              <a:tr h="7735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Зоны ответственности (Swimlanes)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Группируют действия по исполнителям или отделам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Пулы (целые организации) и дорожки (роли внутри пула)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1043370756"/>
                  </a:ext>
                </a:extLst>
              </a:tr>
              <a:tr h="7735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Артефакты (Artifacts)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Добавляют дополнительную информацию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</a:rPr>
                        <a:t>Объекты данных, группы, текстовые аннотации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179" marR="68179" marT="0" marB="0" anchor="ctr"/>
                </a:tc>
                <a:extLst>
                  <a:ext uri="{0D108BD9-81ED-4DB2-BD59-A6C34878D82A}">
                    <a16:rowId xmlns:a16="http://schemas.microsoft.com/office/drawing/2014/main" val="37518367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9081288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851604"/>
            <a:ext cx="12644284" cy="56393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2. Исполняемость и переносимость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В отличие от предыдущих версий, BPMN 2.0 определяет не только графическую нотацию, но и формальный XML-формат для обмена моделями между различными инструментами. Это означает, что процесс, созданный в одном редакторе (например,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Camunda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Modeler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), может быть открыт в другом (например,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Bizagi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 и даже исполнен на движке бизнес-процессов.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Расширяемость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Стандарт предусматривает возможность расширения за счет добавления собственных атрибутов и элементов, что позволяет адаптировать его под специфические нужды организаций, сохраняя совместимость с базовым стандартом.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0407840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565354" y="1166236"/>
            <a:ext cx="10935929" cy="498771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ru-RU" sz="2400" b="1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Поддержка различных уровней детализации</a:t>
            </a:r>
            <a:endParaRPr lang="en-US" sz="2400" b="1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22860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BPMN 2.0 позволяет создавать модели с разной степенью детализации в зависимости от целевой аудитории: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менеджмента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общие схемы верхнего уровня, показывающие основные этапы.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бизнес-аналитиков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детализированные модели с условиями и исключениями.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Для разработчиков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 — исполняемые модели с техническими деталями.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КЛЮЧЕВЫЕ ОСОБЕННОСТИ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19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7592355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920545" y="2295320"/>
            <a:ext cx="11112910" cy="22419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Стандартизация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единый язык понятен всем участникам,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Интуитивность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даже нетехнические специалисты могут читать диаграммы,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Межфункциональное</a:t>
            </a: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взаимодействие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объединяет бизнес и IT,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Масштабируемость</a:t>
            </a:r>
            <a:r>
              <a:rPr lang="ru-RU" sz="24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подходит для простых и сверхсложных процессов.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ПРИЕМУЩЕСТВА ИСПОЛЬЗОВАНИЯ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5952184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3FEB316-2277-FA77-C407-D25E6BA838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1" t="8246" r="3454" b="39207"/>
          <a:stretch/>
        </p:blipFill>
        <p:spPr>
          <a:xfrm>
            <a:off x="363317" y="3715701"/>
            <a:ext cx="12227366" cy="2980067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1059-523C-1EA5-3EB0-54775AD19B12}"/>
              </a:ext>
            </a:extLst>
          </p:cNvPr>
          <p:cNvSpPr txBox="1"/>
          <p:nvPr/>
        </p:nvSpPr>
        <p:spPr>
          <a:xfrm>
            <a:off x="154858" y="690827"/>
            <a:ext cx="12644284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наглядного представления процесса работы с кассовым чеком была выбрана нотация BPMN 2.0. В качестве инструмента моделирования использовался онлайн-сервис </a:t>
            </a:r>
            <a:r>
              <a:rPr lang="ru-RU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Stormbpmn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                                                                                                          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Основные элементы диаграммы: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МОДЕЛИРОВАНИЕ ПРОЦЕССА В НОТАЦИИ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3A155-D588-CC9C-4CE0-79B0E7816B1B}"/>
              </a:ext>
            </a:extLst>
          </p:cNvPr>
          <p:cNvSpPr txBox="1"/>
          <p:nvPr/>
        </p:nvSpPr>
        <p:spPr>
          <a:xfrm>
            <a:off x="2927554" y="1941449"/>
            <a:ext cx="8664677" cy="23509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5750" lvl="0" indent="-285750" algn="r">
              <a:lnSpc>
                <a:spcPct val="150000"/>
              </a:lnSpc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Участники процесса (</a:t>
            </a:r>
            <a:r>
              <a:rPr lang="ru-RU" sz="16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Pools</a:t>
            </a: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ru-RU" sz="1600" dirty="0">
                <a:solidFill>
                  <a:srgbClr val="0F1115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«Покупатель», «Кассир», «Кассовый аппарат (ККТ)».</a:t>
            </a:r>
          </a:p>
          <a:p>
            <a:pPr marL="285750" lvl="0" indent="-285750" algn="r">
              <a:lnSpc>
                <a:spcPct val="150000"/>
              </a:lnSpc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События (</a:t>
            </a:r>
            <a:r>
              <a:rPr lang="ru-RU" sz="1600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Events</a:t>
            </a:r>
            <a:r>
              <a:rPr lang="ru-RU" sz="16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Стартовое: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«Товар выбран для покупки»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Промежуточные: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«Оплата наличными получена»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r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sz="1600" i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Конечное:</a:t>
            </a:r>
            <a:r>
              <a:rPr lang="ru-RU" sz="16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«Чек получен покупателем»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lnSpc>
                <a:spcPct val="150000"/>
              </a:lnSpc>
              <a:buSzPts val="1000"/>
              <a:tabLst>
                <a:tab pos="457200" algn="l"/>
              </a:tabLst>
            </a:pP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17643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МОДЕЛИРОВАНИЕ ПРОЦЕССА В НОТАЦИИ </a:t>
            </a: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BPMN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7FF1A1E-AE0F-27F0-6C09-F81EC93598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1" t="8246" r="3454" b="39508"/>
          <a:stretch/>
        </p:blipFill>
        <p:spPr>
          <a:xfrm>
            <a:off x="235735" y="4317860"/>
            <a:ext cx="9812833" cy="23779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9552F1-DB8D-2B1C-E47F-7B92E1BA22B2}"/>
              </a:ext>
            </a:extLst>
          </p:cNvPr>
          <p:cNvSpPr txBox="1"/>
          <p:nvPr/>
        </p:nvSpPr>
        <p:spPr>
          <a:xfrm>
            <a:off x="-2458" y="601073"/>
            <a:ext cx="6479458" cy="25355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Задачи (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Tasks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«Внести/считать товар»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«Рассчитать итоговую сумму» (для ККТ)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«Принять наличные»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«Зафиксировать оплату и напечатать чек» (для ККТ)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«Передать чек покупателю» (для Кассира)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0652F-ABBE-EB8D-1D3D-3F6CFCB9CBF3}"/>
              </a:ext>
            </a:extLst>
          </p:cNvPr>
          <p:cNvSpPr txBox="1"/>
          <p:nvPr/>
        </p:nvSpPr>
        <p:spPr>
          <a:xfrm>
            <a:off x="6317225" y="702382"/>
            <a:ext cx="4881717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Шлюзы (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Gateways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Использовался простой поток, без ветвлений.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Потоки данных (Data </a:t>
            </a:r>
            <a:r>
              <a:rPr lang="ru-RU" b="1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Objects</a:t>
            </a:r>
            <a:r>
              <a:rPr lang="ru-RU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ru-RU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«Информация о товаре», «Чек».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5D56F-7DF8-84D6-FBAF-A08B9DC9BEA0}"/>
              </a:ext>
            </a:extLst>
          </p:cNvPr>
          <p:cNvSpPr txBox="1"/>
          <p:nvPr/>
        </p:nvSpPr>
        <p:spPr>
          <a:xfrm>
            <a:off x="5925128" y="2979422"/>
            <a:ext cx="6665555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r">
              <a:lnSpc>
                <a:spcPct val="150000"/>
              </a:lnSpc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Кассир и кассовый аппарат выполняют последовательные операции по регистрации товара, расчету, приему оплаты и печати чека, который в итоге передается покупателю, </a:t>
            </a:r>
          </a:p>
          <a:p>
            <a:pPr indent="449580" algn="r">
              <a:lnSpc>
                <a:spcPct val="150000"/>
              </a:lnSpc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завершая процесс.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C4388-10DA-A69A-49D3-3CAEA1F5805C}"/>
              </a:ext>
            </a:extLst>
          </p:cNvPr>
          <p:cNvSpPr txBox="1"/>
          <p:nvPr/>
        </p:nvSpPr>
        <p:spPr>
          <a:xfrm>
            <a:off x="6357031" y="2435718"/>
            <a:ext cx="623365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диаграмме видно взаимодействие трех участников. Процесс начинается с действия покупателя.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27318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0F14D-2A0F-8DA0-8517-234C9BA8B3FE}"/>
              </a:ext>
            </a:extLst>
          </p:cNvPr>
          <p:cNvSpPr txBox="1"/>
          <p:nvPr/>
        </p:nvSpPr>
        <p:spPr>
          <a:xfrm>
            <a:off x="820993" y="965022"/>
            <a:ext cx="10967885" cy="51098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хранения информации о кассовых чеках была спроектирована реляционная база данных на трех уровнях абстракции.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Концептуальная модель (инфологическая)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Концептуальная модель отвечает на вопрос </a:t>
            </a:r>
            <a:r>
              <a:rPr lang="ru-RU" sz="2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«Что храним?»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Она не зависит от конкретной СУБД и показывает основные сущности (объекты) и связи между ними.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«Чек»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общую информацию о фискальном документе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«Позиция чека»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информацию о каждой купленной товарной позиции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«Продавец»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реквизиты организации-продавца 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2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«Кассир»</a:t>
            </a:r>
            <a:r>
              <a:rPr lang="ru-RU" sz="22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содержит информацию о сотруднике, оформившем чек</a:t>
            </a:r>
            <a:endParaRPr lang="en-US" sz="2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006388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FE45A7-05CD-A40E-914F-9AD9D7C3F8BA}"/>
              </a:ext>
            </a:extLst>
          </p:cNvPr>
          <p:cNvSpPr txBox="1"/>
          <p:nvPr/>
        </p:nvSpPr>
        <p:spPr>
          <a:xfrm>
            <a:off x="0" y="574733"/>
            <a:ext cx="3677265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Сущности и их атрибуты</a:t>
            </a:r>
            <a:endParaRPr lang="en-US" sz="2400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CE6D8-7B46-62B6-4CA1-5FAEF19EBD43}"/>
              </a:ext>
            </a:extLst>
          </p:cNvPr>
          <p:cNvSpPr txBox="1"/>
          <p:nvPr/>
        </p:nvSpPr>
        <p:spPr>
          <a:xfrm>
            <a:off x="290051" y="1008326"/>
            <a:ext cx="391323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Сущность «Продавец»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Seller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Идентификатор продавца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Наименование организации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ИНН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Адрес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Система налогообложения (СНО)</a:t>
            </a:r>
            <a:endParaRPr lang="en-US" sz="1600" dirty="0">
              <a:effectLst/>
              <a:latin typeface="+mn-lt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F1115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Регистрационный номер ККТ</a:t>
            </a:r>
            <a:endParaRPr lang="en-US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B9A9FB-E72B-F363-EDB0-656EDE69DED3}"/>
              </a:ext>
            </a:extLst>
          </p:cNvPr>
          <p:cNvSpPr txBox="1"/>
          <p:nvPr/>
        </p:nvSpPr>
        <p:spPr>
          <a:xfrm>
            <a:off x="290051" y="4277774"/>
            <a:ext cx="3795252" cy="12890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«Кассир»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Cashier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ФИО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C0E62-921B-AE1D-F557-83574957D8E8}"/>
              </a:ext>
            </a:extLst>
          </p:cNvPr>
          <p:cNvSpPr txBox="1"/>
          <p:nvPr/>
        </p:nvSpPr>
        <p:spPr>
          <a:xfrm>
            <a:off x="4537588" y="958254"/>
            <a:ext cx="4621161" cy="419755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«Чек»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Receipt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чека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Дата и время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Итоговая сумма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Сумма НДС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Форма оплаты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Фискальный признак </a:t>
            </a:r>
          </a:p>
          <a:p>
            <a:pPr lvl="0" algn="just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документа (ФПД)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продавца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кассира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BC250F-D155-1B84-D6AE-661DEC3034AD}"/>
              </a:ext>
            </a:extLst>
          </p:cNvPr>
          <p:cNvSpPr txBox="1"/>
          <p:nvPr/>
        </p:nvSpPr>
        <p:spPr>
          <a:xfrm>
            <a:off x="8298426" y="958254"/>
            <a:ext cx="4424516" cy="25355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Сущность «Позиция чека» (</a:t>
            </a:r>
            <a:r>
              <a:rPr lang="ru-RU" sz="1800" b="1" i="1" u="sng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Receipt_Item</a:t>
            </a:r>
            <a:r>
              <a:rPr lang="ru-RU" sz="1800" b="1" i="1" u="sng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Идентификатор позиции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Наименование товара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Цена за единицу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Ссылка на чек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21A0CC-CDC8-6F9A-2EB2-33415B510208}"/>
              </a:ext>
            </a:extLst>
          </p:cNvPr>
          <p:cNvSpPr txBox="1"/>
          <p:nvPr/>
        </p:nvSpPr>
        <p:spPr>
          <a:xfrm>
            <a:off x="7438103" y="4088854"/>
            <a:ext cx="5284839" cy="21339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800"/>
              </a:spcAft>
            </a:pPr>
            <a:r>
              <a:rPr lang="ru-RU" sz="1800" b="1" u="sng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Связи:</a:t>
            </a:r>
            <a:endParaRPr lang="en-US" sz="1400" u="sng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чек может содержать одну или несколько позиций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продавец может выдавать много чеков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Один кассир может оформлять много чеков (связь </a:t>
            </a:r>
            <a:r>
              <a:rPr lang="ru-RU" sz="18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1: 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28455F66-1807-B622-BD3D-843F41C7EA18}"/>
              </a:ext>
            </a:extLst>
          </p:cNvPr>
          <p:cNvSpPr/>
          <p:nvPr/>
        </p:nvSpPr>
        <p:spPr>
          <a:xfrm>
            <a:off x="7423355" y="4090219"/>
            <a:ext cx="5407742" cy="2143433"/>
          </a:xfrm>
          <a:prstGeom prst="roundRect">
            <a:avLst/>
          </a:prstGeom>
          <a:noFill/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4840460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6ED94F-EDE8-DEBF-6B3B-69F428CDFCD8}"/>
              </a:ext>
            </a:extLst>
          </p:cNvPr>
          <p:cNvSpPr txBox="1"/>
          <p:nvPr/>
        </p:nvSpPr>
        <p:spPr>
          <a:xfrm>
            <a:off x="1049593" y="1043086"/>
            <a:ext cx="10854813" cy="47464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</a:pP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2. Логическая модель (</a:t>
            </a:r>
            <a:r>
              <a:rPr lang="ru-RU" sz="2400" b="1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даталогическая</a:t>
            </a: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Логическая модель отвечает на вопрос </a:t>
            </a:r>
            <a:r>
              <a:rPr lang="ru-RU" sz="2400" b="1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«В виде каких таблиц храним?».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</a:rPr>
              <a:t> Здесь мы определяем:</a:t>
            </a:r>
            <a:endParaRPr lang="en-US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Названия таблиц и полей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Типы данных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Первичные ключи (PK — </a:t>
            </a:r>
            <a:r>
              <a:rPr lang="ru-RU" sz="2400" dirty="0" err="1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Key)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solidFill>
                  <a:srgbClr val="0F1115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Внешние ключи (FK — Foreign Key) для связей</a:t>
            </a:r>
            <a:endParaRPr lang="en-US" sz="2400" dirty="0">
              <a:solidFill>
                <a:srgbClr val="0F1115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186787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2EC783C-FF26-387F-D6FB-49D1BD7FD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699564"/>
              </p:ext>
            </p:extLst>
          </p:nvPr>
        </p:nvGraphicFramePr>
        <p:xfrm>
          <a:off x="487925" y="1490833"/>
          <a:ext cx="11658600" cy="418134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914650">
                  <a:extLst>
                    <a:ext uri="{9D8B030D-6E8A-4147-A177-3AD203B41FA5}">
                      <a16:colId xmlns:a16="http://schemas.microsoft.com/office/drawing/2014/main" val="4065202846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171838971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660638487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25984724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Поле</a:t>
                      </a:r>
                      <a:endParaRPr lang="en-US" sz="14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Тип данных</a:t>
                      </a:r>
                      <a:endParaRPr lang="en-US" sz="14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Описание</a:t>
                      </a:r>
                      <a:endParaRPr lang="en-US" sz="14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</a:rPr>
                        <a:t>Ограничения</a:t>
                      </a:r>
                      <a:endParaRPr lang="en-US" sz="1400" b="1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617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</a:rPr>
                        <a:t>seller_id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INT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Идентификатор продавца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PRIMARY KEY, AUTO_INCREMENT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2429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name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VARCHAR(255)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Наименование организации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NOT NULL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2160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inn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VARCHAR(12)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ИНН (12 символов для юрлиц)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NOT NULL, UNIQUE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77850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address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TEXT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Юридический адрес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40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2390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tax_system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VARCHAR(50)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Система налогообложения (ОСН, УСН и т.д.)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40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75871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kkt_reg_number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>
                          <a:effectLst/>
                          <a:latin typeface="+mn-lt"/>
                        </a:rPr>
                        <a:t>VARCHAR(20)</a:t>
                      </a:r>
                      <a:endParaRPr lang="en-US" sz="14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</a:rPr>
                        <a:t>Регистрационный номер ККТ</a:t>
                      </a:r>
                      <a:endParaRPr lang="en-US" sz="14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sz="140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8991660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CD1E862D-66B2-93C9-63B1-FD5A3AF1D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238" y="780639"/>
            <a:ext cx="406874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kumimoji="0" lang="ru-R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Sellers</a:t>
            </a:r>
            <a:r>
              <a:rPr kumimoji="0" lang="ru-RU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 (Продавцы)</a:t>
            </a:r>
            <a:endParaRPr kumimoji="0" lang="ru-RU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5875773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DE615C70-2FCE-A557-0789-34234182F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39375"/>
              </p:ext>
            </p:extLst>
          </p:nvPr>
        </p:nvGraphicFramePr>
        <p:xfrm>
          <a:off x="2344891" y="2126656"/>
          <a:ext cx="8264218" cy="28481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1282">
                  <a:extLst>
                    <a:ext uri="{9D8B030D-6E8A-4147-A177-3AD203B41FA5}">
                      <a16:colId xmlns:a16="http://schemas.microsoft.com/office/drawing/2014/main" val="2828476652"/>
                    </a:ext>
                  </a:extLst>
                </a:gridCol>
                <a:gridCol w="1827813">
                  <a:extLst>
                    <a:ext uri="{9D8B030D-6E8A-4147-A177-3AD203B41FA5}">
                      <a16:colId xmlns:a16="http://schemas.microsoft.com/office/drawing/2014/main" val="3003752330"/>
                    </a:ext>
                  </a:extLst>
                </a:gridCol>
                <a:gridCol w="2172929">
                  <a:extLst>
                    <a:ext uri="{9D8B030D-6E8A-4147-A177-3AD203B41FA5}">
                      <a16:colId xmlns:a16="http://schemas.microsoft.com/office/drawing/2014/main" val="3227784591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3898306725"/>
                    </a:ext>
                  </a:extLst>
                </a:gridCol>
              </a:tblGrid>
              <a:tr h="55800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Поле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Тип данных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>
                          <a:effectLst/>
                        </a:rPr>
                        <a:t>Описание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Ограничения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252664"/>
                  </a:ext>
                </a:extLst>
              </a:tr>
              <a:tr h="133190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 err="1">
                          <a:effectLst/>
                        </a:rPr>
                        <a:t>cashier_id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INT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Идентификатор кассира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PRIMARY KEY, AUTO_INCREMENT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74685143"/>
                  </a:ext>
                </a:extLst>
              </a:tr>
              <a:tr h="95824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full_name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VARCHAR(255)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ФИО кассира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2630768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92FE45F-7981-DBAA-BCDC-813F25887706}"/>
              </a:ext>
            </a:extLst>
          </p:cNvPr>
          <p:cNvSpPr txBox="1"/>
          <p:nvPr/>
        </p:nvSpPr>
        <p:spPr>
          <a:xfrm>
            <a:off x="953728" y="940664"/>
            <a:ext cx="6479458" cy="468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4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Cashiers</a:t>
            </a:r>
            <a:r>
              <a:rPr lang="ru-RU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(Кассиры)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8558113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2</a:t>
            </a:r>
            <a:r>
              <a:rPr lang="ru-RU" sz="2000" b="1" dirty="0">
                <a:solidFill>
                  <a:schemeClr val="bg1"/>
                </a:solidFill>
                <a:latin typeface="+mn-lt"/>
              </a:rPr>
              <a:t>8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7421CE01-A494-8BA5-53EF-C6EDF2F637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38066"/>
              </p:ext>
            </p:extLst>
          </p:nvPr>
        </p:nvGraphicFramePr>
        <p:xfrm>
          <a:off x="2133600" y="1171884"/>
          <a:ext cx="8111613" cy="52387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5006">
                  <a:extLst>
                    <a:ext uri="{9D8B030D-6E8A-4147-A177-3AD203B41FA5}">
                      <a16:colId xmlns:a16="http://schemas.microsoft.com/office/drawing/2014/main" val="3695719809"/>
                    </a:ext>
                  </a:extLst>
                </a:gridCol>
                <a:gridCol w="1691148">
                  <a:extLst>
                    <a:ext uri="{9D8B030D-6E8A-4147-A177-3AD203B41FA5}">
                      <a16:colId xmlns:a16="http://schemas.microsoft.com/office/drawing/2014/main" val="2645117551"/>
                    </a:ext>
                  </a:extLst>
                </a:gridCol>
                <a:gridCol w="2104104">
                  <a:extLst>
                    <a:ext uri="{9D8B030D-6E8A-4147-A177-3AD203B41FA5}">
                      <a16:colId xmlns:a16="http://schemas.microsoft.com/office/drawing/2014/main" val="271822791"/>
                    </a:ext>
                  </a:extLst>
                </a:gridCol>
                <a:gridCol w="2851355">
                  <a:extLst>
                    <a:ext uri="{9D8B030D-6E8A-4147-A177-3AD203B41FA5}">
                      <a16:colId xmlns:a16="http://schemas.microsoft.com/office/drawing/2014/main" val="3889545924"/>
                    </a:ext>
                  </a:extLst>
                </a:gridCol>
              </a:tblGrid>
              <a:tr h="31233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effectLst/>
                        </a:rPr>
                        <a:t>Поле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effectLst/>
                        </a:rPr>
                        <a:t>Тип данных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effectLst/>
                        </a:rPr>
                        <a:t>Описание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effectLst/>
                        </a:rPr>
                        <a:t>Ограничения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126684"/>
                  </a:ext>
                </a:extLst>
              </a:tr>
              <a:tr h="74890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receipt_id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INT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Идентификатор чека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PRIMARY KEY, AUTO_INCREMENT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2268768106"/>
                  </a:ext>
                </a:extLst>
              </a:tr>
              <a:tr h="429464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datetime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DATETIME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Дата и время операции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NOT NULL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1986312594"/>
                  </a:ext>
                </a:extLst>
              </a:tr>
              <a:tr h="32298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total_amount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DECIMAL(10,2)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Итоговая сумма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NOT NULL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2499302606"/>
                  </a:ext>
                </a:extLst>
              </a:tr>
              <a:tr h="32298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vat_amount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DECIMAL(10,2)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Сумма НДС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 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1069808605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payment_form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VARCHAR(50)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Форма оплаты (НАЛИЧНЫМИ, БЕЗНАЛ и т.д.)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 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583096744"/>
                  </a:ext>
                </a:extLst>
              </a:tr>
              <a:tr h="53594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fiscal_attribute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VARCHAR(50)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Фискальный признак (ФПД)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 dirty="0">
                          <a:effectLst/>
                        </a:rPr>
                        <a:t>UNIQUE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526056863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seller_id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ID продавца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u="none" strike="noStrike" dirty="0">
                          <a:effectLst/>
                        </a:rPr>
                        <a:t>FOREIGN KEY REFERENCES Sellers(</a:t>
                      </a:r>
                      <a:r>
                        <a:rPr lang="en-US" sz="1600" u="none" strike="noStrike" dirty="0" err="1">
                          <a:effectLst/>
                        </a:rPr>
                        <a:t>seller_id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3310186634"/>
                  </a:ext>
                </a:extLst>
              </a:tr>
              <a:tr h="85537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cashier_id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u="none" strike="noStrike">
                          <a:effectLst/>
                        </a:rPr>
                        <a:t>ID кассира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u="none" strike="noStrike" dirty="0">
                          <a:effectLst/>
                        </a:rPr>
                        <a:t>FOREIGN KEY REFERENCES Cashiers(</a:t>
                      </a:r>
                      <a:r>
                        <a:rPr lang="en-US" sz="1600" u="none" strike="noStrike" dirty="0" err="1">
                          <a:effectLst/>
                        </a:rPr>
                        <a:t>cashier_id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549" marR="3549" marT="3549" marB="0" anchor="ctr"/>
                </a:tc>
                <a:extLst>
                  <a:ext uri="{0D108BD9-81ED-4DB2-BD59-A6C34878D82A}">
                    <a16:rowId xmlns:a16="http://schemas.microsoft.com/office/drawing/2014/main" val="31656090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8EB3E8F-7208-E336-9015-B16E0456BFEE}"/>
              </a:ext>
            </a:extLst>
          </p:cNvPr>
          <p:cNvSpPr txBox="1"/>
          <p:nvPr/>
        </p:nvSpPr>
        <p:spPr>
          <a:xfrm>
            <a:off x="953728" y="629272"/>
            <a:ext cx="6479458" cy="405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0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Receipts</a:t>
            </a: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(Чеки)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810302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29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A214333-7468-BB9B-BA99-57667BABD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726732"/>
              </p:ext>
            </p:extLst>
          </p:nvPr>
        </p:nvGraphicFramePr>
        <p:xfrm>
          <a:off x="309716" y="1403255"/>
          <a:ext cx="8522110" cy="374071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86116">
                  <a:extLst>
                    <a:ext uri="{9D8B030D-6E8A-4147-A177-3AD203B41FA5}">
                      <a16:colId xmlns:a16="http://schemas.microsoft.com/office/drawing/2014/main" val="2395131668"/>
                    </a:ext>
                  </a:extLst>
                </a:gridCol>
                <a:gridCol w="1934292">
                  <a:extLst>
                    <a:ext uri="{9D8B030D-6E8A-4147-A177-3AD203B41FA5}">
                      <a16:colId xmlns:a16="http://schemas.microsoft.com/office/drawing/2014/main" val="3700019282"/>
                    </a:ext>
                  </a:extLst>
                </a:gridCol>
                <a:gridCol w="1762637">
                  <a:extLst>
                    <a:ext uri="{9D8B030D-6E8A-4147-A177-3AD203B41FA5}">
                      <a16:colId xmlns:a16="http://schemas.microsoft.com/office/drawing/2014/main" val="585142783"/>
                    </a:ext>
                  </a:extLst>
                </a:gridCol>
                <a:gridCol w="2839065">
                  <a:extLst>
                    <a:ext uri="{9D8B030D-6E8A-4147-A177-3AD203B41FA5}">
                      <a16:colId xmlns:a16="http://schemas.microsoft.com/office/drawing/2014/main" val="4001601149"/>
                    </a:ext>
                  </a:extLst>
                </a:gridCol>
              </a:tblGrid>
              <a:tr h="50241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Поле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Тип данных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Описание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b="1" u="none" strike="noStrike" dirty="0">
                          <a:effectLst/>
                        </a:rPr>
                        <a:t>Ограничения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369245"/>
                  </a:ext>
                </a:extLst>
              </a:tr>
              <a:tr h="111104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 err="1">
                          <a:effectLst/>
                        </a:rPr>
                        <a:t>item_id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INT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Идентификатор позиции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PRIMARY KEY, AUTO_INCREMENT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59758897"/>
                  </a:ext>
                </a:extLst>
              </a:tr>
              <a:tr h="904568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product_name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VARCHAR(255)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Наименование товара/услуги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NOT NULL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82784486"/>
                  </a:ext>
                </a:extLst>
              </a:tr>
              <a:tr h="570271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quantity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DECIMAL(10,3)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Количество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04879771"/>
                  </a:ext>
                </a:extLst>
              </a:tr>
              <a:tr h="652409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price_per_unit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DECIMAL(10,2)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>
                          <a:effectLst/>
                        </a:rPr>
                        <a:t>Цена за единицу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800" u="none" strike="noStrike" dirty="0">
                          <a:effectLst/>
                        </a:rPr>
                        <a:t>NOT NULL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63217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336151A-39E3-CE29-E684-C2EA0A7C9B3C}"/>
              </a:ext>
            </a:extLst>
          </p:cNvPr>
          <p:cNvSpPr txBox="1"/>
          <p:nvPr/>
        </p:nvSpPr>
        <p:spPr>
          <a:xfrm>
            <a:off x="953728" y="758367"/>
            <a:ext cx="6479458" cy="43678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07000"/>
              </a:lnSpc>
              <a:spcBef>
                <a:spcPts val="1200"/>
              </a:spcBef>
              <a:spcAft>
                <a:spcPts val="800"/>
              </a:spcAft>
            </a:pP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 </a:t>
            </a:r>
            <a:r>
              <a:rPr lang="ru-RU" sz="22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Receipt_Items</a:t>
            </a:r>
            <a:r>
              <a:rPr lang="ru-RU" sz="22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(Позиции чека)</a:t>
            </a:r>
            <a:endParaRPr lang="en-US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93FB9A8-AE17-DE66-5192-815D6814B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279846"/>
              </p:ext>
            </p:extLst>
          </p:nvPr>
        </p:nvGraphicFramePr>
        <p:xfrm>
          <a:off x="309716" y="5146237"/>
          <a:ext cx="8519652" cy="92589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82511">
                  <a:extLst>
                    <a:ext uri="{9D8B030D-6E8A-4147-A177-3AD203B41FA5}">
                      <a16:colId xmlns:a16="http://schemas.microsoft.com/office/drawing/2014/main" val="1482710128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688310951"/>
                    </a:ext>
                  </a:extLst>
                </a:gridCol>
                <a:gridCol w="1762596">
                  <a:extLst>
                    <a:ext uri="{9D8B030D-6E8A-4147-A177-3AD203B41FA5}">
                      <a16:colId xmlns:a16="http://schemas.microsoft.com/office/drawing/2014/main" val="2416104361"/>
                    </a:ext>
                  </a:extLst>
                </a:gridCol>
                <a:gridCol w="2839065">
                  <a:extLst>
                    <a:ext uri="{9D8B030D-6E8A-4147-A177-3AD203B41FA5}">
                      <a16:colId xmlns:a16="http://schemas.microsoft.com/office/drawing/2014/main" val="13769000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receipt_id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</a:rPr>
                        <a:t>INT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</a:rPr>
                        <a:t>ID чека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n-US" sz="1400" dirty="0">
                          <a:effectLst/>
                        </a:rPr>
                        <a:t>FOREIGN KEY REFERENCES Receipts(</a:t>
                      </a:r>
                      <a:r>
                        <a:rPr lang="en-US" sz="1400" dirty="0" err="1">
                          <a:effectLst/>
                        </a:rPr>
                        <a:t>receipt_id</a:t>
                      </a:r>
                      <a:r>
                        <a:rPr lang="en-US" sz="1400" dirty="0">
                          <a:effectLst/>
                        </a:rPr>
                        <a:t>) ON DELETE CASCADE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5681876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0F3585E7-6A23-57A3-4947-9733658BC1DA}"/>
              </a:ext>
            </a:extLst>
          </p:cNvPr>
          <p:cNvSpPr txBox="1"/>
          <p:nvPr/>
        </p:nvSpPr>
        <p:spPr>
          <a:xfrm>
            <a:off x="8937523" y="2148517"/>
            <a:ext cx="4016477" cy="17045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indent="449580">
              <a:lnSpc>
                <a:spcPct val="150000"/>
              </a:lnSpc>
              <a:spcBef>
                <a:spcPts val="1200"/>
              </a:spcBef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DELETE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CASCADE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означает, что если удалить чек, все связанные с ним позиции тоже удалятся автоматически.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742463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30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98BEE-DCD0-493B-F9A1-5524DFA8A7A4}"/>
              </a:ext>
            </a:extLst>
          </p:cNvPr>
          <p:cNvSpPr txBox="1"/>
          <p:nvPr/>
        </p:nvSpPr>
        <p:spPr>
          <a:xfrm>
            <a:off x="211393" y="549216"/>
            <a:ext cx="11243188" cy="960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3. Физическая модель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</a:pP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Физическая модель отвечает на вопрос </a:t>
            </a:r>
            <a:r>
              <a:rPr lang="ru-RU" sz="2000" b="1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«Как именно создать таблицы в конкретной СУБД?»</a:t>
            </a:r>
            <a:r>
              <a:rPr lang="ru-RU" sz="20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4B132A8-E37C-C084-43E7-821157331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3939" y="1090935"/>
            <a:ext cx="5440345" cy="44986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dirty="0"/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Sellers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продавцы</a:t>
            </a:r>
            <a:r>
              <a:rPr lang="en-US" altLang="en-US" dirty="0">
                <a:latin typeface="+mn-lt"/>
              </a:rPr>
              <a:t>) с </a:t>
            </a:r>
            <a:r>
              <a:rPr lang="en-US" altLang="en-US" dirty="0" err="1">
                <a:latin typeface="+mn-lt"/>
              </a:rPr>
              <a:t>реквизитами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организации</a:t>
            </a:r>
            <a:endParaRPr lang="en-US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Cashiers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кассиры</a:t>
            </a:r>
            <a:r>
              <a:rPr lang="en-US" altLang="en-US" dirty="0">
                <a:latin typeface="+mn-lt"/>
              </a:rPr>
              <a:t>) с ФИО </a:t>
            </a:r>
            <a:r>
              <a:rPr lang="en-US" altLang="en-US" dirty="0" err="1">
                <a:latin typeface="+mn-lt"/>
              </a:rPr>
              <a:t>сотрудников</a:t>
            </a:r>
            <a:endParaRPr lang="en-US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 err="1">
                <a:latin typeface="+mn-lt"/>
              </a:rPr>
              <a:t>Создаём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таблицу</a:t>
            </a:r>
            <a:r>
              <a:rPr lang="en-US" altLang="en-US" dirty="0">
                <a:latin typeface="+mn-lt"/>
              </a:rPr>
              <a:t> </a:t>
            </a:r>
            <a:r>
              <a:rPr lang="en-US" altLang="en-US" b="1" dirty="0">
                <a:latin typeface="+mn-lt"/>
              </a:rPr>
              <a:t>Receipts</a:t>
            </a:r>
            <a:r>
              <a:rPr lang="en-US" altLang="en-US" dirty="0">
                <a:latin typeface="+mn-lt"/>
              </a:rPr>
              <a:t> (</a:t>
            </a:r>
            <a:r>
              <a:rPr lang="en-US" altLang="en-US" dirty="0" err="1">
                <a:latin typeface="+mn-lt"/>
              </a:rPr>
              <a:t>чеки</a:t>
            </a:r>
            <a:r>
              <a:rPr lang="en-US" altLang="en-US" dirty="0">
                <a:latin typeface="+mn-lt"/>
              </a:rPr>
              <a:t>) с </a:t>
            </a:r>
            <a:r>
              <a:rPr lang="en-US" altLang="en-US" dirty="0" err="1">
                <a:latin typeface="+mn-lt"/>
              </a:rPr>
              <a:t>финансовыми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данными</a:t>
            </a:r>
            <a:r>
              <a:rPr lang="en-US" altLang="en-US" dirty="0">
                <a:latin typeface="+mn-lt"/>
              </a:rPr>
              <a:t> и </a:t>
            </a:r>
            <a:r>
              <a:rPr lang="en-US" altLang="en-US" dirty="0" err="1">
                <a:latin typeface="+mn-lt"/>
              </a:rPr>
              <a:t>фискальными</a:t>
            </a:r>
            <a:r>
              <a:rPr lang="en-US" altLang="en-US" dirty="0">
                <a:latin typeface="+mn-lt"/>
              </a:rPr>
              <a:t> </a:t>
            </a:r>
            <a:r>
              <a:rPr lang="en-US" altLang="en-US" dirty="0" err="1">
                <a:latin typeface="+mn-lt"/>
              </a:rPr>
              <a:t>признаками</a:t>
            </a:r>
            <a:endParaRPr lang="ru-RU" altLang="en-US" dirty="0">
              <a:latin typeface="+mn-lt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ru-RU" altLang="en-US" dirty="0">
                <a:latin typeface="+mn-lt"/>
              </a:rPr>
              <a:t>Создаём таблицу </a:t>
            </a:r>
            <a:r>
              <a:rPr lang="ru-RU" altLang="en-US" b="1" dirty="0" err="1">
                <a:latin typeface="+mn-lt"/>
              </a:rPr>
              <a:t>Receipt_Items</a:t>
            </a:r>
            <a:r>
              <a:rPr lang="ru-RU" altLang="en-US" b="1" dirty="0">
                <a:latin typeface="+mn-lt"/>
              </a:rPr>
              <a:t> </a:t>
            </a:r>
            <a:r>
              <a:rPr lang="ru-RU" altLang="en-US" dirty="0">
                <a:latin typeface="+mn-lt"/>
              </a:rPr>
              <a:t>(позиции чека), которая хранит информацию о каждом купленном товаре в чеке.</a:t>
            </a:r>
            <a:endParaRPr lang="en-US" altLang="en-US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251628-D3D4-A3F5-95F1-5336E87A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16" y="1727231"/>
            <a:ext cx="5920740" cy="493776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85CF267-8C9A-8456-0785-D0243557D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340" y="5265420"/>
            <a:ext cx="5940425" cy="12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89311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31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1F348-0B9F-0708-509C-0EF9CA85F433}"/>
              </a:ext>
            </a:extLst>
          </p:cNvPr>
          <p:cNvSpPr txBox="1"/>
          <p:nvPr/>
        </p:nvSpPr>
        <p:spPr>
          <a:xfrm>
            <a:off x="457200" y="1146757"/>
            <a:ext cx="6479458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Заполняем созданные таблицы </a:t>
            </a:r>
            <a:r>
              <a:rPr lang="ru-RU" sz="2400" i="0" dirty="0">
                <a:solidFill>
                  <a:schemeClr val="tx1"/>
                </a:solidFill>
                <a:effectLst/>
                <a:latin typeface="+mn-lt"/>
              </a:rPr>
              <a:t>тестовыми данными 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из выбранного нами кассового чека</a:t>
            </a:r>
            <a:endParaRPr lang="en-US" sz="24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2DC7B-6DF5-9A59-7B23-04BCB11F6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54" y="2211305"/>
            <a:ext cx="10176568" cy="335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32618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32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1F348-0B9F-0708-509C-0EF9CA85F433}"/>
              </a:ext>
            </a:extLst>
          </p:cNvPr>
          <p:cNvSpPr txBox="1"/>
          <p:nvPr/>
        </p:nvSpPr>
        <p:spPr>
          <a:xfrm>
            <a:off x="149942" y="688249"/>
            <a:ext cx="6479458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Связи между таблицами</a:t>
            </a:r>
            <a:endParaRPr lang="en-US" sz="2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96F49F5-A75B-218E-6865-9724D40772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24600" y="32639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FC0360-048B-5B5A-A5D0-C2D1821DF1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537" y="1149914"/>
            <a:ext cx="8596125" cy="5515077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F66EE77-5CB8-65FD-2497-FD3D6A62D569}"/>
              </a:ext>
            </a:extLst>
          </p:cNvPr>
          <p:cNvSpPr/>
          <p:nvPr/>
        </p:nvSpPr>
        <p:spPr>
          <a:xfrm>
            <a:off x="2998839" y="1670554"/>
            <a:ext cx="1740310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A6D8B3D-FDCD-8042-122B-2835C518586A}"/>
              </a:ext>
            </a:extLst>
          </p:cNvPr>
          <p:cNvSpPr/>
          <p:nvPr/>
        </p:nvSpPr>
        <p:spPr>
          <a:xfrm>
            <a:off x="5879690" y="852719"/>
            <a:ext cx="2108749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93EBCCA-95CB-7B5E-B1CE-6AB0B8426C5F}"/>
              </a:ext>
            </a:extLst>
          </p:cNvPr>
          <p:cNvSpPr/>
          <p:nvPr/>
        </p:nvSpPr>
        <p:spPr>
          <a:xfrm>
            <a:off x="9014721" y="1894564"/>
            <a:ext cx="1995949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932D11B-FB96-473D-3EEA-FD7E4CA8D4B5}"/>
              </a:ext>
            </a:extLst>
          </p:cNvPr>
          <p:cNvSpPr/>
          <p:nvPr/>
        </p:nvSpPr>
        <p:spPr>
          <a:xfrm>
            <a:off x="6330491" y="4582265"/>
            <a:ext cx="1646903" cy="393290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E6E958-7962-5696-029F-1AF210AA2774}"/>
              </a:ext>
            </a:extLst>
          </p:cNvPr>
          <p:cNvSpPr txBox="1"/>
          <p:nvPr/>
        </p:nvSpPr>
        <p:spPr>
          <a:xfrm>
            <a:off x="3497825" y="1609001"/>
            <a:ext cx="993059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Чек</a:t>
            </a:r>
            <a:endParaRPr kumimoji="0" 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C6DE81-0239-6BFE-CC2B-E7F9067813FE}"/>
              </a:ext>
            </a:extLst>
          </p:cNvPr>
          <p:cNvSpPr txBox="1"/>
          <p:nvPr/>
        </p:nvSpPr>
        <p:spPr>
          <a:xfrm>
            <a:off x="5879690" y="787754"/>
            <a:ext cx="2450867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Позиция чека</a:t>
            </a:r>
            <a:endParaRPr lang="en-US" sz="2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5ED489-546B-2AD9-43D2-1562B61B7ECB}"/>
              </a:ext>
            </a:extLst>
          </p:cNvPr>
          <p:cNvSpPr txBox="1"/>
          <p:nvPr/>
        </p:nvSpPr>
        <p:spPr>
          <a:xfrm>
            <a:off x="9189540" y="1833011"/>
            <a:ext cx="2235435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+mn-lt"/>
              </a:rPr>
              <a:t>Продавец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999061-745B-374F-45F9-8769E2067EA3}"/>
              </a:ext>
            </a:extLst>
          </p:cNvPr>
          <p:cNvSpPr txBox="1"/>
          <p:nvPr/>
        </p:nvSpPr>
        <p:spPr>
          <a:xfrm>
            <a:off x="6477000" y="4525559"/>
            <a:ext cx="1500394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kumimoji="0" lang="ru-RU" sz="24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Кассир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63430621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0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33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6C3B74-D852-821B-8C4B-4025B07E3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86" y="1140716"/>
            <a:ext cx="10952426" cy="145173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0E4D59C-6709-0BC3-8E43-D3BFD4A78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16" y="2761039"/>
            <a:ext cx="4734814" cy="199099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23197CA-E0D7-EB30-FB03-7B58B0733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386" y="4828365"/>
            <a:ext cx="10892696" cy="169881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1CDE36-41E6-A3C4-1E14-2A8BAC299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30" y="2685327"/>
            <a:ext cx="7722139" cy="18581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41FB71-2112-F8C8-0CAA-F7A2091B12A6}"/>
              </a:ext>
            </a:extLst>
          </p:cNvPr>
          <p:cNvSpPr txBox="1"/>
          <p:nvPr/>
        </p:nvSpPr>
        <p:spPr>
          <a:xfrm>
            <a:off x="536575" y="690393"/>
            <a:ext cx="3077497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4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Проверяем данные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47144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1022554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34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108DF7-A812-90C4-62D0-A34FE4E6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28" y="2354273"/>
            <a:ext cx="10353443" cy="41989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B7E40E-FCAD-ED8E-7724-53D727DE2BC3}"/>
              </a:ext>
            </a:extLst>
          </p:cNvPr>
          <p:cNvSpPr txBox="1"/>
          <p:nvPr/>
        </p:nvSpPr>
        <p:spPr>
          <a:xfrm>
            <a:off x="865238" y="703228"/>
            <a:ext cx="10977716" cy="15696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/>
            <a:r>
              <a:rPr lang="en-US" sz="2400" dirty="0" err="1">
                <a:latin typeface="+mn-lt"/>
              </a:rPr>
              <a:t>Выполняем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проверку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созданной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базы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данных</a:t>
            </a:r>
            <a:r>
              <a:rPr lang="en-US" sz="2400" dirty="0">
                <a:latin typeface="+mn-lt"/>
              </a:rPr>
              <a:t> в </a:t>
            </a:r>
            <a:r>
              <a:rPr lang="en-US" sz="2400" dirty="0" err="1">
                <a:latin typeface="+mn-lt"/>
              </a:rPr>
              <a:t>среде</a:t>
            </a:r>
            <a:r>
              <a:rPr lang="en-US" sz="2400" dirty="0">
                <a:latin typeface="+mn-lt"/>
              </a:rPr>
              <a:t> PostgreSQL. </a:t>
            </a:r>
            <a:r>
              <a:rPr lang="en-US" sz="2400" dirty="0" err="1">
                <a:latin typeface="+mn-lt"/>
              </a:rPr>
              <a:t>Видим</a:t>
            </a:r>
            <a:r>
              <a:rPr lang="en-US" sz="2400" dirty="0">
                <a:latin typeface="+mn-lt"/>
              </a:rPr>
              <a:t>, </a:t>
            </a:r>
            <a:r>
              <a:rPr lang="en-US" sz="2400" dirty="0" err="1">
                <a:latin typeface="+mn-lt"/>
              </a:rPr>
              <a:t>что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все</a:t>
            </a:r>
            <a:r>
              <a:rPr lang="en-US" sz="2400" dirty="0">
                <a:latin typeface="+mn-lt"/>
              </a:rPr>
              <a:t> 4 </a:t>
            </a:r>
            <a:r>
              <a:rPr lang="en-US" sz="2400" dirty="0" err="1">
                <a:latin typeface="+mn-lt"/>
              </a:rPr>
              <a:t>спроектированные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таблицы</a:t>
            </a:r>
            <a:r>
              <a:rPr lang="en-US" sz="2400" dirty="0">
                <a:latin typeface="+mn-lt"/>
              </a:rPr>
              <a:t> (sellers, cashiers, receipts, </a:t>
            </a:r>
            <a:r>
              <a:rPr lang="en-US" sz="2400" dirty="0" err="1">
                <a:latin typeface="+mn-lt"/>
              </a:rPr>
              <a:t>receipt_items</a:t>
            </a:r>
            <a:r>
              <a:rPr lang="en-US" sz="2400" dirty="0">
                <a:latin typeface="+mn-lt"/>
              </a:rPr>
              <a:t>) </a:t>
            </a:r>
            <a:r>
              <a:rPr lang="en-US" sz="2400" dirty="0" err="1">
                <a:latin typeface="+mn-lt"/>
              </a:rPr>
              <a:t>успешно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созданы</a:t>
            </a:r>
            <a:r>
              <a:rPr lang="en-US" sz="2400" dirty="0">
                <a:latin typeface="+mn-lt"/>
              </a:rPr>
              <a:t> в </a:t>
            </a:r>
            <a:r>
              <a:rPr lang="en-US" sz="2400" dirty="0" err="1">
                <a:latin typeface="+mn-lt"/>
              </a:rPr>
              <a:t>базе</a:t>
            </a:r>
            <a:r>
              <a:rPr lang="en-US" sz="2400" dirty="0">
                <a:latin typeface="+mn-lt"/>
              </a:rPr>
              <a:t>. </a:t>
            </a:r>
            <a:r>
              <a:rPr lang="en-US" sz="2400" dirty="0" err="1">
                <a:latin typeface="+mn-lt"/>
              </a:rPr>
              <a:t>Физическая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модель</a:t>
            </a:r>
            <a:r>
              <a:rPr lang="en-US" sz="2400" dirty="0">
                <a:latin typeface="+mn-lt"/>
              </a:rPr>
              <a:t> БД </a:t>
            </a:r>
            <a:r>
              <a:rPr lang="en-US" sz="2400" dirty="0" err="1">
                <a:latin typeface="+mn-lt"/>
              </a:rPr>
              <a:t>реализована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правильно</a:t>
            </a:r>
            <a:r>
              <a:rPr lang="en-US" sz="2400" dirty="0">
                <a:latin typeface="+mn-lt"/>
              </a:rPr>
              <a:t> и </a:t>
            </a:r>
            <a:r>
              <a:rPr lang="en-US" sz="2400" dirty="0" err="1">
                <a:latin typeface="+mn-lt"/>
              </a:rPr>
              <a:t>все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связи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работают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как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задумано</a:t>
            </a:r>
            <a:r>
              <a:rPr lang="en-US" sz="2400" dirty="0"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7543689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ПРОЕКТИРОВАНИЕ БАЗЫ ДАННЫХ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35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B4EA4B-93B3-FC76-3258-CF5643710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832" y="2188783"/>
            <a:ext cx="9315835" cy="4035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6BC300-4118-6964-DF58-93F7720B83C4}"/>
              </a:ext>
            </a:extLst>
          </p:cNvPr>
          <p:cNvSpPr txBox="1"/>
          <p:nvPr/>
        </p:nvSpPr>
        <p:spPr>
          <a:xfrm>
            <a:off x="953728" y="690827"/>
            <a:ext cx="9709355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400" dirty="0" err="1">
                <a:latin typeface="+mn-lt"/>
              </a:rPr>
              <a:t>Создаём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представление</a:t>
            </a:r>
            <a:r>
              <a:rPr lang="en-US" sz="2400" dirty="0">
                <a:latin typeface="+mn-lt"/>
              </a:rPr>
              <a:t> (VIEW) </a:t>
            </a:r>
            <a:r>
              <a:rPr lang="en-US" sz="2400" dirty="0" err="1">
                <a:latin typeface="+mn-lt"/>
              </a:rPr>
              <a:t>для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удобного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просмотра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полной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информации</a:t>
            </a:r>
            <a:r>
              <a:rPr lang="en-US" sz="2400" dirty="0">
                <a:latin typeface="+mn-lt"/>
              </a:rPr>
              <a:t> о </a:t>
            </a:r>
            <a:r>
              <a:rPr lang="en-US" sz="2400" dirty="0" err="1">
                <a:latin typeface="+mn-lt"/>
              </a:rPr>
              <a:t>чеках</a:t>
            </a:r>
            <a:r>
              <a:rPr lang="en-US" sz="2400" dirty="0">
                <a:latin typeface="+mn-lt"/>
              </a:rPr>
              <a:t> и </a:t>
            </a:r>
            <a:r>
              <a:rPr lang="en-US" sz="2400" dirty="0" err="1">
                <a:latin typeface="+mn-lt"/>
              </a:rPr>
              <a:t>выполняем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запрос</a:t>
            </a:r>
            <a:r>
              <a:rPr lang="en-US" sz="2400" dirty="0">
                <a:latin typeface="+mn-lt"/>
              </a:rPr>
              <a:t> к </a:t>
            </a:r>
            <a:r>
              <a:rPr lang="en-US" sz="2400" dirty="0" err="1">
                <a:latin typeface="+mn-lt"/>
              </a:rPr>
              <a:t>нему</a:t>
            </a:r>
            <a:r>
              <a:rPr lang="en-US" sz="2400" dirty="0">
                <a:latin typeface="+mn-lt"/>
              </a:rPr>
              <a:t> (</a:t>
            </a:r>
            <a:r>
              <a:rPr lang="en-US" sz="2400" dirty="0" err="1">
                <a:latin typeface="+mn-lt"/>
              </a:rPr>
              <a:t>получаем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полную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информацию</a:t>
            </a:r>
            <a:r>
              <a:rPr lang="en-US" sz="2400" dirty="0">
                <a:latin typeface="+mn-lt"/>
              </a:rPr>
              <a:t> о </a:t>
            </a:r>
            <a:r>
              <a:rPr lang="en-US" sz="2400" dirty="0" err="1">
                <a:latin typeface="+mn-lt"/>
              </a:rPr>
              <a:t>конкретном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чеке</a:t>
            </a:r>
            <a:r>
              <a:rPr lang="en-US" sz="2400" dirty="0">
                <a:latin typeface="+mn-lt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437115615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ВЫВОД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36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81688-6566-DA7D-555A-DF28DEC7A791}"/>
              </a:ext>
            </a:extLst>
          </p:cNvPr>
          <p:cNvSpPr txBox="1"/>
          <p:nvPr/>
        </p:nvSpPr>
        <p:spPr>
          <a:xfrm>
            <a:off x="565354" y="969476"/>
            <a:ext cx="11724969" cy="48936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just"/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В ходе выполнения лабораторной работы был проведен полный цикл анализа и моделирования первичного учетного документа на примере кассового чека ООО «Альфа». Выполнен реквизитный анализ документа с классификацией реквизитов на постоянные и переменные, а также выделены ключевые финансовые и экономические показатели. Изучена нормативная база (ФЗ-54) и описан бизнес-процесс работы с кассовым чеком от инициации покупки до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фискализации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 данных. Освоен стандарт BPMN 2.0 и инструмент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Stormbpmn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, разработана схема процесса, отражающая взаимодействие покупателя, кассира и ККТ. Спроектирована структура базы данных для хранения </a:t>
            </a:r>
            <a:r>
              <a:rPr lang="ru-RU" sz="2400" b="0" i="0" dirty="0" err="1">
                <a:solidFill>
                  <a:srgbClr val="0F1115"/>
                </a:solidFill>
                <a:effectLst/>
                <a:latin typeface="+mn-lt"/>
              </a:rPr>
              <a:t>внутримашинного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+mn-lt"/>
              </a:rPr>
              <a:t> представления документа: на концептуальном уровне определены сущности «Продавец», «Кассир», «Чек», «Позиция чека» и связи между ними; на логическом уровне разработана реляционная схема с атрибутами, типами данных, первичными и внешними ключами; на физическом уровне подготовлена детализированная схема для реализации в СУБД с учетом каскадного удаления.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10984258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C830BA0-522C-F045-30D9-6AA9F8291E9E}"/>
              </a:ext>
            </a:extLst>
          </p:cNvPr>
          <p:cNvSpPr/>
          <p:nvPr/>
        </p:nvSpPr>
        <p:spPr>
          <a:xfrm>
            <a:off x="609600" y="6410632"/>
            <a:ext cx="511277" cy="285136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9C283-2F3B-9343-D0E8-821A55D5CA6C}"/>
              </a:ext>
            </a:extLst>
          </p:cNvPr>
          <p:cNvSpPr txBox="1"/>
          <p:nvPr/>
        </p:nvSpPr>
        <p:spPr>
          <a:xfrm>
            <a:off x="953728" y="167609"/>
            <a:ext cx="10726994" cy="5232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2800" b="1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+mn-lt"/>
                <a:ea typeface="Arial"/>
                <a:cs typeface="Arial"/>
                <a:sym typeface="Arial"/>
              </a:rPr>
              <a:t>ИСПОЛЬЗУЕМЫЕ ИСТОЧНИКИ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chemeClr val="accent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A34B9-382B-69CA-075A-BEB4EA2BC646}"/>
              </a:ext>
            </a:extLst>
          </p:cNvPr>
          <p:cNvSpPr txBox="1"/>
          <p:nvPr/>
        </p:nvSpPr>
        <p:spPr>
          <a:xfrm>
            <a:off x="309716" y="229164"/>
            <a:ext cx="511277" cy="4001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000" b="1" dirty="0">
                <a:solidFill>
                  <a:schemeClr val="bg1"/>
                </a:solidFill>
                <a:latin typeface="+mn-lt"/>
              </a:rPr>
              <a:t>37</a:t>
            </a:r>
            <a:endParaRPr kumimoji="0" lang="en-US" sz="20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81688-6566-DA7D-555A-DF28DEC7A791}"/>
              </a:ext>
            </a:extLst>
          </p:cNvPr>
          <p:cNvSpPr txBox="1"/>
          <p:nvPr/>
        </p:nvSpPr>
        <p:spPr>
          <a:xfrm>
            <a:off x="309716" y="942323"/>
            <a:ext cx="12403394" cy="527836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Российская Федерация. Законы. О применении контрольно-кассовой техники при осуществлении расчетов в Российской Федерации : Федеральный закон № 54-ФЗ : [принят Государственной Думой 25 апреля 2003 года : одобрен Советом Федерации 14 мая 2003 года]. — Москва : Кремль, 2003. — Текст : электронный // КонсультантПлюс : [сайт].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http://www.consultant.ru/document/cons_doc_LAW_42359/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Как работать на кассе: инструкция для кассира : Как пробивать товары, закрывать смену и возвращать покупки. — Текст : электронный // Онлайн-касса : [сайт]. — 2024.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https://online-kassa.ru/blog/kak-rabotat-na-kasse-instruktsiya-dlya-kassira/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Регламент порядка работы пользователей на контрольно-кассовой технике (ККТ) в приложениях "1С:Розница 8", "1С:Управление торговлей 8", "1С:Комплексная автоматизация 8", "1С:ERP Управление холдингом 8". — Текст : электронный // 1С:ИТС : [сайт]. — Москва : Фирма "1С", 2025.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https://torg.1c.ru/upload/iblock/5eb/5eb2d08927a7fe3ffebcf4a866836949.pdf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Федеральная налоговая служба : официальный сайт. — Москва. — Обновляется в течение суток.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https://www.nalog.gov.ru/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 — Текст : электронный.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Официальная документация BPMN. — Текст : электронный //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BPMN2.0.ru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: Документация по нотации BPMN.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https://bpmn20.ru/docs/docly-documentation/elements/oficzialnaya-dokumentacziya-bpmn/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400" dirty="0" err="1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Stormbpmn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: онлайн-сервис для моделирования бизнес-процессов. — URL: </a:t>
            </a:r>
            <a:r>
              <a:rPr lang="ru-RU" sz="1400" u="none" strike="noStrike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https://stormbpmn.com/</a:t>
            </a:r>
            <a:r>
              <a:rPr lang="ru-RU" sz="14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 (дата обращения: 03.03.2026). — Текст : электронный.</a:t>
            </a:r>
            <a:endParaRPr lang="en-US" sz="1400" dirty="0">
              <a:solidFill>
                <a:schemeClr val="tx1"/>
              </a:solidFill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5014345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237" name="TextBox 5"/>
          <p:cNvSpPr txBox="1"/>
          <p:nvPr/>
        </p:nvSpPr>
        <p:spPr>
          <a:xfrm>
            <a:off x="913800" y="6125934"/>
            <a:ext cx="214692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r>
              <a:rPr dirty="0" err="1"/>
              <a:t>Нижний</a:t>
            </a:r>
            <a:r>
              <a:rPr dirty="0"/>
              <a:t> </a:t>
            </a:r>
            <a:r>
              <a:rPr dirty="0" err="1"/>
              <a:t>Новгород</a:t>
            </a:r>
            <a:r>
              <a:rPr dirty="0"/>
              <a:t>, 202</a:t>
            </a:r>
            <a:r>
              <a:rPr lang="ru-RU" dirty="0"/>
              <a:t>6</a:t>
            </a:r>
            <a:endParaRPr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98F47F0-4B51-6FA7-3818-E22E7BE1ED0F}"/>
              </a:ext>
            </a:extLst>
          </p:cNvPr>
          <p:cNvSpPr/>
          <p:nvPr/>
        </p:nvSpPr>
        <p:spPr>
          <a:xfrm>
            <a:off x="11956026" y="698090"/>
            <a:ext cx="353961" cy="589936"/>
          </a:xfrm>
          <a:prstGeom prst="rect">
            <a:avLst/>
          </a:prstGeom>
          <a:solidFill>
            <a:schemeClr val="accent1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Times New Roman"/>
        <a:ea typeface="Times New Roman"/>
        <a:cs typeface="Times New Roma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Times New Roman"/>
        <a:ea typeface="Times New Roman"/>
        <a:cs typeface="Times New Roma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3052</Words>
  <Application>Microsoft Office PowerPoint</Application>
  <PresentationFormat>Произвольный</PresentationFormat>
  <Paragraphs>376</Paragraphs>
  <Slides>38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6" baseType="lpstr">
      <vt:lpstr>Arial</vt:lpstr>
      <vt:lpstr>Calibri</vt:lpstr>
      <vt:lpstr>Courier New</vt:lpstr>
      <vt:lpstr>Helvetica Neue</vt:lpstr>
      <vt:lpstr>Open Sans ExtraBold</vt:lpstr>
      <vt:lpstr>Symbol</vt:lpstr>
      <vt:lpstr>Times New Roman</vt:lpstr>
      <vt:lpstr>Тема Office</vt:lpstr>
      <vt:lpstr>Реквизитный анализ экономического документа и создание его внутримашинного представления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Екатерина Храмова</cp:lastModifiedBy>
  <cp:revision>5</cp:revision>
  <dcterms:modified xsi:type="dcterms:W3CDTF">2026-03-04T21:17:42Z</dcterms:modified>
</cp:coreProperties>
</file>