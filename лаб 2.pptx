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0"/>
  </p:notesMasterIdLst>
  <p:sldIdLst>
    <p:sldId id="256" r:id="rId2"/>
    <p:sldId id="257" r:id="rId3"/>
    <p:sldId id="296" r:id="rId4"/>
    <p:sldId id="263" r:id="rId5"/>
    <p:sldId id="264" r:id="rId6"/>
    <p:sldId id="265" r:id="rId7"/>
    <p:sldId id="266" r:id="rId8"/>
    <p:sldId id="267" r:id="rId9"/>
    <p:sldId id="268" r:id="rId10"/>
    <p:sldId id="269" r:id="rId11"/>
    <p:sldId id="270" r:id="rId12"/>
    <p:sldId id="271" r:id="rId13"/>
    <p:sldId id="272" r:id="rId14"/>
    <p:sldId id="274" r:id="rId15"/>
    <p:sldId id="273" r:id="rId16"/>
    <p:sldId id="275" r:id="rId17"/>
    <p:sldId id="276" r:id="rId18"/>
    <p:sldId id="277" r:id="rId19"/>
    <p:sldId id="278" r:id="rId20"/>
    <p:sldId id="279" r:id="rId21"/>
    <p:sldId id="280" r:id="rId22"/>
    <p:sldId id="281" r:id="rId23"/>
    <p:sldId id="282" r:id="rId24"/>
    <p:sldId id="283" r:id="rId25"/>
    <p:sldId id="284" r:id="rId26"/>
    <p:sldId id="285" r:id="rId27"/>
    <p:sldId id="288" r:id="rId28"/>
    <p:sldId id="289" r:id="rId29"/>
    <p:sldId id="287" r:id="rId30"/>
    <p:sldId id="286" r:id="rId31"/>
    <p:sldId id="290" r:id="rId32"/>
    <p:sldId id="297" r:id="rId33"/>
    <p:sldId id="291" r:id="rId34"/>
    <p:sldId id="292" r:id="rId35"/>
    <p:sldId id="293" r:id="rId36"/>
    <p:sldId id="294" r:id="rId37"/>
    <p:sldId id="295" r:id="rId38"/>
    <p:sldId id="262" r:id="rId39"/>
  </p:sldIdLst>
  <p:sldSz cx="12954000" cy="68326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Arial"/>
        <a:ea typeface="Arial"/>
        <a:cs typeface="Arial"/>
        <a:sym typeface="Arial"/>
      </a:defRPr>
    </a:lvl1pPr>
    <a:lvl2pPr marL="0" marR="0" indent="4572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Arial"/>
        <a:ea typeface="Arial"/>
        <a:cs typeface="Arial"/>
        <a:sym typeface="Arial"/>
      </a:defRPr>
    </a:lvl2pPr>
    <a:lvl3pPr marL="0" marR="0" indent="9144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Arial"/>
        <a:ea typeface="Arial"/>
        <a:cs typeface="Arial"/>
        <a:sym typeface="Arial"/>
      </a:defRPr>
    </a:lvl3pPr>
    <a:lvl4pPr marL="0" marR="0" indent="13716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Arial"/>
        <a:ea typeface="Arial"/>
        <a:cs typeface="Arial"/>
        <a:sym typeface="Arial"/>
      </a:defRPr>
    </a:lvl4pPr>
    <a:lvl5pPr marL="0" marR="0" indent="18288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Arial"/>
        <a:ea typeface="Arial"/>
        <a:cs typeface="Arial"/>
        <a:sym typeface="Arial"/>
      </a:defRPr>
    </a:lvl5pPr>
    <a:lvl6pPr marL="0" marR="0" indent="22860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Arial"/>
        <a:ea typeface="Arial"/>
        <a:cs typeface="Arial"/>
        <a:sym typeface="Arial"/>
      </a:defRPr>
    </a:lvl6pPr>
    <a:lvl7pPr marL="0" marR="0" indent="27432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Arial"/>
        <a:ea typeface="Arial"/>
        <a:cs typeface="Arial"/>
        <a:sym typeface="Arial"/>
      </a:defRPr>
    </a:lvl7pPr>
    <a:lvl8pPr marL="0" marR="0" indent="32004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Arial"/>
        <a:ea typeface="Arial"/>
        <a:cs typeface="Arial"/>
        <a:sym typeface="Arial"/>
      </a:defRPr>
    </a:lvl8pPr>
    <a:lvl9pPr marL="0" marR="0" indent="36576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940675A-B579-460E-94D1-54222C63F5DA}">
  <a:tblStyle styleId="{4C3C2611-4C71-4FC5-86AE-919BDF0F9419}" styleName="">
    <a:tblBg/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noFill/>
        </a:fill>
      </a:tcStyle>
    </a:wholeTbl>
    <a:band2H>
      <a:tcTxStyle/>
      <a:tcStyle>
        <a:tcBdr/>
        <a:fill>
          <a:solidFill>
            <a:srgbClr val="FFFFFF"/>
          </a:solidFill>
        </a:fill>
      </a:tcStyle>
    </a:band2H>
    <a:firstCo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noFill/>
        </a:fill>
      </a:tcStyle>
    </a:firstCol>
    <a:lastRow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noFill/>
        </a:fill>
      </a:tcStyle>
    </a:lastRow>
    <a:firstRow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noFill/>
        </a:fill>
      </a:tcStyle>
    </a:firstRow>
  </a:tblStyle>
  <a:tblStyle styleId="{C7B018BB-80A7-4F77-B60F-C8B233D01FF8}" styleName="">
    <a:tblBg/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E0CACC"/>
          </a:solidFill>
        </a:fill>
      </a:tcStyle>
    </a:wholeTbl>
    <a:band2H>
      <a:tcTxStyle/>
      <a:tcStyle>
        <a:tcBdr/>
        <a:fill>
          <a:solidFill>
            <a:srgbClr val="F0E6E7"/>
          </a:solidFill>
        </a:fill>
      </a:tcStyle>
    </a:band2H>
    <a:firstCol>
      <a:tcTxStyle b="on" i="off">
        <a:font>
          <a:latin typeface="Arial"/>
          <a:ea typeface="Arial"/>
          <a:cs typeface="Arial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>
          <a:latin typeface="Arial"/>
          <a:ea typeface="Arial"/>
          <a:cs typeface="Arial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>
          <a:latin typeface="Arial"/>
          <a:ea typeface="Arial"/>
          <a:cs typeface="Arial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EEE7283C-3CF3-47DC-8721-378D4A62B228}" styleName="">
    <a:tblBg/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9DEE9"/>
          </a:solidFill>
        </a:fill>
      </a:tcStyle>
    </a:wholeTbl>
    <a:band2H>
      <a:tcTxStyle/>
      <a:tcStyle>
        <a:tcBdr/>
        <a:fill>
          <a:solidFill>
            <a:srgbClr val="EDEFF4"/>
          </a:solidFill>
        </a:fill>
      </a:tcStyle>
    </a:band2H>
    <a:firstCol>
      <a:tcTxStyle b="on" i="off">
        <a:font>
          <a:latin typeface="Arial"/>
          <a:ea typeface="Arial"/>
          <a:cs typeface="Arial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>
          <a:latin typeface="Arial"/>
          <a:ea typeface="Arial"/>
          <a:cs typeface="Arial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>
          <a:latin typeface="Arial"/>
          <a:ea typeface="Arial"/>
          <a:cs typeface="Arial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CF821DB8-F4EB-4A41-A1BA-3FCAFE7338EE}" styleName="">
    <a:tblBg/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E0E2"/>
          </a:solidFill>
        </a:fill>
      </a:tcStyle>
    </a:wholeTbl>
    <a:band2H>
      <a:tcTxStyle/>
      <a:tcStyle>
        <a:tcBdr/>
        <a:fill>
          <a:solidFill>
            <a:srgbClr val="E6F0F1"/>
          </a:solidFill>
        </a:fill>
      </a:tcStyle>
    </a:band2H>
    <a:firstCol>
      <a:tcTxStyle b="on" i="off">
        <a:font>
          <a:latin typeface="Arial"/>
          <a:ea typeface="Arial"/>
          <a:cs typeface="Arial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>
          <a:latin typeface="Arial"/>
          <a:ea typeface="Arial"/>
          <a:cs typeface="Arial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>
          <a:latin typeface="Arial"/>
          <a:ea typeface="Arial"/>
          <a:cs typeface="Arial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33BA23B1-9221-436E-865A-0063620EA4FD}" styleName="">
    <a:tblBg/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/>
      <a:tcStyle>
        <a:tcBdr/>
        <a:fill>
          <a:solidFill>
            <a:srgbClr val="FFFFFF"/>
          </a:solidFill>
        </a:fill>
      </a:tcStyle>
    </a:band2H>
    <a:firstCol>
      <a:tcTxStyle b="on" i="off">
        <a:font>
          <a:latin typeface="Arial"/>
          <a:ea typeface="Arial"/>
          <a:cs typeface="Arial"/>
        </a:font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>
          <a:latin typeface="Arial"/>
          <a:ea typeface="Arial"/>
          <a:cs typeface="Arial"/>
        </a:font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2708684C-4D16-4618-839F-0558EEFCDFE6}" styleName="">
    <a:tblBg/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/>
      <a:tcStyle>
        <a:tcBdr/>
        <a:fill>
          <a:solidFill>
            <a:srgbClr val="E6E6E6"/>
          </a:solidFill>
        </a:fill>
      </a:tcStyle>
    </a:band2H>
    <a:firstCol>
      <a:tcTxStyle b="on" i="off">
        <a:font>
          <a:latin typeface="Arial"/>
          <a:ea typeface="Arial"/>
          <a:cs typeface="Arial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>
          <a:latin typeface="Arial"/>
          <a:ea typeface="Arial"/>
          <a:cs typeface="Arial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>
          <a:latin typeface="Arial"/>
          <a:ea typeface="Arial"/>
          <a:cs typeface="Arial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  <a:tblStyle styleId="{5940675A-B579-460E-94D1-54222C63F5DA}" styleName="Нет стиля, сетка таблицы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436" autoAdjust="0"/>
    <p:restoredTop sz="94660"/>
  </p:normalViewPr>
  <p:slideViewPr>
    <p:cSldViewPr snapToGrid="0">
      <p:cViewPr varScale="1">
        <p:scale>
          <a:sx n="80" d="100"/>
          <a:sy n="80" d="100"/>
        </p:scale>
        <p:origin x="389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Shape 224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225" name="Shape 225"/>
          <p:cNvSpPr>
            <a:spLocks noGrp="1"/>
          </p:cNvSpPr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latinLnBrk="0">
      <a:defRPr sz="1200">
        <a:latin typeface="+mj-lt"/>
        <a:ea typeface="+mj-ea"/>
        <a:cs typeface="+mj-cs"/>
        <a:sym typeface="Calibri"/>
      </a:defRPr>
    </a:lvl1pPr>
    <a:lvl2pPr indent="228600" latinLnBrk="0">
      <a:defRPr sz="1200">
        <a:latin typeface="+mj-lt"/>
        <a:ea typeface="+mj-ea"/>
        <a:cs typeface="+mj-cs"/>
        <a:sym typeface="Calibri"/>
      </a:defRPr>
    </a:lvl2pPr>
    <a:lvl3pPr indent="457200" latinLnBrk="0">
      <a:defRPr sz="1200">
        <a:latin typeface="+mj-lt"/>
        <a:ea typeface="+mj-ea"/>
        <a:cs typeface="+mj-cs"/>
        <a:sym typeface="Calibri"/>
      </a:defRPr>
    </a:lvl3pPr>
    <a:lvl4pPr indent="685800" latinLnBrk="0">
      <a:defRPr sz="1200">
        <a:latin typeface="+mj-lt"/>
        <a:ea typeface="+mj-ea"/>
        <a:cs typeface="+mj-cs"/>
        <a:sym typeface="Calibri"/>
      </a:defRPr>
    </a:lvl4pPr>
    <a:lvl5pPr indent="914400" latinLnBrk="0">
      <a:defRPr sz="1200">
        <a:latin typeface="+mj-lt"/>
        <a:ea typeface="+mj-ea"/>
        <a:cs typeface="+mj-cs"/>
        <a:sym typeface="Calibri"/>
      </a:defRPr>
    </a:lvl5pPr>
    <a:lvl6pPr indent="1143000" latinLnBrk="0">
      <a:defRPr sz="1200">
        <a:latin typeface="+mj-lt"/>
        <a:ea typeface="+mj-ea"/>
        <a:cs typeface="+mj-cs"/>
        <a:sym typeface="Calibri"/>
      </a:defRPr>
    </a:lvl6pPr>
    <a:lvl7pPr indent="1371600" latinLnBrk="0">
      <a:defRPr sz="1200">
        <a:latin typeface="+mj-lt"/>
        <a:ea typeface="+mj-ea"/>
        <a:cs typeface="+mj-cs"/>
        <a:sym typeface="Calibri"/>
      </a:defRPr>
    </a:lvl7pPr>
    <a:lvl8pPr indent="1600200" latinLnBrk="0">
      <a:defRPr sz="1200">
        <a:latin typeface="+mj-lt"/>
        <a:ea typeface="+mj-ea"/>
        <a:cs typeface="+mj-cs"/>
        <a:sym typeface="Calibri"/>
      </a:defRPr>
    </a:lvl8pPr>
    <a:lvl9pPr indent="1828800" latinLnBrk="0">
      <a:defRPr sz="1200">
        <a:latin typeface="+mj-lt"/>
        <a:ea typeface="+mj-ea"/>
        <a:cs typeface="+mj-cs"/>
        <a:sym typeface="Calibri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179388" y="685800"/>
            <a:ext cx="6499225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3223131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Номер слайда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1_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Рисунок 9" descr="Рисунок 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56487" y="124476"/>
            <a:ext cx="1574790" cy="687183"/>
          </a:xfrm>
          <a:prstGeom prst="rect">
            <a:avLst/>
          </a:prstGeom>
          <a:ln w="12700">
            <a:miter lim="400000"/>
          </a:ln>
        </p:spPr>
      </p:pic>
      <p:sp>
        <p:nvSpPr>
          <p:cNvPr id="24" name="Прямоугольник 4"/>
          <p:cNvSpPr/>
          <p:nvPr/>
        </p:nvSpPr>
        <p:spPr>
          <a:xfrm>
            <a:off x="-3244" y="288565"/>
            <a:ext cx="894269" cy="319820"/>
          </a:xfrm>
          <a:prstGeom prst="rect">
            <a:avLst/>
          </a:prstGeom>
          <a:solidFill>
            <a:schemeClr val="accent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25" name="TextBox 10"/>
          <p:cNvSpPr txBox="1"/>
          <p:nvPr/>
        </p:nvSpPr>
        <p:spPr>
          <a:xfrm>
            <a:off x="600118" y="6407915"/>
            <a:ext cx="524201" cy="2888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1400">
                <a:solidFill>
                  <a:srgbClr val="808080"/>
                </a:solidFill>
              </a:defRPr>
            </a:lvl1pPr>
          </a:lstStyle>
          <a:p>
            <a:r>
              <a:t>2023</a:t>
            </a:r>
          </a:p>
        </p:txBody>
      </p:sp>
      <p:sp>
        <p:nvSpPr>
          <p:cNvPr id="26" name="Straight Connector 11"/>
          <p:cNvSpPr/>
          <p:nvPr/>
        </p:nvSpPr>
        <p:spPr>
          <a:xfrm>
            <a:off x="1258528" y="6571636"/>
            <a:ext cx="2303435" cy="1"/>
          </a:xfrm>
          <a:prstGeom prst="line">
            <a:avLst/>
          </a:prstGeom>
          <a:ln w="19050">
            <a:solidFill>
              <a:srgbClr val="808080"/>
            </a:solidFill>
            <a:miter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27" name="Номер слайда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" name="Рисунок 9" descr="Рисунок 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56487" y="124476"/>
            <a:ext cx="1574790" cy="687183"/>
          </a:xfrm>
          <a:prstGeom prst="rect">
            <a:avLst/>
          </a:prstGeom>
          <a:ln w="12700">
            <a:miter lim="400000"/>
          </a:ln>
        </p:spPr>
      </p:pic>
      <p:sp>
        <p:nvSpPr>
          <p:cNvPr id="35" name="Прямоугольник 4"/>
          <p:cNvSpPr/>
          <p:nvPr/>
        </p:nvSpPr>
        <p:spPr>
          <a:xfrm>
            <a:off x="-3244" y="288565"/>
            <a:ext cx="894269" cy="319820"/>
          </a:xfrm>
          <a:prstGeom prst="rect">
            <a:avLst/>
          </a:prstGeom>
          <a:solidFill>
            <a:schemeClr val="accent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36" name="TextBox 8"/>
          <p:cNvSpPr txBox="1"/>
          <p:nvPr/>
        </p:nvSpPr>
        <p:spPr>
          <a:xfrm>
            <a:off x="600118" y="6407915"/>
            <a:ext cx="524201" cy="2888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1400">
                <a:solidFill>
                  <a:srgbClr val="808080"/>
                </a:solidFill>
              </a:defRPr>
            </a:lvl1pPr>
          </a:lstStyle>
          <a:p>
            <a:r>
              <a:t>2023</a:t>
            </a:r>
          </a:p>
        </p:txBody>
      </p:sp>
      <p:sp>
        <p:nvSpPr>
          <p:cNvPr id="37" name="Straight Connector 9"/>
          <p:cNvSpPr/>
          <p:nvPr/>
        </p:nvSpPr>
        <p:spPr>
          <a:xfrm>
            <a:off x="1258528" y="6571636"/>
            <a:ext cx="2303435" cy="1"/>
          </a:xfrm>
          <a:prstGeom prst="line">
            <a:avLst/>
          </a:prstGeom>
          <a:ln w="19050">
            <a:solidFill>
              <a:srgbClr val="808080"/>
            </a:solidFill>
            <a:miter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38" name="Образец заголовка"/>
          <p:cNvSpPr txBox="1">
            <a:spLocks noGrp="1"/>
          </p:cNvSpPr>
          <p:nvPr>
            <p:ph type="title" hasCustomPrompt="1"/>
          </p:nvPr>
        </p:nvSpPr>
        <p:spPr>
          <a:xfrm>
            <a:off x="1620044" y="1119505"/>
            <a:ext cx="9720264" cy="2381521"/>
          </a:xfrm>
          <a:prstGeom prst="rect">
            <a:avLst/>
          </a:prstGeom>
        </p:spPr>
        <p:txBody>
          <a:bodyPr anchor="b">
            <a:normAutofit/>
          </a:bodyPr>
          <a:lstStyle/>
          <a:p>
            <a:r>
              <a:t>Образец заголовка</a:t>
            </a:r>
          </a:p>
        </p:txBody>
      </p:sp>
      <p:sp>
        <p:nvSpPr>
          <p:cNvPr id="39" name="Уровень текста 1…"/>
          <p:cNvSpPr txBox="1">
            <a:spLocks noGrp="1"/>
          </p:cNvSpPr>
          <p:nvPr>
            <p:ph type="body" sz="quarter" idx="1"/>
          </p:nvPr>
        </p:nvSpPr>
        <p:spPr>
          <a:xfrm>
            <a:off x="1620044" y="3592865"/>
            <a:ext cx="9720264" cy="1651548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2400" b="1"/>
            </a:lvl1pPr>
            <a:lvl2pPr indent="456056">
              <a:defRPr sz="2400" b="1"/>
            </a:lvl2pPr>
            <a:lvl3pPr indent="912113">
              <a:defRPr sz="2400" b="1"/>
            </a:lvl3pPr>
            <a:lvl4pPr indent="1368171">
              <a:defRPr sz="2400" b="1"/>
            </a:lvl4pPr>
            <a:lvl5pPr indent="1824227">
              <a:defRPr sz="2400" b="1"/>
            </a:lvl5pPr>
          </a:lstStyle>
          <a:p>
            <a:r>
              <a:t>Уровень текста 1</a:t>
            </a:r>
          </a:p>
          <a:p>
            <a:pPr lvl="1"/>
            <a:r>
              <a:t>Уровень текста 2</a:t>
            </a:r>
          </a:p>
          <a:p>
            <a:pPr lvl="2"/>
            <a:r>
              <a:t>Уровень текста 3</a:t>
            </a:r>
          </a:p>
          <a:p>
            <a:pPr lvl="3"/>
            <a:r>
              <a:t>Уровень текста 4</a:t>
            </a:r>
          </a:p>
          <a:p>
            <a:pPr lvl="4"/>
            <a:r>
              <a:t>Уровень текста 5</a:t>
            </a:r>
          </a:p>
        </p:txBody>
      </p:sp>
      <p:sp>
        <p:nvSpPr>
          <p:cNvPr id="40" name="Номер слайда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1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" name="Рисунок 9" descr="Рисунок 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56487" y="124476"/>
            <a:ext cx="1574790" cy="687183"/>
          </a:xfrm>
          <a:prstGeom prst="rect">
            <a:avLst/>
          </a:prstGeom>
          <a:ln w="12700">
            <a:miter lim="400000"/>
          </a:ln>
        </p:spPr>
      </p:pic>
      <p:sp>
        <p:nvSpPr>
          <p:cNvPr id="48" name="Прямоугольник 4"/>
          <p:cNvSpPr/>
          <p:nvPr/>
        </p:nvSpPr>
        <p:spPr>
          <a:xfrm>
            <a:off x="-3244" y="288565"/>
            <a:ext cx="894269" cy="319820"/>
          </a:xfrm>
          <a:prstGeom prst="rect">
            <a:avLst/>
          </a:prstGeom>
          <a:solidFill>
            <a:schemeClr val="accent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49" name="TextBox 9"/>
          <p:cNvSpPr txBox="1"/>
          <p:nvPr/>
        </p:nvSpPr>
        <p:spPr>
          <a:xfrm>
            <a:off x="600118" y="6407915"/>
            <a:ext cx="524201" cy="2888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1400">
                <a:solidFill>
                  <a:srgbClr val="808080"/>
                </a:solidFill>
              </a:defRPr>
            </a:lvl1pPr>
          </a:lstStyle>
          <a:p>
            <a:r>
              <a:t>2023</a:t>
            </a:r>
          </a:p>
        </p:txBody>
      </p:sp>
      <p:sp>
        <p:nvSpPr>
          <p:cNvPr id="50" name="Straight Connector 10"/>
          <p:cNvSpPr/>
          <p:nvPr/>
        </p:nvSpPr>
        <p:spPr>
          <a:xfrm>
            <a:off x="1258528" y="6571636"/>
            <a:ext cx="2303435" cy="1"/>
          </a:xfrm>
          <a:prstGeom prst="line">
            <a:avLst/>
          </a:prstGeom>
          <a:ln w="19050">
            <a:solidFill>
              <a:srgbClr val="808080"/>
            </a:solidFill>
            <a:miter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51" name="Образец заголовка"/>
          <p:cNvSpPr txBox="1">
            <a:spLocks noGrp="1"/>
          </p:cNvSpPr>
          <p:nvPr>
            <p:ph type="title" hasCustomPrompt="1"/>
          </p:nvPr>
        </p:nvSpPr>
        <p:spPr>
          <a:xfrm>
            <a:off x="900000" y="919196"/>
            <a:ext cx="8649708" cy="535140"/>
          </a:xfrm>
          <a:prstGeom prst="rect">
            <a:avLst/>
          </a:prstGeom>
        </p:spPr>
        <p:txBody>
          <a:bodyPr>
            <a:normAutofit/>
          </a:bodyPr>
          <a:lstStyle/>
          <a:p>
            <a:r>
              <a:t>Образец заголовка</a:t>
            </a:r>
          </a:p>
        </p:txBody>
      </p:sp>
      <p:sp>
        <p:nvSpPr>
          <p:cNvPr id="52" name="Уровень текста 1…"/>
          <p:cNvSpPr txBox="1">
            <a:spLocks noGrp="1"/>
          </p:cNvSpPr>
          <p:nvPr>
            <p:ph type="body" sz="quarter" idx="1"/>
          </p:nvPr>
        </p:nvSpPr>
        <p:spPr>
          <a:xfrm>
            <a:off x="4981302" y="2751908"/>
            <a:ext cx="6696893" cy="249250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3600" b="1">
                <a:solidFill>
                  <a:schemeClr val="accent1"/>
                </a:solidFill>
              </a:defRPr>
            </a:lvl1pPr>
            <a:lvl2pPr indent="456056">
              <a:defRPr sz="3600" b="1">
                <a:solidFill>
                  <a:schemeClr val="accent1"/>
                </a:solidFill>
              </a:defRPr>
            </a:lvl2pPr>
            <a:lvl3pPr indent="912113">
              <a:defRPr sz="3600" b="1">
                <a:solidFill>
                  <a:schemeClr val="accent1"/>
                </a:solidFill>
              </a:defRPr>
            </a:lvl3pPr>
            <a:lvl4pPr indent="1368171">
              <a:defRPr sz="3600" b="1">
                <a:solidFill>
                  <a:schemeClr val="accent1"/>
                </a:solidFill>
              </a:defRPr>
            </a:lvl4pPr>
            <a:lvl5pPr indent="1824227">
              <a:defRPr sz="3600" b="1">
                <a:solidFill>
                  <a:schemeClr val="accent1"/>
                </a:solidFill>
              </a:defRPr>
            </a:lvl5pPr>
          </a:lstStyle>
          <a:p>
            <a:r>
              <a:t>Уровень текста 1</a:t>
            </a:r>
          </a:p>
          <a:p>
            <a:pPr lvl="1"/>
            <a:r>
              <a:t>Уровень текста 2</a:t>
            </a:r>
          </a:p>
          <a:p>
            <a:pPr lvl="2"/>
            <a:r>
              <a:t>Уровень текста 3</a:t>
            </a:r>
          </a:p>
          <a:p>
            <a:pPr lvl="3"/>
            <a:r>
              <a:t>Уровень текста 4</a:t>
            </a:r>
          </a:p>
          <a:p>
            <a:pPr lvl="4"/>
            <a:r>
              <a:t>Уровень текста 5</a:t>
            </a:r>
          </a:p>
        </p:txBody>
      </p:sp>
      <p:sp>
        <p:nvSpPr>
          <p:cNvPr id="53" name="Номер слайда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  <p:sp>
        <p:nvSpPr>
          <p:cNvPr id="54" name="Text Placeholder 3"/>
          <p:cNvSpPr>
            <a:spLocks noGrp="1"/>
          </p:cNvSpPr>
          <p:nvPr>
            <p:ph type="body" sz="quarter" idx="21"/>
          </p:nvPr>
        </p:nvSpPr>
        <p:spPr>
          <a:xfrm>
            <a:off x="900112" y="1625000"/>
            <a:ext cx="2916080" cy="4304163"/>
          </a:xfrm>
          <a:prstGeom prst="rect">
            <a:avLst/>
          </a:prstGeom>
        </p:spPr>
        <p:txBody>
          <a:bodyPr>
            <a:normAutofit/>
          </a:bodyPr>
          <a:lstStyle/>
          <a:p>
            <a:pPr>
              <a:defRPr sz="1500"/>
            </a:pPr>
            <a:endParaRPr/>
          </a:p>
        </p:txBody>
      </p:sp>
    </p:spTree>
  </p:cSld>
  <p:clrMapOvr>
    <a:masterClrMapping/>
  </p:clrMapOvr>
  <p:transition spd="med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2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Rectangle 10"/>
          <p:cNvSpPr/>
          <p:nvPr/>
        </p:nvSpPr>
        <p:spPr>
          <a:xfrm>
            <a:off x="0" y="0"/>
            <a:ext cx="12960350" cy="6840538"/>
          </a:xfrm>
          <a:prstGeom prst="rect">
            <a:avLst/>
          </a:prstGeom>
          <a:solidFill>
            <a:schemeClr val="accent1"/>
          </a:solidFill>
          <a:ln w="12700">
            <a:solidFill>
              <a:srgbClr val="770127"/>
            </a:solidFill>
            <a:miter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62" name="Уровень текста 1…"/>
          <p:cNvSpPr txBox="1">
            <a:spLocks noGrp="1"/>
          </p:cNvSpPr>
          <p:nvPr>
            <p:ph type="body" sz="quarter" idx="1"/>
          </p:nvPr>
        </p:nvSpPr>
        <p:spPr>
          <a:xfrm>
            <a:off x="3300546" y="2269023"/>
            <a:ext cx="6871064" cy="249250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3600" b="1">
                <a:solidFill>
                  <a:srgbClr val="FFFFFF"/>
                </a:solidFill>
              </a:defRPr>
            </a:lvl1pPr>
            <a:lvl2pPr indent="456056">
              <a:defRPr sz="3600" b="1">
                <a:solidFill>
                  <a:srgbClr val="FFFFFF"/>
                </a:solidFill>
              </a:defRPr>
            </a:lvl2pPr>
            <a:lvl3pPr indent="912113">
              <a:defRPr sz="3600" b="1">
                <a:solidFill>
                  <a:srgbClr val="FFFFFF"/>
                </a:solidFill>
              </a:defRPr>
            </a:lvl3pPr>
            <a:lvl4pPr indent="1368171">
              <a:defRPr sz="3600" b="1">
                <a:solidFill>
                  <a:srgbClr val="FFFFFF"/>
                </a:solidFill>
              </a:defRPr>
            </a:lvl4pPr>
            <a:lvl5pPr indent="1824227">
              <a:defRPr sz="3600" b="1">
                <a:solidFill>
                  <a:srgbClr val="FFFFFF"/>
                </a:solidFill>
              </a:defRPr>
            </a:lvl5pPr>
          </a:lstStyle>
          <a:p>
            <a:r>
              <a:t>Уровень текста 1</a:t>
            </a:r>
          </a:p>
          <a:p>
            <a:pPr lvl="1"/>
            <a:r>
              <a:t>Уровень текста 2</a:t>
            </a:r>
          </a:p>
          <a:p>
            <a:pPr lvl="2"/>
            <a:r>
              <a:t>Уровень текста 3</a:t>
            </a:r>
          </a:p>
          <a:p>
            <a:pPr lvl="3"/>
            <a:r>
              <a:t>Уровень текста 4</a:t>
            </a:r>
          </a:p>
          <a:p>
            <a:pPr lvl="4"/>
            <a:r>
              <a:t>Уровень текста 5</a:t>
            </a:r>
          </a:p>
        </p:txBody>
      </p:sp>
      <p:sp>
        <p:nvSpPr>
          <p:cNvPr id="63" name="Прямоугольник 4"/>
          <p:cNvSpPr/>
          <p:nvPr/>
        </p:nvSpPr>
        <p:spPr>
          <a:xfrm>
            <a:off x="-3244" y="288565"/>
            <a:ext cx="894269" cy="319820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64" name="Номер слайда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>
            <a:lvl1pPr>
              <a:defRPr>
                <a:solidFill>
                  <a:srgbClr val="BE003E"/>
                </a:solidFill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  <p:pic>
        <p:nvPicPr>
          <p:cNvPr id="65" name="Picture 16" descr="Picture 16"/>
          <p:cNvPicPr>
            <a:picLocks noChangeAspect="1"/>
          </p:cNvPicPr>
          <p:nvPr/>
        </p:nvPicPr>
        <p:blipFill>
          <a:blip r:embed="rId2"/>
          <a:srcRect t="4828"/>
          <a:stretch>
            <a:fillRect/>
          </a:stretch>
        </p:blipFill>
        <p:spPr>
          <a:xfrm>
            <a:off x="10684389" y="-1"/>
            <a:ext cx="1950722" cy="976150"/>
          </a:xfrm>
          <a:prstGeom prst="rect">
            <a:avLst/>
          </a:prstGeom>
          <a:ln w="12700">
            <a:miter lim="400000"/>
          </a:ln>
        </p:spPr>
      </p:pic>
      <p:sp>
        <p:nvSpPr>
          <p:cNvPr id="66" name="TextBox 17"/>
          <p:cNvSpPr txBox="1"/>
          <p:nvPr/>
        </p:nvSpPr>
        <p:spPr>
          <a:xfrm>
            <a:off x="600118" y="6407915"/>
            <a:ext cx="524201" cy="2888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1400">
                <a:solidFill>
                  <a:srgbClr val="FFFFFF"/>
                </a:solidFill>
              </a:defRPr>
            </a:lvl1pPr>
          </a:lstStyle>
          <a:p>
            <a:r>
              <a:t>2024</a:t>
            </a:r>
          </a:p>
        </p:txBody>
      </p:sp>
      <p:sp>
        <p:nvSpPr>
          <p:cNvPr id="67" name="Straight Connector 18"/>
          <p:cNvSpPr/>
          <p:nvPr/>
        </p:nvSpPr>
        <p:spPr>
          <a:xfrm>
            <a:off x="1258528" y="6571636"/>
            <a:ext cx="2303435" cy="1"/>
          </a:xfrm>
          <a:prstGeom prst="line">
            <a:avLst/>
          </a:prstGeom>
          <a:ln w="19050">
            <a:solidFill>
              <a:srgbClr val="FFFFFF"/>
            </a:solidFill>
            <a:miter/>
          </a:ln>
        </p:spPr>
        <p:txBody>
          <a:bodyPr lIns="45719" rIns="45719"/>
          <a:lstStyle/>
          <a:p>
            <a:endParaRPr/>
          </a:p>
        </p:txBody>
      </p:sp>
    </p:spTree>
  </p:cSld>
  <p:clrMapOvr>
    <a:masterClrMapping/>
  </p:clrMapOvr>
  <p:transition spd="med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4" name="Рисунок 9" descr="Рисунок 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56487" y="124476"/>
            <a:ext cx="1574790" cy="687183"/>
          </a:xfrm>
          <a:prstGeom prst="rect">
            <a:avLst/>
          </a:prstGeom>
          <a:ln w="12700">
            <a:miter lim="400000"/>
          </a:ln>
        </p:spPr>
      </p:pic>
      <p:sp>
        <p:nvSpPr>
          <p:cNvPr id="75" name="Прямоугольник 4"/>
          <p:cNvSpPr/>
          <p:nvPr/>
        </p:nvSpPr>
        <p:spPr>
          <a:xfrm>
            <a:off x="-3244" y="288565"/>
            <a:ext cx="894269" cy="319820"/>
          </a:xfrm>
          <a:prstGeom prst="rect">
            <a:avLst/>
          </a:prstGeom>
          <a:solidFill>
            <a:schemeClr val="accent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76" name="TextBox 9"/>
          <p:cNvSpPr txBox="1"/>
          <p:nvPr/>
        </p:nvSpPr>
        <p:spPr>
          <a:xfrm>
            <a:off x="600118" y="6407915"/>
            <a:ext cx="524201" cy="2888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1400">
                <a:solidFill>
                  <a:srgbClr val="808080"/>
                </a:solidFill>
              </a:defRPr>
            </a:lvl1pPr>
          </a:lstStyle>
          <a:p>
            <a:r>
              <a:t>2023</a:t>
            </a:r>
          </a:p>
        </p:txBody>
      </p:sp>
      <p:sp>
        <p:nvSpPr>
          <p:cNvPr id="77" name="Straight Connector 10"/>
          <p:cNvSpPr/>
          <p:nvPr/>
        </p:nvSpPr>
        <p:spPr>
          <a:xfrm>
            <a:off x="1258528" y="6571636"/>
            <a:ext cx="2303435" cy="1"/>
          </a:xfrm>
          <a:prstGeom prst="line">
            <a:avLst/>
          </a:prstGeom>
          <a:ln w="19050">
            <a:solidFill>
              <a:srgbClr val="808080"/>
            </a:solidFill>
            <a:miter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78" name="Образец заголовка"/>
          <p:cNvSpPr txBox="1">
            <a:spLocks noGrp="1"/>
          </p:cNvSpPr>
          <p:nvPr>
            <p:ph type="title" hasCustomPrompt="1"/>
          </p:nvPr>
        </p:nvSpPr>
        <p:spPr>
          <a:xfrm>
            <a:off x="900000" y="900000"/>
            <a:ext cx="9576680" cy="714359"/>
          </a:xfrm>
          <a:prstGeom prst="rect">
            <a:avLst/>
          </a:prstGeom>
        </p:spPr>
        <p:txBody>
          <a:bodyPr>
            <a:normAutofit/>
          </a:bodyPr>
          <a:lstStyle/>
          <a:p>
            <a:r>
              <a:t>Образец заголовка</a:t>
            </a:r>
          </a:p>
        </p:txBody>
      </p:sp>
      <p:sp>
        <p:nvSpPr>
          <p:cNvPr id="79" name="Уровень текста 1…"/>
          <p:cNvSpPr txBox="1">
            <a:spLocks noGrp="1"/>
          </p:cNvSpPr>
          <p:nvPr>
            <p:ph type="body" idx="1"/>
          </p:nvPr>
        </p:nvSpPr>
        <p:spPr>
          <a:xfrm>
            <a:off x="891024" y="1820976"/>
            <a:ext cx="11205727" cy="4340260"/>
          </a:xfrm>
          <a:prstGeom prst="rect">
            <a:avLst/>
          </a:prstGeom>
        </p:spPr>
        <p:txBody>
          <a:bodyPr>
            <a:normAutofit/>
          </a:bodyPr>
          <a:lstStyle/>
          <a:p>
            <a:r>
              <a:t>Уровень текста 1</a:t>
            </a:r>
          </a:p>
          <a:p>
            <a:pPr lvl="1"/>
            <a:r>
              <a:t>Уровень текста 2</a:t>
            </a:r>
          </a:p>
          <a:p>
            <a:pPr lvl="2"/>
            <a:r>
              <a:t>Уровень текста 3</a:t>
            </a:r>
          </a:p>
          <a:p>
            <a:pPr lvl="3"/>
            <a:r>
              <a:t>Уровень текста 4</a:t>
            </a:r>
          </a:p>
          <a:p>
            <a:pPr lvl="4"/>
            <a:r>
              <a:t>Уровень текста 5</a:t>
            </a:r>
          </a:p>
        </p:txBody>
      </p:sp>
      <p:sp>
        <p:nvSpPr>
          <p:cNvPr id="80" name="Номер слайда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Рисунок 9" descr="Рисунок 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56487" y="124476"/>
            <a:ext cx="1574790" cy="687183"/>
          </a:xfrm>
          <a:prstGeom prst="rect">
            <a:avLst/>
          </a:prstGeom>
          <a:ln w="12700">
            <a:miter lim="400000"/>
          </a:ln>
        </p:spPr>
      </p:pic>
      <p:sp>
        <p:nvSpPr>
          <p:cNvPr id="88" name="Прямоугольник 4"/>
          <p:cNvSpPr/>
          <p:nvPr/>
        </p:nvSpPr>
        <p:spPr>
          <a:xfrm>
            <a:off x="-3244" y="288565"/>
            <a:ext cx="894269" cy="319820"/>
          </a:xfrm>
          <a:prstGeom prst="rect">
            <a:avLst/>
          </a:prstGeom>
          <a:solidFill>
            <a:schemeClr val="accent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89" name="TextBox 9"/>
          <p:cNvSpPr txBox="1"/>
          <p:nvPr/>
        </p:nvSpPr>
        <p:spPr>
          <a:xfrm>
            <a:off x="600118" y="6407915"/>
            <a:ext cx="524201" cy="2888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1400">
                <a:solidFill>
                  <a:srgbClr val="808080"/>
                </a:solidFill>
              </a:defRPr>
            </a:lvl1pPr>
          </a:lstStyle>
          <a:p>
            <a:r>
              <a:t>2023</a:t>
            </a:r>
          </a:p>
        </p:txBody>
      </p:sp>
      <p:sp>
        <p:nvSpPr>
          <p:cNvPr id="90" name="Straight Connector 10"/>
          <p:cNvSpPr/>
          <p:nvPr/>
        </p:nvSpPr>
        <p:spPr>
          <a:xfrm>
            <a:off x="1258528" y="6571636"/>
            <a:ext cx="2303435" cy="1"/>
          </a:xfrm>
          <a:prstGeom prst="line">
            <a:avLst/>
          </a:prstGeom>
          <a:ln w="19050">
            <a:solidFill>
              <a:srgbClr val="808080"/>
            </a:solidFill>
            <a:miter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91" name="Образец заголовка"/>
          <p:cNvSpPr txBox="1">
            <a:spLocks noGrp="1"/>
          </p:cNvSpPr>
          <p:nvPr>
            <p:ph type="title" hasCustomPrompt="1"/>
          </p:nvPr>
        </p:nvSpPr>
        <p:spPr>
          <a:xfrm>
            <a:off x="900000" y="900000"/>
            <a:ext cx="9627700" cy="740593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3100"/>
            </a:lvl1pPr>
          </a:lstStyle>
          <a:p>
            <a:r>
              <a:t>Образец заголовка</a:t>
            </a:r>
          </a:p>
        </p:txBody>
      </p:sp>
      <p:sp>
        <p:nvSpPr>
          <p:cNvPr id="92" name="Picture Placeholder 2"/>
          <p:cNvSpPr>
            <a:spLocks noGrp="1"/>
          </p:cNvSpPr>
          <p:nvPr>
            <p:ph type="pic" sz="half" idx="21"/>
          </p:nvPr>
        </p:nvSpPr>
        <p:spPr>
          <a:xfrm>
            <a:off x="4340995" y="1674796"/>
            <a:ext cx="7726643" cy="4254366"/>
          </a:xfrm>
          <a:prstGeom prst="rect">
            <a:avLst/>
          </a:prstGeom>
        </p:spPr>
        <p:txBody>
          <a:bodyPr lIns="91439" tIns="45719" rIns="91439" bIns="45719"/>
          <a:lstStyle/>
          <a:p>
            <a:endParaRPr/>
          </a:p>
        </p:txBody>
      </p:sp>
      <p:sp>
        <p:nvSpPr>
          <p:cNvPr id="93" name="Уровень текста 1…"/>
          <p:cNvSpPr txBox="1">
            <a:spLocks noGrp="1"/>
          </p:cNvSpPr>
          <p:nvPr>
            <p:ph type="body" sz="quarter" idx="1"/>
          </p:nvPr>
        </p:nvSpPr>
        <p:spPr>
          <a:xfrm>
            <a:off x="900112" y="1625000"/>
            <a:ext cx="2916080" cy="4304163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500"/>
            </a:lvl1pPr>
            <a:lvl2pPr indent="456056">
              <a:defRPr sz="1500"/>
            </a:lvl2pPr>
            <a:lvl3pPr indent="912113">
              <a:defRPr sz="1500"/>
            </a:lvl3pPr>
            <a:lvl4pPr indent="1368171">
              <a:defRPr sz="1500"/>
            </a:lvl4pPr>
            <a:lvl5pPr indent="1824227">
              <a:defRPr sz="1500"/>
            </a:lvl5pPr>
          </a:lstStyle>
          <a:p>
            <a:r>
              <a:t>Уровень текста 1</a:t>
            </a:r>
          </a:p>
          <a:p>
            <a:pPr lvl="1"/>
            <a:r>
              <a:t>Уровень текста 2</a:t>
            </a:r>
          </a:p>
          <a:p>
            <a:pPr lvl="2"/>
            <a:r>
              <a:t>Уровень текста 3</a:t>
            </a:r>
          </a:p>
          <a:p>
            <a:pPr lvl="3"/>
            <a:r>
              <a:t>Уровень текста 4</a:t>
            </a:r>
          </a:p>
          <a:p>
            <a:pPr lvl="4"/>
            <a:r>
              <a:t>Уровень текста 5</a:t>
            </a:r>
          </a:p>
        </p:txBody>
      </p:sp>
      <p:sp>
        <p:nvSpPr>
          <p:cNvPr id="94" name="Номер слайда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1_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1" name="Рисунок 9" descr="Рисунок 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56487" y="124476"/>
            <a:ext cx="1574790" cy="687183"/>
          </a:xfrm>
          <a:prstGeom prst="rect">
            <a:avLst/>
          </a:prstGeom>
          <a:ln w="12700">
            <a:miter lim="400000"/>
          </a:ln>
        </p:spPr>
      </p:pic>
      <p:sp>
        <p:nvSpPr>
          <p:cNvPr id="102" name="Прямоугольник 4"/>
          <p:cNvSpPr/>
          <p:nvPr/>
        </p:nvSpPr>
        <p:spPr>
          <a:xfrm>
            <a:off x="-3244" y="288565"/>
            <a:ext cx="894269" cy="319820"/>
          </a:xfrm>
          <a:prstGeom prst="rect">
            <a:avLst/>
          </a:prstGeom>
          <a:solidFill>
            <a:schemeClr val="accent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3" name="TextBox 10"/>
          <p:cNvSpPr txBox="1"/>
          <p:nvPr/>
        </p:nvSpPr>
        <p:spPr>
          <a:xfrm>
            <a:off x="600118" y="6407915"/>
            <a:ext cx="524201" cy="2888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1400">
                <a:solidFill>
                  <a:srgbClr val="808080"/>
                </a:solidFill>
              </a:defRPr>
            </a:lvl1pPr>
          </a:lstStyle>
          <a:p>
            <a:r>
              <a:t>2023</a:t>
            </a:r>
          </a:p>
        </p:txBody>
      </p:sp>
      <p:sp>
        <p:nvSpPr>
          <p:cNvPr id="104" name="Straight Connector 12"/>
          <p:cNvSpPr/>
          <p:nvPr/>
        </p:nvSpPr>
        <p:spPr>
          <a:xfrm>
            <a:off x="1258528" y="6571636"/>
            <a:ext cx="2303435" cy="1"/>
          </a:xfrm>
          <a:prstGeom prst="line">
            <a:avLst/>
          </a:prstGeom>
          <a:ln w="19050">
            <a:solidFill>
              <a:srgbClr val="808080"/>
            </a:solidFill>
            <a:miter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105" name="Образец заголовка"/>
          <p:cNvSpPr txBox="1">
            <a:spLocks noGrp="1"/>
          </p:cNvSpPr>
          <p:nvPr>
            <p:ph type="title" hasCustomPrompt="1"/>
          </p:nvPr>
        </p:nvSpPr>
        <p:spPr>
          <a:xfrm>
            <a:off x="900000" y="863999"/>
            <a:ext cx="9627700" cy="740593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3100"/>
            </a:lvl1pPr>
          </a:lstStyle>
          <a:p>
            <a:r>
              <a:t>Образец заголовка</a:t>
            </a:r>
          </a:p>
        </p:txBody>
      </p:sp>
      <p:sp>
        <p:nvSpPr>
          <p:cNvPr id="106" name="Picture Placeholder 2"/>
          <p:cNvSpPr>
            <a:spLocks noGrp="1"/>
          </p:cNvSpPr>
          <p:nvPr>
            <p:ph type="pic" sz="quarter" idx="21"/>
          </p:nvPr>
        </p:nvSpPr>
        <p:spPr>
          <a:xfrm>
            <a:off x="4340995" y="1674796"/>
            <a:ext cx="3638349" cy="4254366"/>
          </a:xfrm>
          <a:prstGeom prst="rect">
            <a:avLst/>
          </a:prstGeom>
        </p:spPr>
        <p:txBody>
          <a:bodyPr lIns="91439" tIns="45719" rIns="91439" bIns="45719"/>
          <a:lstStyle/>
          <a:p>
            <a:endParaRPr/>
          </a:p>
        </p:txBody>
      </p:sp>
      <p:sp>
        <p:nvSpPr>
          <p:cNvPr id="107" name="Уровень текста 1…"/>
          <p:cNvSpPr txBox="1">
            <a:spLocks noGrp="1"/>
          </p:cNvSpPr>
          <p:nvPr>
            <p:ph type="body" sz="quarter" idx="1"/>
          </p:nvPr>
        </p:nvSpPr>
        <p:spPr>
          <a:xfrm>
            <a:off x="900112" y="1625000"/>
            <a:ext cx="2916080" cy="4304163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500"/>
            </a:lvl1pPr>
            <a:lvl2pPr indent="456056">
              <a:defRPr sz="1500"/>
            </a:lvl2pPr>
            <a:lvl3pPr indent="912113">
              <a:defRPr sz="1500"/>
            </a:lvl3pPr>
            <a:lvl4pPr indent="1368171">
              <a:defRPr sz="1500"/>
            </a:lvl4pPr>
            <a:lvl5pPr indent="1824227">
              <a:defRPr sz="1500"/>
            </a:lvl5pPr>
          </a:lstStyle>
          <a:p>
            <a:r>
              <a:t>Уровень текста 1</a:t>
            </a:r>
          </a:p>
          <a:p>
            <a:pPr lvl="1"/>
            <a:r>
              <a:t>Уровень текста 2</a:t>
            </a:r>
          </a:p>
          <a:p>
            <a:pPr lvl="2"/>
            <a:r>
              <a:t>Уровень текста 3</a:t>
            </a:r>
          </a:p>
          <a:p>
            <a:pPr lvl="3"/>
            <a:r>
              <a:t>Уровень текста 4</a:t>
            </a:r>
          </a:p>
          <a:p>
            <a:pPr lvl="4"/>
            <a:r>
              <a:t>Уровень текста 5</a:t>
            </a:r>
          </a:p>
        </p:txBody>
      </p:sp>
      <p:sp>
        <p:nvSpPr>
          <p:cNvPr id="108" name="Номер слайда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  <p:sp>
        <p:nvSpPr>
          <p:cNvPr id="109" name="Picture Placeholder 2"/>
          <p:cNvSpPr>
            <a:spLocks noGrp="1"/>
          </p:cNvSpPr>
          <p:nvPr>
            <p:ph type="pic" sz="quarter" idx="22"/>
          </p:nvPr>
        </p:nvSpPr>
        <p:spPr>
          <a:xfrm>
            <a:off x="8383605" y="1674796"/>
            <a:ext cx="3638349" cy="4254366"/>
          </a:xfrm>
          <a:prstGeom prst="rect">
            <a:avLst/>
          </a:prstGeom>
        </p:spPr>
        <p:txBody>
          <a:bodyPr lIns="91439" tIns="45719" rIns="91439" bIns="45719"/>
          <a:lstStyle/>
          <a:p>
            <a:endParaRPr/>
          </a:p>
        </p:txBody>
      </p:sp>
    </p:spTree>
  </p:cSld>
  <p:clrMapOvr>
    <a:masterClrMapping/>
  </p:clrMapOvr>
  <p:transition spd="med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2_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Рисунок 9" descr="Рисунок 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56487" y="124476"/>
            <a:ext cx="1574790" cy="687183"/>
          </a:xfrm>
          <a:prstGeom prst="rect">
            <a:avLst/>
          </a:prstGeom>
          <a:ln w="12700">
            <a:miter lim="400000"/>
          </a:ln>
        </p:spPr>
      </p:pic>
      <p:sp>
        <p:nvSpPr>
          <p:cNvPr id="117" name="Прямоугольник 4"/>
          <p:cNvSpPr/>
          <p:nvPr/>
        </p:nvSpPr>
        <p:spPr>
          <a:xfrm>
            <a:off x="-3244" y="288565"/>
            <a:ext cx="894269" cy="319820"/>
          </a:xfrm>
          <a:prstGeom prst="rect">
            <a:avLst/>
          </a:prstGeom>
          <a:solidFill>
            <a:schemeClr val="accent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18" name="TextBox 13"/>
          <p:cNvSpPr txBox="1"/>
          <p:nvPr/>
        </p:nvSpPr>
        <p:spPr>
          <a:xfrm>
            <a:off x="600118" y="6407915"/>
            <a:ext cx="524201" cy="2888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1400">
                <a:solidFill>
                  <a:srgbClr val="808080"/>
                </a:solidFill>
              </a:defRPr>
            </a:lvl1pPr>
          </a:lstStyle>
          <a:p>
            <a:r>
              <a:t>2023</a:t>
            </a:r>
          </a:p>
        </p:txBody>
      </p:sp>
      <p:sp>
        <p:nvSpPr>
          <p:cNvPr id="119" name="Straight Connector 14"/>
          <p:cNvSpPr/>
          <p:nvPr/>
        </p:nvSpPr>
        <p:spPr>
          <a:xfrm>
            <a:off x="1258528" y="6571636"/>
            <a:ext cx="2303435" cy="1"/>
          </a:xfrm>
          <a:prstGeom prst="line">
            <a:avLst/>
          </a:prstGeom>
          <a:ln w="19050">
            <a:solidFill>
              <a:srgbClr val="808080"/>
            </a:solidFill>
            <a:miter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120" name="Образец заголовка"/>
          <p:cNvSpPr txBox="1">
            <a:spLocks noGrp="1"/>
          </p:cNvSpPr>
          <p:nvPr>
            <p:ph type="title" hasCustomPrompt="1"/>
          </p:nvPr>
        </p:nvSpPr>
        <p:spPr>
          <a:xfrm>
            <a:off x="892712" y="900000"/>
            <a:ext cx="9627701" cy="740593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3100"/>
            </a:lvl1pPr>
          </a:lstStyle>
          <a:p>
            <a:r>
              <a:t>Образец заголовка</a:t>
            </a:r>
          </a:p>
        </p:txBody>
      </p:sp>
      <p:sp>
        <p:nvSpPr>
          <p:cNvPr id="121" name="Picture Placeholder 2"/>
          <p:cNvSpPr>
            <a:spLocks noGrp="1"/>
          </p:cNvSpPr>
          <p:nvPr>
            <p:ph type="pic" sz="quarter" idx="21"/>
          </p:nvPr>
        </p:nvSpPr>
        <p:spPr>
          <a:xfrm>
            <a:off x="4340995" y="1674796"/>
            <a:ext cx="2321063" cy="4254366"/>
          </a:xfrm>
          <a:prstGeom prst="rect">
            <a:avLst/>
          </a:prstGeom>
        </p:spPr>
        <p:txBody>
          <a:bodyPr lIns="91439" tIns="45719" rIns="91439" bIns="45719"/>
          <a:lstStyle/>
          <a:p>
            <a:endParaRPr/>
          </a:p>
        </p:txBody>
      </p:sp>
      <p:sp>
        <p:nvSpPr>
          <p:cNvPr id="122" name="Уровень текста 1…"/>
          <p:cNvSpPr txBox="1">
            <a:spLocks noGrp="1"/>
          </p:cNvSpPr>
          <p:nvPr>
            <p:ph type="body" sz="quarter" idx="1"/>
          </p:nvPr>
        </p:nvSpPr>
        <p:spPr>
          <a:xfrm>
            <a:off x="900112" y="1625000"/>
            <a:ext cx="2916080" cy="4304163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500"/>
            </a:lvl1pPr>
            <a:lvl2pPr indent="456056">
              <a:defRPr sz="1500"/>
            </a:lvl2pPr>
            <a:lvl3pPr indent="912113">
              <a:defRPr sz="1500"/>
            </a:lvl3pPr>
            <a:lvl4pPr indent="1368171">
              <a:defRPr sz="1500"/>
            </a:lvl4pPr>
            <a:lvl5pPr indent="1824227">
              <a:defRPr sz="1500"/>
            </a:lvl5pPr>
          </a:lstStyle>
          <a:p>
            <a:r>
              <a:t>Уровень текста 1</a:t>
            </a:r>
          </a:p>
          <a:p>
            <a:pPr lvl="1"/>
            <a:r>
              <a:t>Уровень текста 2</a:t>
            </a:r>
          </a:p>
          <a:p>
            <a:pPr lvl="2"/>
            <a:r>
              <a:t>Уровень текста 3</a:t>
            </a:r>
          </a:p>
          <a:p>
            <a:pPr lvl="3"/>
            <a:r>
              <a:t>Уровень текста 4</a:t>
            </a:r>
          </a:p>
          <a:p>
            <a:pPr lvl="4"/>
            <a:r>
              <a:t>Уровень текста 5</a:t>
            </a:r>
          </a:p>
        </p:txBody>
      </p:sp>
      <p:sp>
        <p:nvSpPr>
          <p:cNvPr id="123" name="Номер слайда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  <p:sp>
        <p:nvSpPr>
          <p:cNvPr id="124" name="Picture Placeholder 2"/>
          <p:cNvSpPr>
            <a:spLocks noGrp="1"/>
          </p:cNvSpPr>
          <p:nvPr>
            <p:ph type="pic" sz="quarter" idx="22"/>
          </p:nvPr>
        </p:nvSpPr>
        <p:spPr>
          <a:xfrm>
            <a:off x="7019108" y="1674796"/>
            <a:ext cx="2321063" cy="4254366"/>
          </a:xfrm>
          <a:prstGeom prst="rect">
            <a:avLst/>
          </a:prstGeom>
        </p:spPr>
        <p:txBody>
          <a:bodyPr lIns="91439" tIns="45719" rIns="91439" bIns="45719"/>
          <a:lstStyle/>
          <a:p>
            <a:endParaRPr/>
          </a:p>
        </p:txBody>
      </p:sp>
      <p:sp>
        <p:nvSpPr>
          <p:cNvPr id="125" name="Picture Placeholder 2"/>
          <p:cNvSpPr>
            <a:spLocks noGrp="1"/>
          </p:cNvSpPr>
          <p:nvPr>
            <p:ph type="pic" sz="quarter" idx="23"/>
          </p:nvPr>
        </p:nvSpPr>
        <p:spPr>
          <a:xfrm>
            <a:off x="9701348" y="1674796"/>
            <a:ext cx="2321063" cy="4254366"/>
          </a:xfrm>
          <a:prstGeom prst="rect">
            <a:avLst/>
          </a:prstGeom>
        </p:spPr>
        <p:txBody>
          <a:bodyPr lIns="91439" tIns="45719" rIns="91439" bIns="45719"/>
          <a:lstStyle/>
          <a:p>
            <a:endParaRPr/>
          </a:p>
        </p:txBody>
      </p:sp>
    </p:spTree>
  </p:cSld>
  <p:clrMapOvr>
    <a:masterClrMapping/>
  </p:clrMapOvr>
  <p:transition spd="med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3_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2" name="Рисунок 9" descr="Рисунок 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56487" y="124476"/>
            <a:ext cx="1574790" cy="687183"/>
          </a:xfrm>
          <a:prstGeom prst="rect">
            <a:avLst/>
          </a:prstGeom>
          <a:ln w="12700">
            <a:miter lim="400000"/>
          </a:ln>
        </p:spPr>
      </p:pic>
      <p:sp>
        <p:nvSpPr>
          <p:cNvPr id="133" name="Прямоугольник 4"/>
          <p:cNvSpPr/>
          <p:nvPr/>
        </p:nvSpPr>
        <p:spPr>
          <a:xfrm>
            <a:off x="-3244" y="288565"/>
            <a:ext cx="894269" cy="319820"/>
          </a:xfrm>
          <a:prstGeom prst="rect">
            <a:avLst/>
          </a:prstGeom>
          <a:solidFill>
            <a:schemeClr val="accent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34" name="TextBox 18"/>
          <p:cNvSpPr txBox="1"/>
          <p:nvPr/>
        </p:nvSpPr>
        <p:spPr>
          <a:xfrm>
            <a:off x="600118" y="6407915"/>
            <a:ext cx="524201" cy="2888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1400">
                <a:solidFill>
                  <a:srgbClr val="808080"/>
                </a:solidFill>
              </a:defRPr>
            </a:lvl1pPr>
          </a:lstStyle>
          <a:p>
            <a:r>
              <a:t>2023</a:t>
            </a:r>
          </a:p>
        </p:txBody>
      </p:sp>
      <p:sp>
        <p:nvSpPr>
          <p:cNvPr id="135" name="Straight Connector 19"/>
          <p:cNvSpPr/>
          <p:nvPr/>
        </p:nvSpPr>
        <p:spPr>
          <a:xfrm>
            <a:off x="1258528" y="6571636"/>
            <a:ext cx="2303435" cy="1"/>
          </a:xfrm>
          <a:prstGeom prst="line">
            <a:avLst/>
          </a:prstGeom>
          <a:ln w="19050">
            <a:solidFill>
              <a:srgbClr val="808080"/>
            </a:solidFill>
            <a:miter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136" name="Образец заголовка"/>
          <p:cNvSpPr txBox="1">
            <a:spLocks noGrp="1"/>
          </p:cNvSpPr>
          <p:nvPr>
            <p:ph type="title" hasCustomPrompt="1"/>
          </p:nvPr>
        </p:nvSpPr>
        <p:spPr>
          <a:xfrm>
            <a:off x="892712" y="900000"/>
            <a:ext cx="9627701" cy="740593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3100"/>
            </a:lvl1pPr>
          </a:lstStyle>
          <a:p>
            <a:r>
              <a:t>Образец заголовка</a:t>
            </a:r>
          </a:p>
        </p:txBody>
      </p:sp>
      <p:sp>
        <p:nvSpPr>
          <p:cNvPr id="137" name="Picture Placeholder 2"/>
          <p:cNvSpPr>
            <a:spLocks noGrp="1"/>
          </p:cNvSpPr>
          <p:nvPr>
            <p:ph type="pic" sz="quarter" idx="21"/>
          </p:nvPr>
        </p:nvSpPr>
        <p:spPr>
          <a:xfrm>
            <a:off x="4340995" y="1674796"/>
            <a:ext cx="2321063" cy="1956679"/>
          </a:xfrm>
          <a:prstGeom prst="rect">
            <a:avLst/>
          </a:prstGeom>
        </p:spPr>
        <p:txBody>
          <a:bodyPr lIns="91439" tIns="45719" rIns="91439" bIns="45719"/>
          <a:lstStyle/>
          <a:p>
            <a:endParaRPr/>
          </a:p>
        </p:txBody>
      </p:sp>
      <p:sp>
        <p:nvSpPr>
          <p:cNvPr id="138" name="Уровень текста 1…"/>
          <p:cNvSpPr txBox="1">
            <a:spLocks noGrp="1"/>
          </p:cNvSpPr>
          <p:nvPr>
            <p:ph type="body" sz="quarter" idx="1"/>
          </p:nvPr>
        </p:nvSpPr>
        <p:spPr>
          <a:xfrm>
            <a:off x="900112" y="1625000"/>
            <a:ext cx="2916080" cy="4304163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500"/>
            </a:lvl1pPr>
            <a:lvl2pPr indent="456056">
              <a:defRPr sz="1500"/>
            </a:lvl2pPr>
            <a:lvl3pPr indent="912113">
              <a:defRPr sz="1500"/>
            </a:lvl3pPr>
            <a:lvl4pPr indent="1368171">
              <a:defRPr sz="1500"/>
            </a:lvl4pPr>
            <a:lvl5pPr indent="1824227">
              <a:defRPr sz="1500"/>
            </a:lvl5pPr>
          </a:lstStyle>
          <a:p>
            <a:r>
              <a:t>Уровень текста 1</a:t>
            </a:r>
          </a:p>
          <a:p>
            <a:pPr lvl="1"/>
            <a:r>
              <a:t>Уровень текста 2</a:t>
            </a:r>
          </a:p>
          <a:p>
            <a:pPr lvl="2"/>
            <a:r>
              <a:t>Уровень текста 3</a:t>
            </a:r>
          </a:p>
          <a:p>
            <a:pPr lvl="3"/>
            <a:r>
              <a:t>Уровень текста 4</a:t>
            </a:r>
          </a:p>
          <a:p>
            <a:pPr lvl="4"/>
            <a:r>
              <a:t>Уровень текста 5</a:t>
            </a:r>
          </a:p>
        </p:txBody>
      </p:sp>
      <p:sp>
        <p:nvSpPr>
          <p:cNvPr id="139" name="Номер слайда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  <p:sp>
        <p:nvSpPr>
          <p:cNvPr id="140" name="Picture Placeholder 2"/>
          <p:cNvSpPr>
            <a:spLocks noGrp="1"/>
          </p:cNvSpPr>
          <p:nvPr>
            <p:ph type="pic" sz="quarter" idx="22"/>
          </p:nvPr>
        </p:nvSpPr>
        <p:spPr>
          <a:xfrm>
            <a:off x="7019108" y="1674796"/>
            <a:ext cx="2321063" cy="1956679"/>
          </a:xfrm>
          <a:prstGeom prst="rect">
            <a:avLst/>
          </a:prstGeom>
        </p:spPr>
        <p:txBody>
          <a:bodyPr lIns="91439" tIns="45719" rIns="91439" bIns="45719"/>
          <a:lstStyle/>
          <a:p>
            <a:endParaRPr/>
          </a:p>
        </p:txBody>
      </p:sp>
      <p:sp>
        <p:nvSpPr>
          <p:cNvPr id="141" name="Picture Placeholder 2"/>
          <p:cNvSpPr>
            <a:spLocks noGrp="1"/>
          </p:cNvSpPr>
          <p:nvPr>
            <p:ph type="pic" sz="quarter" idx="23"/>
          </p:nvPr>
        </p:nvSpPr>
        <p:spPr>
          <a:xfrm>
            <a:off x="9701348" y="1674796"/>
            <a:ext cx="2321063" cy="1956679"/>
          </a:xfrm>
          <a:prstGeom prst="rect">
            <a:avLst/>
          </a:prstGeom>
        </p:spPr>
        <p:txBody>
          <a:bodyPr lIns="91439" tIns="45719" rIns="91439" bIns="45719"/>
          <a:lstStyle/>
          <a:p>
            <a:endParaRPr/>
          </a:p>
        </p:txBody>
      </p:sp>
      <p:sp>
        <p:nvSpPr>
          <p:cNvPr id="142" name="Picture Placeholder 2"/>
          <p:cNvSpPr>
            <a:spLocks noGrp="1"/>
          </p:cNvSpPr>
          <p:nvPr>
            <p:ph type="pic" sz="quarter" idx="24"/>
          </p:nvPr>
        </p:nvSpPr>
        <p:spPr>
          <a:xfrm>
            <a:off x="4340995" y="4130612"/>
            <a:ext cx="2321063" cy="1956680"/>
          </a:xfrm>
          <a:prstGeom prst="rect">
            <a:avLst/>
          </a:prstGeom>
        </p:spPr>
        <p:txBody>
          <a:bodyPr lIns="91439" tIns="45719" rIns="91439" bIns="45719"/>
          <a:lstStyle/>
          <a:p>
            <a:endParaRPr/>
          </a:p>
        </p:txBody>
      </p:sp>
      <p:sp>
        <p:nvSpPr>
          <p:cNvPr id="143" name="Picture Placeholder 2"/>
          <p:cNvSpPr>
            <a:spLocks noGrp="1"/>
          </p:cNvSpPr>
          <p:nvPr>
            <p:ph type="pic" sz="quarter" idx="25"/>
          </p:nvPr>
        </p:nvSpPr>
        <p:spPr>
          <a:xfrm>
            <a:off x="7019108" y="4130612"/>
            <a:ext cx="2321063" cy="1956680"/>
          </a:xfrm>
          <a:prstGeom prst="rect">
            <a:avLst/>
          </a:prstGeom>
        </p:spPr>
        <p:txBody>
          <a:bodyPr lIns="91439" tIns="45719" rIns="91439" bIns="45719"/>
          <a:lstStyle/>
          <a:p>
            <a:endParaRPr/>
          </a:p>
        </p:txBody>
      </p:sp>
      <p:sp>
        <p:nvSpPr>
          <p:cNvPr id="144" name="Picture Placeholder 2"/>
          <p:cNvSpPr>
            <a:spLocks noGrp="1"/>
          </p:cNvSpPr>
          <p:nvPr>
            <p:ph type="pic" sz="quarter" idx="26"/>
          </p:nvPr>
        </p:nvSpPr>
        <p:spPr>
          <a:xfrm>
            <a:off x="9701348" y="4130612"/>
            <a:ext cx="2321063" cy="1956680"/>
          </a:xfrm>
          <a:prstGeom prst="rect">
            <a:avLst/>
          </a:prstGeom>
        </p:spPr>
        <p:txBody>
          <a:bodyPr lIns="91439" tIns="45719" rIns="91439" bIns="45719"/>
          <a:lstStyle/>
          <a:p>
            <a:endParaRPr/>
          </a:p>
        </p:txBody>
      </p:sp>
    </p:spTree>
  </p:cSld>
  <p:clrMapOvr>
    <a:masterClrMapping/>
  </p:clrMapOvr>
  <p:transition spd="med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1" name="Рисунок 9" descr="Рисунок 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56487" y="124476"/>
            <a:ext cx="1574790" cy="687183"/>
          </a:xfrm>
          <a:prstGeom prst="rect">
            <a:avLst/>
          </a:prstGeom>
          <a:ln w="12700">
            <a:miter lim="400000"/>
          </a:ln>
        </p:spPr>
      </p:pic>
      <p:sp>
        <p:nvSpPr>
          <p:cNvPr id="152" name="Прямоугольник 4"/>
          <p:cNvSpPr/>
          <p:nvPr/>
        </p:nvSpPr>
        <p:spPr>
          <a:xfrm>
            <a:off x="-3244" y="288565"/>
            <a:ext cx="894269" cy="319820"/>
          </a:xfrm>
          <a:prstGeom prst="rect">
            <a:avLst/>
          </a:prstGeom>
          <a:solidFill>
            <a:schemeClr val="accent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53" name="TextBox 8"/>
          <p:cNvSpPr txBox="1"/>
          <p:nvPr/>
        </p:nvSpPr>
        <p:spPr>
          <a:xfrm>
            <a:off x="600118" y="6407915"/>
            <a:ext cx="524201" cy="2888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1400">
                <a:solidFill>
                  <a:srgbClr val="808080"/>
                </a:solidFill>
              </a:defRPr>
            </a:lvl1pPr>
          </a:lstStyle>
          <a:p>
            <a:r>
              <a:t>2023</a:t>
            </a:r>
          </a:p>
        </p:txBody>
      </p:sp>
      <p:sp>
        <p:nvSpPr>
          <p:cNvPr id="154" name="Straight Connector 9"/>
          <p:cNvSpPr/>
          <p:nvPr/>
        </p:nvSpPr>
        <p:spPr>
          <a:xfrm>
            <a:off x="1258528" y="6571636"/>
            <a:ext cx="2303435" cy="1"/>
          </a:xfrm>
          <a:prstGeom prst="line">
            <a:avLst/>
          </a:prstGeom>
          <a:ln w="19050">
            <a:solidFill>
              <a:srgbClr val="808080"/>
            </a:solidFill>
            <a:miter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155" name="Текст заголовка"/>
          <p:cNvSpPr txBox="1">
            <a:spLocks noGrp="1"/>
          </p:cNvSpPr>
          <p:nvPr>
            <p:ph type="title"/>
          </p:nvPr>
        </p:nvSpPr>
        <p:spPr>
          <a:xfrm>
            <a:off x="884274" y="1705385"/>
            <a:ext cx="11178303" cy="2845474"/>
          </a:xfrm>
          <a:prstGeom prst="rect">
            <a:avLst/>
          </a:prstGeom>
        </p:spPr>
        <p:txBody>
          <a:bodyPr anchor="b">
            <a:normAutofit/>
          </a:bodyPr>
          <a:lstStyle>
            <a:lvl1pPr>
              <a:defRPr sz="5900"/>
            </a:lvl1pPr>
          </a:lstStyle>
          <a:p>
            <a:r>
              <a:t>Текст заголовка</a:t>
            </a:r>
          </a:p>
        </p:txBody>
      </p:sp>
      <p:sp>
        <p:nvSpPr>
          <p:cNvPr id="156" name="Уровень текста 1…"/>
          <p:cNvSpPr txBox="1">
            <a:spLocks noGrp="1"/>
          </p:cNvSpPr>
          <p:nvPr>
            <p:ph type="body" sz="quarter" idx="1"/>
          </p:nvPr>
        </p:nvSpPr>
        <p:spPr>
          <a:xfrm>
            <a:off x="884274" y="4577777"/>
            <a:ext cx="11178303" cy="1496368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2300">
                <a:solidFill>
                  <a:srgbClr val="888888"/>
                </a:solidFill>
              </a:defRPr>
            </a:lvl1pPr>
            <a:lvl2pPr indent="456056">
              <a:defRPr sz="2300">
                <a:solidFill>
                  <a:srgbClr val="888888"/>
                </a:solidFill>
              </a:defRPr>
            </a:lvl2pPr>
            <a:lvl3pPr indent="912113">
              <a:defRPr sz="2300">
                <a:solidFill>
                  <a:srgbClr val="888888"/>
                </a:solidFill>
              </a:defRPr>
            </a:lvl3pPr>
            <a:lvl4pPr indent="1368171">
              <a:defRPr sz="2300">
                <a:solidFill>
                  <a:srgbClr val="888888"/>
                </a:solidFill>
              </a:defRPr>
            </a:lvl4pPr>
            <a:lvl5pPr indent="1824227">
              <a:defRPr sz="2300">
                <a:solidFill>
                  <a:srgbClr val="888888"/>
                </a:solidFill>
              </a:defRPr>
            </a:lvl5pPr>
          </a:lstStyle>
          <a:p>
            <a:r>
              <a:t>Уровень текста 1</a:t>
            </a:r>
          </a:p>
          <a:p>
            <a:pPr lvl="1"/>
            <a:r>
              <a:t>Уровень текста 2</a:t>
            </a:r>
          </a:p>
          <a:p>
            <a:pPr lvl="2"/>
            <a:r>
              <a:t>Уровень текста 3</a:t>
            </a:r>
          </a:p>
          <a:p>
            <a:pPr lvl="3"/>
            <a:r>
              <a:t>Уровень текста 4</a:t>
            </a:r>
          </a:p>
          <a:p>
            <a:pPr lvl="4"/>
            <a:r>
              <a:t>Уровень текста 5</a:t>
            </a:r>
          </a:p>
        </p:txBody>
      </p:sp>
      <p:sp>
        <p:nvSpPr>
          <p:cNvPr id="157" name="Номер слайда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4" name="Рисунок 9" descr="Рисунок 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56487" y="124476"/>
            <a:ext cx="1574790" cy="687183"/>
          </a:xfrm>
          <a:prstGeom prst="rect">
            <a:avLst/>
          </a:prstGeom>
          <a:ln w="12700">
            <a:miter lim="400000"/>
          </a:ln>
        </p:spPr>
      </p:pic>
      <p:sp>
        <p:nvSpPr>
          <p:cNvPr id="165" name="Прямоугольник 4"/>
          <p:cNvSpPr/>
          <p:nvPr/>
        </p:nvSpPr>
        <p:spPr>
          <a:xfrm>
            <a:off x="-3244" y="288565"/>
            <a:ext cx="894269" cy="319820"/>
          </a:xfrm>
          <a:prstGeom prst="rect">
            <a:avLst/>
          </a:prstGeom>
          <a:solidFill>
            <a:schemeClr val="accent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66" name="TextBox 7"/>
          <p:cNvSpPr txBox="1"/>
          <p:nvPr/>
        </p:nvSpPr>
        <p:spPr>
          <a:xfrm>
            <a:off x="600118" y="6407915"/>
            <a:ext cx="524201" cy="2888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1400">
                <a:solidFill>
                  <a:srgbClr val="808080"/>
                </a:solidFill>
              </a:defRPr>
            </a:lvl1pPr>
          </a:lstStyle>
          <a:p>
            <a:r>
              <a:t>2023</a:t>
            </a:r>
          </a:p>
        </p:txBody>
      </p:sp>
      <p:sp>
        <p:nvSpPr>
          <p:cNvPr id="167" name="Straight Connector 8"/>
          <p:cNvSpPr/>
          <p:nvPr/>
        </p:nvSpPr>
        <p:spPr>
          <a:xfrm>
            <a:off x="1258528" y="6571636"/>
            <a:ext cx="2303435" cy="1"/>
          </a:xfrm>
          <a:prstGeom prst="line">
            <a:avLst/>
          </a:prstGeom>
          <a:ln w="19050">
            <a:solidFill>
              <a:srgbClr val="808080"/>
            </a:solidFill>
            <a:miter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168" name="Текст заголовка"/>
          <p:cNvSpPr txBox="1">
            <a:spLocks noGrp="1"/>
          </p:cNvSpPr>
          <p:nvPr>
            <p:ph type="title"/>
          </p:nvPr>
        </p:nvSpPr>
        <p:spPr>
          <a:xfrm>
            <a:off x="891024" y="900000"/>
            <a:ext cx="9576680" cy="714359"/>
          </a:xfrm>
          <a:prstGeom prst="rect">
            <a:avLst/>
          </a:prstGeom>
        </p:spPr>
        <p:txBody>
          <a:bodyPr>
            <a:normAutofit/>
          </a:bodyPr>
          <a:lstStyle/>
          <a:p>
            <a:r>
              <a:t>Текст заголовка</a:t>
            </a:r>
          </a:p>
        </p:txBody>
      </p:sp>
      <p:sp>
        <p:nvSpPr>
          <p:cNvPr id="169" name="Номер слайда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3_Титульный слайд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ОБРАЗЕЦ ЗАГОЛОВКА"/>
          <p:cNvSpPr txBox="1">
            <a:spLocks noGrp="1"/>
          </p:cNvSpPr>
          <p:nvPr>
            <p:ph type="title" hasCustomPrompt="1"/>
          </p:nvPr>
        </p:nvSpPr>
        <p:spPr>
          <a:xfrm>
            <a:off x="916863" y="1616633"/>
            <a:ext cx="10423444" cy="2200944"/>
          </a:xfrm>
          <a:prstGeom prst="rect">
            <a:avLst/>
          </a:prstGeom>
        </p:spPr>
        <p:txBody>
          <a:bodyPr anchor="b">
            <a:normAutofit/>
          </a:bodyPr>
          <a:lstStyle>
            <a:lvl1pPr>
              <a:defRPr sz="6900">
                <a:solidFill>
                  <a:srgbClr val="FFFFFF"/>
                </a:solidFill>
                <a:latin typeface="+mn-lt"/>
                <a:ea typeface="+mn-ea"/>
                <a:cs typeface="+mn-cs"/>
                <a:sym typeface="Times New Roman"/>
              </a:defRPr>
            </a:lvl1pPr>
          </a:lstStyle>
          <a:p>
            <a:r>
              <a:t>ОБРАЗЕЦ ЗАГОЛОВКА</a:t>
            </a:r>
          </a:p>
        </p:txBody>
      </p:sp>
      <p:sp>
        <p:nvSpPr>
          <p:cNvPr id="177" name="Уровень текста 1…"/>
          <p:cNvSpPr txBox="1">
            <a:spLocks noGrp="1"/>
          </p:cNvSpPr>
          <p:nvPr>
            <p:ph type="body" sz="quarter" idx="1"/>
          </p:nvPr>
        </p:nvSpPr>
        <p:spPr>
          <a:xfrm>
            <a:off x="916863" y="3971147"/>
            <a:ext cx="10423444" cy="81967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2300">
                <a:solidFill>
                  <a:srgbClr val="FFFFFF"/>
                </a:solidFill>
              </a:defRPr>
            </a:lvl1pPr>
            <a:lvl2pPr indent="456056">
              <a:defRPr sz="2300">
                <a:solidFill>
                  <a:srgbClr val="FFFFFF"/>
                </a:solidFill>
              </a:defRPr>
            </a:lvl2pPr>
            <a:lvl3pPr indent="912113">
              <a:defRPr sz="2300">
                <a:solidFill>
                  <a:srgbClr val="FFFFFF"/>
                </a:solidFill>
              </a:defRPr>
            </a:lvl3pPr>
            <a:lvl4pPr indent="1368171">
              <a:defRPr sz="2300">
                <a:solidFill>
                  <a:srgbClr val="FFFFFF"/>
                </a:solidFill>
              </a:defRPr>
            </a:lvl4pPr>
            <a:lvl5pPr indent="1824227">
              <a:defRPr sz="2300">
                <a:solidFill>
                  <a:srgbClr val="FFFFFF"/>
                </a:solidFill>
              </a:defRPr>
            </a:lvl5pPr>
          </a:lstStyle>
          <a:p>
            <a:r>
              <a:t>Уровень текста 1</a:t>
            </a:r>
          </a:p>
          <a:p>
            <a:pPr lvl="1"/>
            <a:r>
              <a:t>Уровень текста 2</a:t>
            </a:r>
          </a:p>
          <a:p>
            <a:pPr lvl="2"/>
            <a:r>
              <a:t>Уровень текста 3</a:t>
            </a:r>
          </a:p>
          <a:p>
            <a:pPr lvl="3"/>
            <a:r>
              <a:t>Уровень текста 4</a:t>
            </a:r>
          </a:p>
          <a:p>
            <a:pPr lvl="4"/>
            <a:r>
              <a:t>Уровень текста 5</a:t>
            </a:r>
          </a:p>
        </p:txBody>
      </p:sp>
      <p:pic>
        <p:nvPicPr>
          <p:cNvPr id="178" name="Рисунок 21" descr="Рисунок 2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0519" y="0"/>
            <a:ext cx="4189831" cy="6840539"/>
          </a:xfrm>
          <a:prstGeom prst="rect">
            <a:avLst/>
          </a:prstGeom>
          <a:ln w="12700">
            <a:miter lim="400000"/>
          </a:ln>
        </p:spPr>
      </p:pic>
      <p:pic>
        <p:nvPicPr>
          <p:cNvPr id="179" name="Рисунок 13" descr="Рисунок 1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3759" y="329337"/>
            <a:ext cx="1862897" cy="819676"/>
          </a:xfrm>
          <a:prstGeom prst="rect">
            <a:avLst/>
          </a:prstGeom>
          <a:ln w="12700">
            <a:miter lim="400000"/>
          </a:ln>
        </p:spPr>
      </p:pic>
      <p:sp>
        <p:nvSpPr>
          <p:cNvPr id="180" name="TextBox 12"/>
          <p:cNvSpPr txBox="1"/>
          <p:nvPr/>
        </p:nvSpPr>
        <p:spPr>
          <a:xfrm rot="16200000">
            <a:off x="11737005" y="954870"/>
            <a:ext cx="690615" cy="2592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algn="r">
              <a:defRPr>
                <a:solidFill>
                  <a:srgbClr val="FFFFFF"/>
                </a:solidFill>
              </a:defRPr>
            </a:lvl1pPr>
          </a:lstStyle>
          <a:p>
            <a:r>
              <a:t>2024</a:t>
            </a:r>
          </a:p>
        </p:txBody>
      </p:sp>
      <p:sp>
        <p:nvSpPr>
          <p:cNvPr id="181" name="Straight Connector 14"/>
          <p:cNvSpPr/>
          <p:nvPr/>
        </p:nvSpPr>
        <p:spPr>
          <a:xfrm>
            <a:off x="12128268" y="1404850"/>
            <a:ext cx="1" cy="2302626"/>
          </a:xfrm>
          <a:prstGeom prst="line">
            <a:avLst/>
          </a:prstGeom>
          <a:ln w="25400">
            <a:solidFill>
              <a:srgbClr val="FFFFFF"/>
            </a:solidFill>
            <a:miter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182" name="TextBox 15"/>
          <p:cNvSpPr txBox="1"/>
          <p:nvPr/>
        </p:nvSpPr>
        <p:spPr>
          <a:xfrm rot="16200000">
            <a:off x="11531872" y="5633390"/>
            <a:ext cx="1097103" cy="22195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>
              <a:defRPr sz="1600" spc="100">
                <a:solidFill>
                  <a:srgbClr val="FFFFFF"/>
                </a:solidFill>
              </a:defRPr>
            </a:lvl1pPr>
          </a:lstStyle>
          <a:p>
            <a:r>
              <a:t>РАНХиГС</a:t>
            </a:r>
          </a:p>
        </p:txBody>
      </p:sp>
      <p:sp>
        <p:nvSpPr>
          <p:cNvPr id="183" name="Номер слайда"/>
          <p:cNvSpPr txBox="1">
            <a:spLocks noGrp="1"/>
          </p:cNvSpPr>
          <p:nvPr>
            <p:ph type="sldNum" sz="quarter" idx="2"/>
          </p:nvPr>
        </p:nvSpPr>
        <p:spPr>
          <a:xfrm>
            <a:off x="6261100" y="6148658"/>
            <a:ext cx="3022600" cy="368301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7_Титульный слайд">
    <p:bg>
      <p:bgPr>
        <a:solidFill>
          <a:srgbClr val="80808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ОБРАЗЕЦ ЗАГОЛОВКА"/>
          <p:cNvSpPr txBox="1">
            <a:spLocks noGrp="1"/>
          </p:cNvSpPr>
          <p:nvPr>
            <p:ph type="title" hasCustomPrompt="1"/>
          </p:nvPr>
        </p:nvSpPr>
        <p:spPr>
          <a:xfrm>
            <a:off x="916863" y="1616636"/>
            <a:ext cx="10423444" cy="2200943"/>
          </a:xfrm>
          <a:prstGeom prst="rect">
            <a:avLst/>
          </a:prstGeom>
        </p:spPr>
        <p:txBody>
          <a:bodyPr anchor="b">
            <a:normAutofit/>
          </a:bodyPr>
          <a:lstStyle>
            <a:lvl1pPr>
              <a:defRPr sz="6900">
                <a:solidFill>
                  <a:srgbClr val="FFFFFF"/>
                </a:solidFill>
                <a:latin typeface="+mn-lt"/>
                <a:ea typeface="+mn-ea"/>
                <a:cs typeface="+mn-cs"/>
                <a:sym typeface="Times New Roman"/>
              </a:defRPr>
            </a:lvl1pPr>
          </a:lstStyle>
          <a:p>
            <a:r>
              <a:t>ОБРАЗЕЦ ЗАГОЛОВКА</a:t>
            </a:r>
          </a:p>
        </p:txBody>
      </p:sp>
      <p:sp>
        <p:nvSpPr>
          <p:cNvPr id="191" name="Уровень текста 1…"/>
          <p:cNvSpPr txBox="1">
            <a:spLocks noGrp="1"/>
          </p:cNvSpPr>
          <p:nvPr>
            <p:ph type="body" sz="quarter" idx="1"/>
          </p:nvPr>
        </p:nvSpPr>
        <p:spPr>
          <a:xfrm>
            <a:off x="916863" y="3971149"/>
            <a:ext cx="10423444" cy="81967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2300">
                <a:solidFill>
                  <a:srgbClr val="FFFFFF"/>
                </a:solidFill>
              </a:defRPr>
            </a:lvl1pPr>
            <a:lvl2pPr indent="456056">
              <a:defRPr sz="2300">
                <a:solidFill>
                  <a:srgbClr val="FFFFFF"/>
                </a:solidFill>
              </a:defRPr>
            </a:lvl2pPr>
            <a:lvl3pPr indent="912113">
              <a:defRPr sz="2300">
                <a:solidFill>
                  <a:srgbClr val="FFFFFF"/>
                </a:solidFill>
              </a:defRPr>
            </a:lvl3pPr>
            <a:lvl4pPr indent="1368171">
              <a:defRPr sz="2300">
                <a:solidFill>
                  <a:srgbClr val="FFFFFF"/>
                </a:solidFill>
              </a:defRPr>
            </a:lvl4pPr>
            <a:lvl5pPr indent="1824227">
              <a:defRPr sz="2300">
                <a:solidFill>
                  <a:srgbClr val="FFFFFF"/>
                </a:solidFill>
              </a:defRPr>
            </a:lvl5pPr>
          </a:lstStyle>
          <a:p>
            <a:r>
              <a:t>Уровень текста 1</a:t>
            </a:r>
          </a:p>
          <a:p>
            <a:pPr lvl="1"/>
            <a:r>
              <a:t>Уровень текста 2</a:t>
            </a:r>
          </a:p>
          <a:p>
            <a:pPr lvl="2"/>
            <a:r>
              <a:t>Уровень текста 3</a:t>
            </a:r>
          </a:p>
          <a:p>
            <a:pPr lvl="3"/>
            <a:r>
              <a:t>Уровень текста 4</a:t>
            </a:r>
          </a:p>
          <a:p>
            <a:pPr lvl="4"/>
            <a:r>
              <a:t>Уровень текста 5</a:t>
            </a:r>
          </a:p>
        </p:txBody>
      </p:sp>
      <p:pic>
        <p:nvPicPr>
          <p:cNvPr id="192" name="Рисунок 21" descr="Рисунок 2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0519" y="0"/>
            <a:ext cx="4189831" cy="6840539"/>
          </a:xfrm>
          <a:prstGeom prst="rect">
            <a:avLst/>
          </a:prstGeom>
          <a:ln w="12700">
            <a:miter lim="400000"/>
          </a:ln>
        </p:spPr>
      </p:pic>
      <p:pic>
        <p:nvPicPr>
          <p:cNvPr id="193" name="Рисунок 13" descr="Рисунок 1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3759" y="329337"/>
            <a:ext cx="1862897" cy="819676"/>
          </a:xfrm>
          <a:prstGeom prst="rect">
            <a:avLst/>
          </a:prstGeom>
          <a:ln w="12700">
            <a:miter lim="400000"/>
          </a:ln>
        </p:spPr>
      </p:pic>
      <p:sp>
        <p:nvSpPr>
          <p:cNvPr id="194" name="TextBox 12"/>
          <p:cNvSpPr txBox="1"/>
          <p:nvPr/>
        </p:nvSpPr>
        <p:spPr>
          <a:xfrm rot="16200000">
            <a:off x="11737005" y="954870"/>
            <a:ext cx="690615" cy="2592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algn="r">
              <a:defRPr>
                <a:solidFill>
                  <a:srgbClr val="FFFFFF"/>
                </a:solidFill>
              </a:defRPr>
            </a:lvl1pPr>
          </a:lstStyle>
          <a:p>
            <a:r>
              <a:t>2023</a:t>
            </a:r>
          </a:p>
        </p:txBody>
      </p:sp>
      <p:sp>
        <p:nvSpPr>
          <p:cNvPr id="195" name="Straight Connector 14"/>
          <p:cNvSpPr/>
          <p:nvPr/>
        </p:nvSpPr>
        <p:spPr>
          <a:xfrm>
            <a:off x="12128268" y="1404850"/>
            <a:ext cx="1" cy="2302626"/>
          </a:xfrm>
          <a:prstGeom prst="line">
            <a:avLst/>
          </a:prstGeom>
          <a:ln w="25400">
            <a:solidFill>
              <a:srgbClr val="FFFFFF"/>
            </a:solidFill>
            <a:miter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196" name="TextBox 15"/>
          <p:cNvSpPr txBox="1"/>
          <p:nvPr/>
        </p:nvSpPr>
        <p:spPr>
          <a:xfrm rot="16200000">
            <a:off x="11531872" y="5633390"/>
            <a:ext cx="1097103" cy="22195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>
              <a:defRPr sz="1600" spc="100">
                <a:solidFill>
                  <a:srgbClr val="FFFFFF"/>
                </a:solidFill>
              </a:defRPr>
            </a:lvl1pPr>
          </a:lstStyle>
          <a:p>
            <a:r>
              <a:t>РАНХиГС</a:t>
            </a:r>
          </a:p>
        </p:txBody>
      </p:sp>
      <p:sp>
        <p:nvSpPr>
          <p:cNvPr id="197" name="Номер слайда"/>
          <p:cNvSpPr txBox="1">
            <a:spLocks noGrp="1"/>
          </p:cNvSpPr>
          <p:nvPr>
            <p:ph type="sldNum" sz="quarter" idx="2"/>
          </p:nvPr>
        </p:nvSpPr>
        <p:spPr>
          <a:xfrm>
            <a:off x="6261100" y="6148658"/>
            <a:ext cx="3022600" cy="368301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8_Титульный слайд">
    <p:bg>
      <p:bgPr>
        <a:solidFill>
          <a:srgbClr val="A6A6A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ОБРАЗЕЦ ЗАГОЛОВКА"/>
          <p:cNvSpPr txBox="1">
            <a:spLocks noGrp="1"/>
          </p:cNvSpPr>
          <p:nvPr>
            <p:ph type="title" hasCustomPrompt="1"/>
          </p:nvPr>
        </p:nvSpPr>
        <p:spPr>
          <a:xfrm>
            <a:off x="916863" y="1616636"/>
            <a:ext cx="10423444" cy="2200943"/>
          </a:xfrm>
          <a:prstGeom prst="rect">
            <a:avLst/>
          </a:prstGeom>
        </p:spPr>
        <p:txBody>
          <a:bodyPr anchor="b">
            <a:normAutofit/>
          </a:bodyPr>
          <a:lstStyle>
            <a:lvl1pPr>
              <a:defRPr sz="6900">
                <a:solidFill>
                  <a:srgbClr val="FFFFFF"/>
                </a:solidFill>
                <a:latin typeface="+mn-lt"/>
                <a:ea typeface="+mn-ea"/>
                <a:cs typeface="+mn-cs"/>
                <a:sym typeface="Times New Roman"/>
              </a:defRPr>
            </a:lvl1pPr>
          </a:lstStyle>
          <a:p>
            <a:r>
              <a:t>ОБРАЗЕЦ ЗАГОЛОВКА</a:t>
            </a:r>
          </a:p>
        </p:txBody>
      </p:sp>
      <p:sp>
        <p:nvSpPr>
          <p:cNvPr id="205" name="Уровень текста 1…"/>
          <p:cNvSpPr txBox="1">
            <a:spLocks noGrp="1"/>
          </p:cNvSpPr>
          <p:nvPr>
            <p:ph type="body" sz="quarter" idx="1"/>
          </p:nvPr>
        </p:nvSpPr>
        <p:spPr>
          <a:xfrm>
            <a:off x="916863" y="3971149"/>
            <a:ext cx="10423444" cy="81967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2300">
                <a:solidFill>
                  <a:srgbClr val="FFFFFF"/>
                </a:solidFill>
              </a:defRPr>
            </a:lvl1pPr>
            <a:lvl2pPr indent="456056">
              <a:defRPr sz="2300">
                <a:solidFill>
                  <a:srgbClr val="FFFFFF"/>
                </a:solidFill>
              </a:defRPr>
            </a:lvl2pPr>
            <a:lvl3pPr indent="912113">
              <a:defRPr sz="2300">
                <a:solidFill>
                  <a:srgbClr val="FFFFFF"/>
                </a:solidFill>
              </a:defRPr>
            </a:lvl3pPr>
            <a:lvl4pPr indent="1368171">
              <a:defRPr sz="2300">
                <a:solidFill>
                  <a:srgbClr val="FFFFFF"/>
                </a:solidFill>
              </a:defRPr>
            </a:lvl4pPr>
            <a:lvl5pPr indent="1824227">
              <a:defRPr sz="2300">
                <a:solidFill>
                  <a:srgbClr val="FFFFFF"/>
                </a:solidFill>
              </a:defRPr>
            </a:lvl5pPr>
          </a:lstStyle>
          <a:p>
            <a:r>
              <a:t>Уровень текста 1</a:t>
            </a:r>
          </a:p>
          <a:p>
            <a:pPr lvl="1"/>
            <a:r>
              <a:t>Уровень текста 2</a:t>
            </a:r>
          </a:p>
          <a:p>
            <a:pPr lvl="2"/>
            <a:r>
              <a:t>Уровень текста 3</a:t>
            </a:r>
          </a:p>
          <a:p>
            <a:pPr lvl="3"/>
            <a:r>
              <a:t>Уровень текста 4</a:t>
            </a:r>
          </a:p>
          <a:p>
            <a:pPr lvl="4"/>
            <a:r>
              <a:t>Уровень текста 5</a:t>
            </a:r>
          </a:p>
        </p:txBody>
      </p:sp>
      <p:pic>
        <p:nvPicPr>
          <p:cNvPr id="206" name="Рисунок 21" descr="Рисунок 2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0519" y="0"/>
            <a:ext cx="4189831" cy="6840539"/>
          </a:xfrm>
          <a:prstGeom prst="rect">
            <a:avLst/>
          </a:prstGeom>
          <a:ln w="12700">
            <a:miter lim="400000"/>
          </a:ln>
        </p:spPr>
      </p:pic>
      <p:pic>
        <p:nvPicPr>
          <p:cNvPr id="207" name="Рисунок 13" descr="Рисунок 1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3759" y="329337"/>
            <a:ext cx="1862897" cy="819676"/>
          </a:xfrm>
          <a:prstGeom prst="rect">
            <a:avLst/>
          </a:prstGeom>
          <a:ln w="12700">
            <a:miter lim="400000"/>
          </a:ln>
        </p:spPr>
      </p:pic>
      <p:sp>
        <p:nvSpPr>
          <p:cNvPr id="208" name="TextBox 12"/>
          <p:cNvSpPr txBox="1"/>
          <p:nvPr/>
        </p:nvSpPr>
        <p:spPr>
          <a:xfrm rot="16200000">
            <a:off x="11737005" y="954870"/>
            <a:ext cx="690615" cy="2592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algn="r">
              <a:defRPr>
                <a:solidFill>
                  <a:srgbClr val="FFFFFF"/>
                </a:solidFill>
              </a:defRPr>
            </a:lvl1pPr>
          </a:lstStyle>
          <a:p>
            <a:r>
              <a:t>2023</a:t>
            </a:r>
          </a:p>
        </p:txBody>
      </p:sp>
      <p:sp>
        <p:nvSpPr>
          <p:cNvPr id="209" name="Straight Connector 14"/>
          <p:cNvSpPr/>
          <p:nvPr/>
        </p:nvSpPr>
        <p:spPr>
          <a:xfrm>
            <a:off x="12128268" y="1404850"/>
            <a:ext cx="1" cy="2302626"/>
          </a:xfrm>
          <a:prstGeom prst="line">
            <a:avLst/>
          </a:prstGeom>
          <a:ln w="25400">
            <a:solidFill>
              <a:srgbClr val="FFFFFF"/>
            </a:solidFill>
            <a:miter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210" name="TextBox 15"/>
          <p:cNvSpPr txBox="1"/>
          <p:nvPr/>
        </p:nvSpPr>
        <p:spPr>
          <a:xfrm rot="16200000">
            <a:off x="11531872" y="5633390"/>
            <a:ext cx="1097103" cy="22195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>
              <a:defRPr sz="1600" spc="100">
                <a:solidFill>
                  <a:srgbClr val="FFFFFF"/>
                </a:solidFill>
              </a:defRPr>
            </a:lvl1pPr>
          </a:lstStyle>
          <a:p>
            <a:r>
              <a:t>РАНХиГС</a:t>
            </a:r>
          </a:p>
        </p:txBody>
      </p:sp>
      <p:sp>
        <p:nvSpPr>
          <p:cNvPr id="211" name="Номер слайда"/>
          <p:cNvSpPr txBox="1">
            <a:spLocks noGrp="1"/>
          </p:cNvSpPr>
          <p:nvPr>
            <p:ph type="sldNum" sz="quarter" idx="2"/>
          </p:nvPr>
        </p:nvSpPr>
        <p:spPr>
          <a:xfrm>
            <a:off x="6261100" y="6148658"/>
            <a:ext cx="3022600" cy="368301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Пусто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Номер слайда"/>
          <p:cNvSpPr txBox="1">
            <a:spLocks noGrp="1"/>
          </p:cNvSpPr>
          <p:nvPr>
            <p:ph type="sldNum" sz="quarter" idx="2"/>
          </p:nvPr>
        </p:nvSpPr>
        <p:spPr>
          <a:xfrm>
            <a:off x="6385741" y="6528114"/>
            <a:ext cx="176292" cy="174768"/>
          </a:xfrm>
          <a:prstGeom prst="rect">
            <a:avLst/>
          </a:prstGeom>
        </p:spPr>
        <p:txBody>
          <a:bodyPr lIns="25305" tIns="25305" rIns="25305" bIns="25305" anchor="b"/>
          <a:lstStyle>
            <a:lvl1pPr algn="ctr" defTabSz="291018">
              <a:defRPr sz="800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9" descr="Рисунок 9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0856487" y="124476"/>
            <a:ext cx="1574790" cy="687183"/>
          </a:xfrm>
          <a:prstGeom prst="rect">
            <a:avLst/>
          </a:prstGeom>
          <a:ln w="12700">
            <a:miter lim="400000"/>
          </a:ln>
        </p:spPr>
      </p:pic>
      <p:sp>
        <p:nvSpPr>
          <p:cNvPr id="3" name="Прямоугольник 4"/>
          <p:cNvSpPr/>
          <p:nvPr/>
        </p:nvSpPr>
        <p:spPr>
          <a:xfrm>
            <a:off x="-3244" y="288565"/>
            <a:ext cx="894269" cy="319820"/>
          </a:xfrm>
          <a:prstGeom prst="rect">
            <a:avLst/>
          </a:prstGeom>
          <a:solidFill>
            <a:schemeClr val="accent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4" name="TextBox 15"/>
          <p:cNvSpPr txBox="1"/>
          <p:nvPr/>
        </p:nvSpPr>
        <p:spPr>
          <a:xfrm>
            <a:off x="600118" y="6407915"/>
            <a:ext cx="524201" cy="2888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1400">
                <a:solidFill>
                  <a:srgbClr val="808080"/>
                </a:solidFill>
              </a:defRPr>
            </a:lvl1pPr>
          </a:lstStyle>
          <a:p>
            <a:r>
              <a:t>2023</a:t>
            </a:r>
          </a:p>
        </p:txBody>
      </p:sp>
      <p:sp>
        <p:nvSpPr>
          <p:cNvPr id="5" name="Straight Connector 16"/>
          <p:cNvSpPr/>
          <p:nvPr/>
        </p:nvSpPr>
        <p:spPr>
          <a:xfrm>
            <a:off x="1258528" y="6571636"/>
            <a:ext cx="2303435" cy="1"/>
          </a:xfrm>
          <a:prstGeom prst="line">
            <a:avLst/>
          </a:prstGeom>
          <a:ln w="19050">
            <a:solidFill>
              <a:srgbClr val="808080"/>
            </a:solidFill>
            <a:miter/>
          </a:ln>
        </p:spPr>
        <p:txBody>
          <a:bodyPr lIns="45719" rIns="45719"/>
          <a:lstStyle/>
          <a:p>
            <a:endParaRPr/>
          </a:p>
        </p:txBody>
      </p:sp>
      <p:pic>
        <p:nvPicPr>
          <p:cNvPr id="6" name="Рисунок 7" descr="Рисунок 7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1902203" y="0"/>
            <a:ext cx="1058147" cy="6840539"/>
          </a:xfrm>
          <a:prstGeom prst="rect">
            <a:avLst/>
          </a:prstGeom>
          <a:ln w="12700">
            <a:miter lim="400000"/>
          </a:ln>
        </p:spPr>
      </p:pic>
      <p:sp>
        <p:nvSpPr>
          <p:cNvPr id="7" name="Номер слайда"/>
          <p:cNvSpPr txBox="1">
            <a:spLocks noGrp="1"/>
          </p:cNvSpPr>
          <p:nvPr>
            <p:ph type="sldNum" sz="quarter" idx="2"/>
          </p:nvPr>
        </p:nvSpPr>
        <p:spPr>
          <a:xfrm>
            <a:off x="601687" y="304062"/>
            <a:ext cx="301908" cy="288825"/>
          </a:xfrm>
          <a:prstGeom prst="rect">
            <a:avLst/>
          </a:prstGeom>
          <a:ln w="12700">
            <a:miter lim="400000"/>
          </a:ln>
        </p:spPr>
        <p:txBody>
          <a:bodyPr wrap="none" lIns="45719" rIns="45719" anchor="ctr">
            <a:spAutoFit/>
          </a:bodyPr>
          <a:lstStyle>
            <a:lvl1pPr algn="r">
              <a:defRPr sz="1400">
                <a:solidFill>
                  <a:srgbClr val="FFFFFF"/>
                </a:solidFill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  <p:sp>
        <p:nvSpPr>
          <p:cNvPr id="8" name="Текст заголовка"/>
          <p:cNvSpPr txBox="1">
            <a:spLocks noGrp="1"/>
          </p:cNvSpPr>
          <p:nvPr>
            <p:ph type="title"/>
          </p:nvPr>
        </p:nvSpPr>
        <p:spPr>
          <a:xfrm>
            <a:off x="647700" y="273620"/>
            <a:ext cx="11658600" cy="132065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/>
          <a:lstStyle/>
          <a:p>
            <a:r>
              <a:t>Текст заголовка</a:t>
            </a:r>
          </a:p>
        </p:txBody>
      </p:sp>
      <p:sp>
        <p:nvSpPr>
          <p:cNvPr id="9" name="Уровень текста 1…"/>
          <p:cNvSpPr txBox="1">
            <a:spLocks noGrp="1"/>
          </p:cNvSpPr>
          <p:nvPr>
            <p:ph type="body" idx="1"/>
          </p:nvPr>
        </p:nvSpPr>
        <p:spPr>
          <a:xfrm>
            <a:off x="647700" y="1594273"/>
            <a:ext cx="11658600" cy="523832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/>
          <a:lstStyle/>
          <a:p>
            <a:r>
              <a:t>Уровень текста 1</a:t>
            </a:r>
          </a:p>
          <a:p>
            <a:pPr lvl="1"/>
            <a:r>
              <a:t>Уровень текста 2</a:t>
            </a:r>
          </a:p>
          <a:p>
            <a:pPr lvl="2"/>
            <a:r>
              <a:t>Уровень текста 3</a:t>
            </a:r>
          </a:p>
          <a:p>
            <a:pPr lvl="3"/>
            <a:r>
              <a:t>Уровень текста 4</a:t>
            </a:r>
          </a:p>
          <a:p>
            <a:pPr lvl="4"/>
            <a:r>
              <a:t>Уровень текста 5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</p:sldLayoutIdLst>
  <p:transition spd="med"/>
  <p:txStyles>
    <p:titleStyle>
      <a:lvl1pPr marL="0" marR="0" indent="0" algn="l" defTabSz="912113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200" b="1" i="0" u="none" strike="noStrike" cap="none" spc="0" baseline="0">
          <a:solidFill>
            <a:srgbClr val="000000"/>
          </a:solidFill>
          <a:uFillTx/>
          <a:latin typeface="Arial"/>
          <a:ea typeface="Arial"/>
          <a:cs typeface="Arial"/>
          <a:sym typeface="Arial"/>
        </a:defRPr>
      </a:lvl1pPr>
      <a:lvl2pPr marL="0" marR="0" indent="0" algn="l" defTabSz="912113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200" b="1" i="0" u="none" strike="noStrike" cap="none" spc="0" baseline="0">
          <a:solidFill>
            <a:srgbClr val="000000"/>
          </a:solidFill>
          <a:uFillTx/>
          <a:latin typeface="Arial"/>
          <a:ea typeface="Arial"/>
          <a:cs typeface="Arial"/>
          <a:sym typeface="Arial"/>
        </a:defRPr>
      </a:lvl2pPr>
      <a:lvl3pPr marL="0" marR="0" indent="0" algn="l" defTabSz="912113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200" b="1" i="0" u="none" strike="noStrike" cap="none" spc="0" baseline="0">
          <a:solidFill>
            <a:srgbClr val="000000"/>
          </a:solidFill>
          <a:uFillTx/>
          <a:latin typeface="Arial"/>
          <a:ea typeface="Arial"/>
          <a:cs typeface="Arial"/>
          <a:sym typeface="Arial"/>
        </a:defRPr>
      </a:lvl3pPr>
      <a:lvl4pPr marL="0" marR="0" indent="0" algn="l" defTabSz="912113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200" b="1" i="0" u="none" strike="noStrike" cap="none" spc="0" baseline="0">
          <a:solidFill>
            <a:srgbClr val="000000"/>
          </a:solidFill>
          <a:uFillTx/>
          <a:latin typeface="Arial"/>
          <a:ea typeface="Arial"/>
          <a:cs typeface="Arial"/>
          <a:sym typeface="Arial"/>
        </a:defRPr>
      </a:lvl4pPr>
      <a:lvl5pPr marL="0" marR="0" indent="0" algn="l" defTabSz="912113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200" b="1" i="0" u="none" strike="noStrike" cap="none" spc="0" baseline="0">
          <a:solidFill>
            <a:srgbClr val="000000"/>
          </a:solidFill>
          <a:uFillTx/>
          <a:latin typeface="Arial"/>
          <a:ea typeface="Arial"/>
          <a:cs typeface="Arial"/>
          <a:sym typeface="Arial"/>
        </a:defRPr>
      </a:lvl5pPr>
      <a:lvl6pPr marL="0" marR="0" indent="0" algn="l" defTabSz="912113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200" b="1" i="0" u="none" strike="noStrike" cap="none" spc="0" baseline="0">
          <a:solidFill>
            <a:srgbClr val="000000"/>
          </a:solidFill>
          <a:uFillTx/>
          <a:latin typeface="Arial"/>
          <a:ea typeface="Arial"/>
          <a:cs typeface="Arial"/>
          <a:sym typeface="Arial"/>
        </a:defRPr>
      </a:lvl6pPr>
      <a:lvl7pPr marL="0" marR="0" indent="0" algn="l" defTabSz="912113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200" b="1" i="0" u="none" strike="noStrike" cap="none" spc="0" baseline="0">
          <a:solidFill>
            <a:srgbClr val="000000"/>
          </a:solidFill>
          <a:uFillTx/>
          <a:latin typeface="Arial"/>
          <a:ea typeface="Arial"/>
          <a:cs typeface="Arial"/>
          <a:sym typeface="Arial"/>
        </a:defRPr>
      </a:lvl7pPr>
      <a:lvl8pPr marL="0" marR="0" indent="0" algn="l" defTabSz="912113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200" b="1" i="0" u="none" strike="noStrike" cap="none" spc="0" baseline="0">
          <a:solidFill>
            <a:srgbClr val="000000"/>
          </a:solidFill>
          <a:uFillTx/>
          <a:latin typeface="Arial"/>
          <a:ea typeface="Arial"/>
          <a:cs typeface="Arial"/>
          <a:sym typeface="Arial"/>
        </a:defRPr>
      </a:lvl8pPr>
      <a:lvl9pPr marL="0" marR="0" indent="0" algn="l" defTabSz="912113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200" b="1" i="0" u="none" strike="noStrike" cap="none" spc="0" baseline="0">
          <a:solidFill>
            <a:srgbClr val="000000"/>
          </a:solidFill>
          <a:uFillTx/>
          <a:latin typeface="Arial"/>
          <a:ea typeface="Arial"/>
          <a:cs typeface="Arial"/>
          <a:sym typeface="Arial"/>
        </a:defRPr>
      </a:lvl9pPr>
    </p:titleStyle>
    <p:bodyStyle>
      <a:lvl1pPr marL="0" marR="0" indent="0" algn="l" defTabSz="912113" rtl="0" latinLnBrk="0">
        <a:lnSpc>
          <a:spcPct val="100000"/>
        </a:lnSpc>
        <a:spcBef>
          <a:spcPts val="900"/>
        </a:spcBef>
        <a:spcAft>
          <a:spcPts val="0"/>
        </a:spcAft>
        <a:buClrTx/>
        <a:buSzTx/>
        <a:buFontTx/>
        <a:buNone/>
        <a:tabLst/>
        <a:defRPr sz="1600" b="0" i="0" u="none" strike="noStrike" cap="none" spc="0" baseline="0">
          <a:solidFill>
            <a:srgbClr val="000000"/>
          </a:solidFill>
          <a:uFillTx/>
          <a:latin typeface="Arial"/>
          <a:ea typeface="Arial"/>
          <a:cs typeface="Arial"/>
          <a:sym typeface="Arial"/>
        </a:defRPr>
      </a:lvl1pPr>
      <a:lvl2pPr marL="0" marR="0" indent="0" algn="l" defTabSz="912113" rtl="0" latinLnBrk="0">
        <a:lnSpc>
          <a:spcPct val="100000"/>
        </a:lnSpc>
        <a:spcBef>
          <a:spcPts val="900"/>
        </a:spcBef>
        <a:spcAft>
          <a:spcPts val="0"/>
        </a:spcAft>
        <a:buClrTx/>
        <a:buSzTx/>
        <a:buFontTx/>
        <a:buNone/>
        <a:tabLst/>
        <a:defRPr sz="1600" b="0" i="0" u="none" strike="noStrike" cap="none" spc="0" baseline="0">
          <a:solidFill>
            <a:srgbClr val="000000"/>
          </a:solidFill>
          <a:uFillTx/>
          <a:latin typeface="Arial"/>
          <a:ea typeface="Arial"/>
          <a:cs typeface="Arial"/>
          <a:sym typeface="Arial"/>
        </a:defRPr>
      </a:lvl2pPr>
      <a:lvl3pPr marL="0" marR="0" indent="0" algn="l" defTabSz="912113" rtl="0" latinLnBrk="0">
        <a:lnSpc>
          <a:spcPct val="100000"/>
        </a:lnSpc>
        <a:spcBef>
          <a:spcPts val="900"/>
        </a:spcBef>
        <a:spcAft>
          <a:spcPts val="0"/>
        </a:spcAft>
        <a:buClrTx/>
        <a:buSzTx/>
        <a:buFontTx/>
        <a:buNone/>
        <a:tabLst/>
        <a:defRPr sz="1600" b="0" i="0" u="none" strike="noStrike" cap="none" spc="0" baseline="0">
          <a:solidFill>
            <a:srgbClr val="000000"/>
          </a:solidFill>
          <a:uFillTx/>
          <a:latin typeface="Arial"/>
          <a:ea typeface="Arial"/>
          <a:cs typeface="Arial"/>
          <a:sym typeface="Arial"/>
        </a:defRPr>
      </a:lvl3pPr>
      <a:lvl4pPr marL="0" marR="0" indent="0" algn="l" defTabSz="912113" rtl="0" latinLnBrk="0">
        <a:lnSpc>
          <a:spcPct val="100000"/>
        </a:lnSpc>
        <a:spcBef>
          <a:spcPts val="900"/>
        </a:spcBef>
        <a:spcAft>
          <a:spcPts val="0"/>
        </a:spcAft>
        <a:buClrTx/>
        <a:buSzTx/>
        <a:buFontTx/>
        <a:buNone/>
        <a:tabLst/>
        <a:defRPr sz="1600" b="0" i="0" u="none" strike="noStrike" cap="none" spc="0" baseline="0">
          <a:solidFill>
            <a:srgbClr val="000000"/>
          </a:solidFill>
          <a:uFillTx/>
          <a:latin typeface="Arial"/>
          <a:ea typeface="Arial"/>
          <a:cs typeface="Arial"/>
          <a:sym typeface="Arial"/>
        </a:defRPr>
      </a:lvl4pPr>
      <a:lvl5pPr marL="0" marR="0" indent="0" algn="l" defTabSz="912113" rtl="0" latinLnBrk="0">
        <a:lnSpc>
          <a:spcPct val="100000"/>
        </a:lnSpc>
        <a:spcBef>
          <a:spcPts val="900"/>
        </a:spcBef>
        <a:spcAft>
          <a:spcPts val="0"/>
        </a:spcAft>
        <a:buClrTx/>
        <a:buSzTx/>
        <a:buFontTx/>
        <a:buNone/>
        <a:tabLst/>
        <a:defRPr sz="1600" b="0" i="0" u="none" strike="noStrike" cap="none" spc="0" baseline="0">
          <a:solidFill>
            <a:srgbClr val="000000"/>
          </a:solidFill>
          <a:uFillTx/>
          <a:latin typeface="Arial"/>
          <a:ea typeface="Arial"/>
          <a:cs typeface="Arial"/>
          <a:sym typeface="Arial"/>
        </a:defRPr>
      </a:lvl5pPr>
      <a:lvl6pPr marL="2494900" marR="0" indent="-214615" algn="l" defTabSz="912113" rtl="0" latinLnBrk="0">
        <a:lnSpc>
          <a:spcPct val="100000"/>
        </a:lnSpc>
        <a:spcBef>
          <a:spcPts val="900"/>
        </a:spcBef>
        <a:spcAft>
          <a:spcPts val="0"/>
        </a:spcAft>
        <a:buClrTx/>
        <a:buSzPct val="100000"/>
        <a:buFontTx/>
        <a:buChar char="•"/>
        <a:tabLst/>
        <a:defRPr sz="1600" b="0" i="0" u="none" strike="noStrike" cap="none" spc="0" baseline="0">
          <a:solidFill>
            <a:srgbClr val="000000"/>
          </a:solidFill>
          <a:uFillTx/>
          <a:latin typeface="Arial"/>
          <a:ea typeface="Arial"/>
          <a:cs typeface="Arial"/>
          <a:sym typeface="Arial"/>
        </a:defRPr>
      </a:lvl6pPr>
      <a:lvl7pPr marL="2950957" marR="0" indent="-214615" algn="l" defTabSz="912113" rtl="0" latinLnBrk="0">
        <a:lnSpc>
          <a:spcPct val="100000"/>
        </a:lnSpc>
        <a:spcBef>
          <a:spcPts val="900"/>
        </a:spcBef>
        <a:spcAft>
          <a:spcPts val="0"/>
        </a:spcAft>
        <a:buClrTx/>
        <a:buSzPct val="100000"/>
        <a:buFontTx/>
        <a:buChar char="•"/>
        <a:tabLst/>
        <a:defRPr sz="1600" b="0" i="0" u="none" strike="noStrike" cap="none" spc="0" baseline="0">
          <a:solidFill>
            <a:srgbClr val="000000"/>
          </a:solidFill>
          <a:uFillTx/>
          <a:latin typeface="Arial"/>
          <a:ea typeface="Arial"/>
          <a:cs typeface="Arial"/>
          <a:sym typeface="Arial"/>
        </a:defRPr>
      </a:lvl7pPr>
      <a:lvl8pPr marL="3407014" marR="0" indent="-214615" algn="l" defTabSz="912113" rtl="0" latinLnBrk="0">
        <a:lnSpc>
          <a:spcPct val="100000"/>
        </a:lnSpc>
        <a:spcBef>
          <a:spcPts val="900"/>
        </a:spcBef>
        <a:spcAft>
          <a:spcPts val="0"/>
        </a:spcAft>
        <a:buClrTx/>
        <a:buSzPct val="100000"/>
        <a:buFontTx/>
        <a:buChar char="•"/>
        <a:tabLst/>
        <a:defRPr sz="1600" b="0" i="0" u="none" strike="noStrike" cap="none" spc="0" baseline="0">
          <a:solidFill>
            <a:srgbClr val="000000"/>
          </a:solidFill>
          <a:uFillTx/>
          <a:latin typeface="Arial"/>
          <a:ea typeface="Arial"/>
          <a:cs typeface="Arial"/>
          <a:sym typeface="Arial"/>
        </a:defRPr>
      </a:lvl8pPr>
      <a:lvl9pPr marL="3863071" marR="0" indent="-214615" algn="l" defTabSz="912113" rtl="0" latinLnBrk="0">
        <a:lnSpc>
          <a:spcPct val="100000"/>
        </a:lnSpc>
        <a:spcBef>
          <a:spcPts val="900"/>
        </a:spcBef>
        <a:spcAft>
          <a:spcPts val="0"/>
        </a:spcAft>
        <a:buClrTx/>
        <a:buSzPct val="100000"/>
        <a:buFontTx/>
        <a:buChar char="•"/>
        <a:tabLst/>
        <a:defRPr sz="1600" b="0" i="0" u="none" strike="noStrike" cap="none" spc="0" baseline="0">
          <a:solidFill>
            <a:srgbClr val="000000"/>
          </a:solidFill>
          <a:uFillTx/>
          <a:latin typeface="Arial"/>
          <a:ea typeface="Arial"/>
          <a:cs typeface="Arial"/>
          <a:sym typeface="Arial"/>
        </a:defRPr>
      </a:lvl9pPr>
    </p:bodyStyle>
    <p:otherStyle>
      <a:lvl1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4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1pPr>
      <a:lvl2pPr marL="0" marR="0" indent="4572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4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2pPr>
      <a:lvl3pPr marL="0" marR="0" indent="9144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4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3pPr>
      <a:lvl4pPr marL="0" marR="0" indent="13716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4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4pPr>
      <a:lvl5pPr marL="0" marR="0" indent="18288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4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5pPr>
      <a:lvl6pPr marL="0" marR="0" indent="22860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4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6pPr>
      <a:lvl7pPr marL="0" marR="0" indent="27432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4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7pPr>
      <a:lvl8pPr marL="0" marR="0" indent="32004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4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8pPr>
      <a:lvl9pPr marL="0" marR="0" indent="36576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4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slide" Target="slide13.xml"/><Relationship Id="rId13" Type="http://schemas.openxmlformats.org/officeDocument/2006/relationships/slide" Target="slide21.xml"/><Relationship Id="rId3" Type="http://schemas.openxmlformats.org/officeDocument/2006/relationships/slide" Target="slide4.xml"/><Relationship Id="rId7" Type="http://schemas.openxmlformats.org/officeDocument/2006/relationships/slide" Target="slide11.xml"/><Relationship Id="rId12" Type="http://schemas.openxmlformats.org/officeDocument/2006/relationships/slide" Target="slide20.xml"/><Relationship Id="rId2" Type="http://schemas.openxmlformats.org/officeDocument/2006/relationships/slide" Target="slide3.xml"/><Relationship Id="rId16" Type="http://schemas.openxmlformats.org/officeDocument/2006/relationships/slide" Target="slide37.xml"/><Relationship Id="rId1" Type="http://schemas.openxmlformats.org/officeDocument/2006/relationships/slideLayout" Target="../slideLayouts/slideLayout7.xml"/><Relationship Id="rId6" Type="http://schemas.openxmlformats.org/officeDocument/2006/relationships/slide" Target="slide7.xml"/><Relationship Id="rId11" Type="http://schemas.openxmlformats.org/officeDocument/2006/relationships/slide" Target="slide17.xml"/><Relationship Id="rId5" Type="http://schemas.openxmlformats.org/officeDocument/2006/relationships/slide" Target="slide6.xml"/><Relationship Id="rId15" Type="http://schemas.openxmlformats.org/officeDocument/2006/relationships/slide" Target="slide36.xml"/><Relationship Id="rId10" Type="http://schemas.openxmlformats.org/officeDocument/2006/relationships/slide" Target="slide16.xml"/><Relationship Id="rId4" Type="http://schemas.openxmlformats.org/officeDocument/2006/relationships/slide" Target="slide5.xml"/><Relationship Id="rId9" Type="http://schemas.openxmlformats.org/officeDocument/2006/relationships/slide" Target="slide15.xml"/><Relationship Id="rId14" Type="http://schemas.openxmlformats.org/officeDocument/2006/relationships/slide" Target="slide2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nalog.gov.ru/" TargetMode="Externa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8" Type="http://schemas.openxmlformats.org/officeDocument/2006/relationships/hyperlink" Target="https://stormbpmn.com/" TargetMode="External"/><Relationship Id="rId3" Type="http://schemas.openxmlformats.org/officeDocument/2006/relationships/hyperlink" Target="https://online-kassa.ru/blog/kak-rabotat-na-kasse-instruktsiya-dlya-kassira/" TargetMode="External"/><Relationship Id="rId7" Type="http://schemas.openxmlformats.org/officeDocument/2006/relationships/hyperlink" Target="https://bpmn20.ru/docs/docly-documentation/elements/oficzialnaya-dokumentacziya-bpmn/" TargetMode="External"/><Relationship Id="rId2" Type="http://schemas.openxmlformats.org/officeDocument/2006/relationships/hyperlink" Target="http://www.consultant.ru/document/cons_doc_LAW_42359/" TargetMode="External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bpmn2.0.ru/" TargetMode="External"/><Relationship Id="rId5" Type="http://schemas.openxmlformats.org/officeDocument/2006/relationships/hyperlink" Target="https://www.nalog.gov.ru/" TargetMode="External"/><Relationship Id="rId4" Type="http://schemas.openxmlformats.org/officeDocument/2006/relationships/hyperlink" Target="https://torg.1c.ru/upload/iblock/5eb/5eb2d08927a7fe3ffebcf4a866836949.pdf" TargetMode="Externa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Title 1"/>
          <p:cNvSpPr txBox="1">
            <a:spLocks noGrp="1"/>
          </p:cNvSpPr>
          <p:nvPr>
            <p:ph type="title"/>
          </p:nvPr>
        </p:nvSpPr>
        <p:spPr>
          <a:xfrm>
            <a:off x="693174" y="977528"/>
            <a:ext cx="11045339" cy="3041053"/>
          </a:xfrm>
          <a:prstGeom prst="rect">
            <a:avLst/>
          </a:prstGeom>
        </p:spPr>
        <p:txBody>
          <a:bodyPr>
            <a:normAutofit/>
          </a:bodyPr>
          <a:lstStyle/>
          <a:p>
            <a:pPr algn="ctr"/>
            <a:r>
              <a:rPr lang="ru-RU" sz="5000" dirty="0">
                <a:effectLst/>
                <a:ea typeface="Open Sans ExtraBold" pitchFamily="2" charset="0"/>
                <a:cs typeface="Open Sans ExtraBold" pitchFamily="2" charset="0"/>
              </a:rPr>
              <a:t>Реквизитный анализ экономического документа и создание его </a:t>
            </a:r>
            <a:r>
              <a:rPr lang="ru-RU" sz="5000" dirty="0" err="1">
                <a:effectLst/>
                <a:ea typeface="Open Sans ExtraBold" pitchFamily="2" charset="0"/>
                <a:cs typeface="Open Sans ExtraBold" pitchFamily="2" charset="0"/>
              </a:rPr>
              <a:t>внутримашинного</a:t>
            </a:r>
            <a:r>
              <a:rPr lang="ru-RU" sz="5000" dirty="0">
                <a:effectLst/>
                <a:ea typeface="Open Sans ExtraBold" pitchFamily="2" charset="0"/>
                <a:cs typeface="Open Sans ExtraBold" pitchFamily="2" charset="0"/>
              </a:rPr>
              <a:t> представления</a:t>
            </a:r>
            <a:endParaRPr lang="ru-RU" sz="5000" dirty="0">
              <a:ea typeface="Open Sans ExtraBold" pitchFamily="2" charset="0"/>
              <a:cs typeface="Open Sans ExtraBold" pitchFamily="2" charset="0"/>
            </a:endParaRPr>
          </a:p>
        </p:txBody>
      </p:sp>
      <p:sp>
        <p:nvSpPr>
          <p:cNvPr id="228" name="Subtitle 2"/>
          <p:cNvSpPr txBox="1">
            <a:spLocks noGrp="1"/>
          </p:cNvSpPr>
          <p:nvPr>
            <p:ph type="body" sz="quarter" idx="1"/>
          </p:nvPr>
        </p:nvSpPr>
        <p:spPr>
          <a:xfrm>
            <a:off x="916863" y="4807537"/>
            <a:ext cx="10423444" cy="1047535"/>
          </a:xfrm>
          <a:prstGeom prst="rect">
            <a:avLst/>
          </a:prstGeom>
        </p:spPr>
        <p:txBody>
          <a:bodyPr>
            <a:normAutofit lnSpcReduction="10000"/>
          </a:bodyPr>
          <a:lstStyle/>
          <a:p>
            <a:pPr algn="r">
              <a:spcBef>
                <a:spcPts val="0"/>
              </a:spcBef>
              <a:defRPr>
                <a:latin typeface="+mn-lt"/>
                <a:ea typeface="+mn-ea"/>
                <a:cs typeface="+mn-cs"/>
                <a:sym typeface="Times New Roman"/>
              </a:defRPr>
            </a:pPr>
            <a:r>
              <a:rPr lang="ru-RU" dirty="0"/>
              <a:t>Выполнили студенты группы Иб-321:</a:t>
            </a:r>
            <a:br>
              <a:rPr lang="ru-RU" dirty="0"/>
            </a:br>
            <a:r>
              <a:rPr lang="ru-RU" dirty="0"/>
              <a:t>Туманова Дарья Александровна</a:t>
            </a:r>
            <a:br>
              <a:rPr lang="ru-RU" dirty="0"/>
            </a:br>
            <a:r>
              <a:rPr lang="ru-RU" dirty="0"/>
              <a:t>Храмова Екатерина Ивановна</a:t>
            </a:r>
            <a:endParaRPr dirty="0"/>
          </a:p>
        </p:txBody>
      </p:sp>
      <p:sp>
        <p:nvSpPr>
          <p:cNvPr id="229" name="TextBox 3"/>
          <p:cNvSpPr txBox="1"/>
          <p:nvPr/>
        </p:nvSpPr>
        <p:spPr>
          <a:xfrm>
            <a:off x="913800" y="6125934"/>
            <a:ext cx="2146926" cy="2154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>
              <a:defRPr sz="1400">
                <a:solidFill>
                  <a:srgbClr val="FFFFFF"/>
                </a:solidFill>
              </a:defRPr>
            </a:lvl1pPr>
          </a:lstStyle>
          <a:p>
            <a:r>
              <a:rPr dirty="0" err="1"/>
              <a:t>Нижний</a:t>
            </a:r>
            <a:r>
              <a:rPr dirty="0"/>
              <a:t> </a:t>
            </a:r>
            <a:r>
              <a:rPr dirty="0" err="1"/>
              <a:t>Новгород</a:t>
            </a:r>
            <a:r>
              <a:rPr dirty="0"/>
              <a:t>, 202</a:t>
            </a:r>
            <a:r>
              <a:rPr lang="ru-RU" dirty="0"/>
              <a:t>6</a:t>
            </a:r>
            <a:endParaRPr dirty="0"/>
          </a:p>
        </p:txBody>
      </p:sp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68294112-4E27-E1E5-8F8A-6373CC63DCE7}"/>
              </a:ext>
            </a:extLst>
          </p:cNvPr>
          <p:cNvSpPr/>
          <p:nvPr/>
        </p:nvSpPr>
        <p:spPr>
          <a:xfrm>
            <a:off x="11985523" y="707923"/>
            <a:ext cx="275303" cy="590941"/>
          </a:xfrm>
          <a:prstGeom prst="rect">
            <a:avLst/>
          </a:prstGeom>
          <a:solidFill>
            <a:schemeClr val="accent1"/>
          </a:solidFill>
          <a:ln w="12700" cap="flat">
            <a:solidFill>
              <a:schemeClr val="accent1"/>
            </a:solidFill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ransition spd="med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DC830BA0-522C-F045-30D9-6AA9F8291E9E}"/>
              </a:ext>
            </a:extLst>
          </p:cNvPr>
          <p:cNvSpPr/>
          <p:nvPr/>
        </p:nvSpPr>
        <p:spPr>
          <a:xfrm>
            <a:off x="609600" y="6410632"/>
            <a:ext cx="511277" cy="285136"/>
          </a:xfrm>
          <a:prstGeom prst="rect">
            <a:avLst/>
          </a:prstGeom>
          <a:solidFill>
            <a:srgbClr val="FFFFFF"/>
          </a:solidFill>
          <a:ln w="12700" cap="flat">
            <a:solidFill>
              <a:schemeClr val="bg1"/>
            </a:solidFill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959C283-2F3B-9343-D0E8-821A55D5CA6C}"/>
              </a:ext>
            </a:extLst>
          </p:cNvPr>
          <p:cNvSpPr txBox="1"/>
          <p:nvPr/>
        </p:nvSpPr>
        <p:spPr>
          <a:xfrm>
            <a:off x="963561" y="136832"/>
            <a:ext cx="3903407" cy="52321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ru-RU" sz="2800" b="1" i="0" u="none" strike="noStrike" cap="none" spc="0" normalizeH="0" baseline="0" dirty="0">
                <a:ln>
                  <a:noFill/>
                </a:ln>
                <a:solidFill>
                  <a:schemeClr val="accent1"/>
                </a:solidFill>
                <a:effectLst/>
                <a:uFillTx/>
                <a:latin typeface="+mn-lt"/>
                <a:ea typeface="Arial"/>
                <a:cs typeface="Arial"/>
                <a:sym typeface="Arial"/>
              </a:rPr>
              <a:t>СОДЕРЖАНИЕ</a:t>
            </a:r>
            <a:endParaRPr kumimoji="0" lang="en-US" sz="2800" b="1" i="0" u="none" strike="noStrike" cap="none" spc="0" normalizeH="0" baseline="0" dirty="0">
              <a:ln>
                <a:noFill/>
              </a:ln>
              <a:solidFill>
                <a:schemeClr val="accent1"/>
              </a:solidFill>
              <a:effectLst/>
              <a:uFillTx/>
              <a:latin typeface="+mn-lt"/>
              <a:ea typeface="Arial"/>
              <a:cs typeface="Arial"/>
              <a:sym typeface="Arial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CDA34B9-382B-69CA-075A-BEB4EA2BC646}"/>
              </a:ext>
            </a:extLst>
          </p:cNvPr>
          <p:cNvSpPr txBox="1"/>
          <p:nvPr/>
        </p:nvSpPr>
        <p:spPr>
          <a:xfrm>
            <a:off x="309716" y="229164"/>
            <a:ext cx="511277" cy="40010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ru-RU" sz="2000" b="1" i="0" u="none" strike="noStrike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+mn-lt"/>
                <a:ea typeface="Arial"/>
                <a:cs typeface="Arial"/>
                <a:sym typeface="Arial"/>
              </a:rPr>
              <a:t>2</a:t>
            </a:r>
            <a:endParaRPr kumimoji="0" lang="en-US" sz="2000" b="1" i="0" u="none" strike="noStrike" cap="none" spc="0" normalizeH="0" baseline="0" dirty="0">
              <a:ln>
                <a:noFill/>
              </a:ln>
              <a:solidFill>
                <a:schemeClr val="bg1"/>
              </a:solidFill>
              <a:effectLst/>
              <a:uFillTx/>
              <a:latin typeface="+mn-lt"/>
              <a:ea typeface="Arial"/>
              <a:cs typeface="Arial"/>
              <a:sym typeface="Arial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FC2F814-276D-2344-3418-70F83DB3AED8}"/>
              </a:ext>
            </a:extLst>
          </p:cNvPr>
          <p:cNvSpPr txBox="1"/>
          <p:nvPr/>
        </p:nvSpPr>
        <p:spPr>
          <a:xfrm>
            <a:off x="2186756" y="719186"/>
            <a:ext cx="8580488" cy="5632309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ru-RU" sz="24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Arial"/>
                <a:cs typeface="Arial"/>
                <a:sym typeface="Arial"/>
                <a:hlinkClick r:id="rId2" action="ppaction://hlinksldjump"/>
              </a:rPr>
              <a:t>Цель работы</a:t>
            </a:r>
            <a:r>
              <a:rPr kumimoji="0" lang="ru-RU" sz="24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Arial"/>
                <a:cs typeface="Arial"/>
                <a:sym typeface="Arial"/>
              </a:rPr>
              <a:t>………………………………………………………3</a:t>
            </a:r>
          </a:p>
          <a:p>
            <a:pPr marL="0" marR="0" indent="0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ru-RU" sz="2400" dirty="0">
                <a:latin typeface="+mn-lt"/>
                <a:hlinkClick r:id="rId3" action="ppaction://hlinksldjump"/>
              </a:rPr>
              <a:t>Задачи</a:t>
            </a:r>
            <a:r>
              <a:rPr kumimoji="0" lang="ru-RU" sz="24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Arial"/>
                <a:cs typeface="Arial"/>
                <a:sym typeface="Arial"/>
              </a:rPr>
              <a:t>……………………………………………………………</a:t>
            </a:r>
            <a:r>
              <a:rPr lang="en-US" sz="2400" dirty="0">
                <a:latin typeface="+mn-lt"/>
              </a:rPr>
              <a:t>..</a:t>
            </a:r>
            <a:r>
              <a:rPr kumimoji="0" lang="ru-RU" sz="24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Arial"/>
                <a:cs typeface="Arial"/>
                <a:sym typeface="Arial"/>
              </a:rPr>
              <a:t>4</a:t>
            </a:r>
            <a:br>
              <a:rPr lang="ru-RU" sz="2400" dirty="0">
                <a:latin typeface="+mn-lt"/>
              </a:rPr>
            </a:br>
            <a:r>
              <a:rPr lang="ru-RU" sz="2400" dirty="0">
                <a:latin typeface="+mn-lt"/>
                <a:hlinkClick r:id="rId4" action="ppaction://hlinksldjump"/>
              </a:rPr>
              <a:t>Используемое ПО</a:t>
            </a:r>
            <a:r>
              <a:rPr kumimoji="0" lang="ru-RU" sz="24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Arial"/>
                <a:cs typeface="Arial"/>
                <a:sym typeface="Arial"/>
              </a:rPr>
              <a:t>……………...…………………………………5</a:t>
            </a:r>
            <a:br>
              <a:rPr lang="ru-RU" sz="2400" dirty="0">
                <a:latin typeface="+mn-lt"/>
              </a:rPr>
            </a:br>
            <a:r>
              <a:rPr lang="ru-RU" sz="2400" dirty="0">
                <a:latin typeface="+mn-lt"/>
                <a:hlinkClick r:id="rId5" action="ppaction://hlinksldjump"/>
              </a:rPr>
              <a:t>Выбор документа</a:t>
            </a:r>
            <a:r>
              <a:rPr kumimoji="0" lang="ru-RU" sz="24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Arial"/>
                <a:cs typeface="Arial"/>
                <a:sym typeface="Arial"/>
              </a:rPr>
              <a:t>…………………………………………….…...6</a:t>
            </a:r>
            <a:br>
              <a:rPr lang="ru-RU" sz="2400" dirty="0">
                <a:latin typeface="+mn-lt"/>
              </a:rPr>
            </a:br>
            <a:r>
              <a:rPr lang="ru-RU" sz="2400" dirty="0">
                <a:latin typeface="+mn-lt"/>
                <a:hlinkClick r:id="rId6" action="ppaction://hlinksldjump"/>
              </a:rPr>
              <a:t>Реквизитный анализ документа</a:t>
            </a:r>
            <a:r>
              <a:rPr kumimoji="0" lang="ru-RU" sz="24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Arial"/>
                <a:cs typeface="Arial"/>
                <a:sym typeface="Arial"/>
              </a:rPr>
              <a:t>…………………………………7</a:t>
            </a:r>
            <a:br>
              <a:rPr lang="ru-RU" sz="2400" dirty="0">
                <a:latin typeface="+mn-lt"/>
              </a:rPr>
            </a:br>
            <a:r>
              <a:rPr lang="ru-RU" sz="2400" dirty="0">
                <a:latin typeface="+mn-lt"/>
                <a:hlinkClick r:id="rId7" action="ppaction://hlinksldjump"/>
              </a:rPr>
              <a:t>Финансовые и экономические реквизиты</a:t>
            </a:r>
            <a:r>
              <a:rPr kumimoji="0" lang="ru-RU" sz="24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Arial"/>
                <a:cs typeface="Arial"/>
                <a:sym typeface="Arial"/>
              </a:rPr>
              <a:t>………………………11</a:t>
            </a:r>
            <a:endParaRPr lang="ru-RU" sz="2400" dirty="0">
              <a:latin typeface="+mn-lt"/>
            </a:endParaRPr>
          </a:p>
          <a:p>
            <a:pPr marL="0" marR="0" indent="0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ru-RU" sz="2400" dirty="0">
                <a:latin typeface="+mn-lt"/>
                <a:hlinkClick r:id="rId8" action="ppaction://hlinksldjump"/>
              </a:rPr>
              <a:t>Описание процесса работы с документом</a:t>
            </a:r>
            <a:r>
              <a:rPr kumimoji="0" lang="ru-RU" sz="24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Arial"/>
                <a:cs typeface="Arial"/>
                <a:sym typeface="Arial"/>
              </a:rPr>
              <a:t>……………...………13</a:t>
            </a:r>
            <a:endParaRPr lang="ru-RU" sz="2400" dirty="0">
              <a:latin typeface="+mn-lt"/>
            </a:endParaRPr>
          </a:p>
          <a:p>
            <a:pPr marL="0" marR="0" indent="0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ru-RU" sz="2400" dirty="0">
                <a:latin typeface="+mn-lt"/>
                <a:hlinkClick r:id="rId9" action="ppaction://hlinksldjump"/>
              </a:rPr>
              <a:t>Изучение назначения и особенностей </a:t>
            </a:r>
            <a:r>
              <a:rPr lang="en-US" sz="2400" dirty="0">
                <a:latin typeface="+mn-lt"/>
                <a:hlinkClick r:id="rId9" action="ppaction://hlinksldjump"/>
              </a:rPr>
              <a:t>BPMN 2.0</a:t>
            </a:r>
            <a:r>
              <a:rPr kumimoji="0" lang="ru-RU" sz="24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Arial"/>
                <a:cs typeface="Arial"/>
                <a:sym typeface="Arial"/>
              </a:rPr>
              <a:t>……... ………15</a:t>
            </a:r>
            <a:endParaRPr lang="en-US" sz="2400" dirty="0">
              <a:latin typeface="+mn-lt"/>
            </a:endParaRPr>
          </a:p>
          <a:p>
            <a:pPr marL="0" marR="0" indent="0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ru-RU" sz="2400" dirty="0">
                <a:latin typeface="+mn-lt"/>
                <a:hlinkClick r:id="rId10" action="ppaction://hlinksldjump"/>
              </a:rPr>
              <a:t>История и стандартизация</a:t>
            </a:r>
            <a:r>
              <a:rPr kumimoji="0" lang="ru-RU" sz="24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Arial"/>
                <a:cs typeface="Arial"/>
                <a:sym typeface="Arial"/>
              </a:rPr>
              <a:t>……………………………….... ……16</a:t>
            </a:r>
            <a:endParaRPr lang="ru-RU" sz="2400" dirty="0">
              <a:latin typeface="+mn-lt"/>
            </a:endParaRPr>
          </a:p>
          <a:p>
            <a:pPr marL="0" marR="0" indent="0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ru-RU" sz="2400" dirty="0">
                <a:latin typeface="+mn-lt"/>
                <a:hlinkClick r:id="rId11" action="ppaction://hlinksldjump"/>
              </a:rPr>
              <a:t>Ключевые особенности </a:t>
            </a:r>
            <a:r>
              <a:rPr lang="en-US" sz="2400" dirty="0">
                <a:latin typeface="+mn-lt"/>
                <a:hlinkClick r:id="rId11" action="ppaction://hlinksldjump"/>
              </a:rPr>
              <a:t>BPMN 2.0</a:t>
            </a:r>
            <a:r>
              <a:rPr kumimoji="0" lang="ru-RU" sz="24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Arial"/>
                <a:cs typeface="Arial"/>
                <a:sym typeface="Arial"/>
              </a:rPr>
              <a:t>……………………….……..17</a:t>
            </a:r>
            <a:endParaRPr lang="ru-RU" sz="2400" dirty="0">
              <a:latin typeface="+mn-lt"/>
            </a:endParaRPr>
          </a:p>
          <a:p>
            <a:pPr marL="0" marR="0" indent="0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ru-RU" sz="2400" dirty="0">
                <a:latin typeface="+mn-lt"/>
                <a:hlinkClick r:id="rId12" action="ppaction://hlinksldjump"/>
              </a:rPr>
              <a:t>Преимущества использования </a:t>
            </a:r>
            <a:r>
              <a:rPr lang="en-US" sz="2400" dirty="0">
                <a:latin typeface="+mn-lt"/>
                <a:hlinkClick r:id="rId12" action="ppaction://hlinksldjump"/>
              </a:rPr>
              <a:t>BPMN 2.0</a:t>
            </a:r>
            <a:r>
              <a:rPr kumimoji="0" lang="ru-RU" sz="24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Arial"/>
                <a:cs typeface="Arial"/>
                <a:sym typeface="Arial"/>
              </a:rPr>
              <a:t>……………….………20</a:t>
            </a:r>
            <a:endParaRPr lang="ru-RU" sz="2400" dirty="0">
              <a:latin typeface="+mn-lt"/>
            </a:endParaRPr>
          </a:p>
          <a:p>
            <a:pPr marL="0" marR="0" indent="0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ru-RU" sz="2400" dirty="0">
                <a:latin typeface="+mn-lt"/>
                <a:hlinkClick r:id="rId13" action="ppaction://hlinksldjump"/>
              </a:rPr>
              <a:t>Моделирование процесса в нотации </a:t>
            </a:r>
            <a:r>
              <a:rPr lang="en-US" sz="2400" dirty="0">
                <a:latin typeface="+mn-lt"/>
                <a:hlinkClick r:id="rId13" action="ppaction://hlinksldjump"/>
              </a:rPr>
              <a:t>BPMN 2.0</a:t>
            </a:r>
            <a:r>
              <a:rPr kumimoji="0" lang="ru-RU" sz="24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Arial"/>
                <a:cs typeface="Arial"/>
                <a:sym typeface="Arial"/>
              </a:rPr>
              <a:t>………..………21</a:t>
            </a:r>
            <a:endParaRPr lang="ru-RU" sz="2400" dirty="0">
              <a:latin typeface="+mn-lt"/>
            </a:endParaRPr>
          </a:p>
          <a:p>
            <a:pPr marL="0" marR="0" indent="0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ru-RU" sz="2400" dirty="0">
                <a:latin typeface="+mn-lt"/>
                <a:hlinkClick r:id="rId14" action="ppaction://hlinksldjump"/>
              </a:rPr>
              <a:t>Проектирование базы данных</a:t>
            </a:r>
            <a:r>
              <a:rPr kumimoji="0" lang="ru-RU" sz="24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Arial"/>
                <a:cs typeface="Arial"/>
                <a:sym typeface="Arial"/>
              </a:rPr>
              <a:t>…………………………….. ……23</a:t>
            </a:r>
          </a:p>
          <a:p>
            <a:pPr marL="0" marR="0" indent="0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ru-RU" sz="2400" dirty="0">
                <a:latin typeface="+mn-lt"/>
                <a:hlinkClick r:id="rId15" action="ppaction://hlinksldjump"/>
              </a:rPr>
              <a:t>Вывод</a:t>
            </a:r>
            <a:r>
              <a:rPr kumimoji="0" lang="ru-RU" sz="24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Arial"/>
                <a:cs typeface="Arial"/>
                <a:sym typeface="Arial"/>
              </a:rPr>
              <a:t>……………………………….……………………………..36</a:t>
            </a:r>
            <a:br>
              <a:rPr lang="ru-RU" sz="2400" dirty="0">
                <a:latin typeface="+mn-lt"/>
              </a:rPr>
            </a:br>
            <a:r>
              <a:rPr lang="ru-RU" sz="2400" dirty="0">
                <a:latin typeface="+mn-lt"/>
                <a:hlinkClick r:id="rId16" action="ppaction://hlinksldjump"/>
              </a:rPr>
              <a:t>Используемые источники</a:t>
            </a:r>
            <a:r>
              <a:rPr kumimoji="0" lang="ru-RU" sz="24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Arial"/>
                <a:cs typeface="Arial"/>
                <a:sym typeface="Arial"/>
              </a:rPr>
              <a:t>…………………………………..……37</a:t>
            </a:r>
            <a:endParaRPr lang="ru-RU" sz="2400" dirty="0">
              <a:latin typeface="+mn-lt"/>
            </a:endParaRPr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D1F2BEEC-FADE-4C2E-8620-928B9C15F43F}"/>
              </a:ext>
            </a:extLst>
          </p:cNvPr>
          <p:cNvSpPr/>
          <p:nvPr/>
        </p:nvSpPr>
        <p:spPr>
          <a:xfrm>
            <a:off x="1047750" y="6410632"/>
            <a:ext cx="2743200" cy="285136"/>
          </a:xfrm>
          <a:prstGeom prst="rect">
            <a:avLst/>
          </a:prstGeom>
          <a:solidFill>
            <a:srgbClr val="FFFFFF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ransition spd="med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DC830BA0-522C-F045-30D9-6AA9F8291E9E}"/>
              </a:ext>
            </a:extLst>
          </p:cNvPr>
          <p:cNvSpPr/>
          <p:nvPr/>
        </p:nvSpPr>
        <p:spPr>
          <a:xfrm>
            <a:off x="609600" y="6410632"/>
            <a:ext cx="511277" cy="285136"/>
          </a:xfrm>
          <a:prstGeom prst="rect">
            <a:avLst/>
          </a:prstGeom>
          <a:solidFill>
            <a:srgbClr val="FFFFFF"/>
          </a:solidFill>
          <a:ln w="12700" cap="flat">
            <a:solidFill>
              <a:schemeClr val="bg1"/>
            </a:solidFill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4AD1059-523C-1EA5-3EB0-54775AD19B12}"/>
              </a:ext>
            </a:extLst>
          </p:cNvPr>
          <p:cNvSpPr txBox="1"/>
          <p:nvPr/>
        </p:nvSpPr>
        <p:spPr>
          <a:xfrm>
            <a:off x="963561" y="1788867"/>
            <a:ext cx="10980789" cy="3254865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indent="449580" algn="just">
              <a:lnSpc>
                <a:spcPct val="150000"/>
              </a:lnSpc>
              <a:spcAft>
                <a:spcPts val="800"/>
              </a:spcAft>
            </a:pPr>
            <a:r>
              <a:rPr lang="ru-RU" sz="28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Провести реквизитный анализ экономического документа (кассового чека), смоделировать процесс его обработки с использованием нотации BPMN 2.0 и разработать структуру базы данных (концептуальную, логическую, физическую) для хранения его </a:t>
            </a:r>
            <a:r>
              <a:rPr lang="ru-RU" sz="2800" dirty="0" err="1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внутримашинного</a:t>
            </a:r>
            <a:r>
              <a:rPr lang="ru-RU" sz="28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представления.</a:t>
            </a:r>
            <a:endParaRPr lang="en-US" sz="2000" dirty="0">
              <a:solidFill>
                <a:schemeClr val="tx1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959C283-2F3B-9343-D0E8-821A55D5CA6C}"/>
              </a:ext>
            </a:extLst>
          </p:cNvPr>
          <p:cNvSpPr txBox="1"/>
          <p:nvPr/>
        </p:nvSpPr>
        <p:spPr>
          <a:xfrm>
            <a:off x="963561" y="136832"/>
            <a:ext cx="3903407" cy="52321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ru-RU" sz="2800" b="1" i="0" u="none" strike="noStrike" cap="none" spc="0" normalizeH="0" baseline="0" dirty="0">
                <a:ln>
                  <a:noFill/>
                </a:ln>
                <a:solidFill>
                  <a:schemeClr val="accent1"/>
                </a:solidFill>
                <a:effectLst/>
                <a:uFillTx/>
                <a:latin typeface="+mn-lt"/>
                <a:ea typeface="Arial"/>
                <a:cs typeface="Arial"/>
                <a:sym typeface="Arial"/>
              </a:rPr>
              <a:t>ЦЕЛЬ РАБОТЫ</a:t>
            </a:r>
            <a:endParaRPr kumimoji="0" lang="en-US" sz="2800" b="1" i="0" u="none" strike="noStrike" cap="none" spc="0" normalizeH="0" baseline="0" dirty="0">
              <a:ln>
                <a:noFill/>
              </a:ln>
              <a:solidFill>
                <a:schemeClr val="accent1"/>
              </a:solidFill>
              <a:effectLst/>
              <a:uFillTx/>
              <a:latin typeface="+mn-lt"/>
              <a:ea typeface="Arial"/>
              <a:cs typeface="Arial"/>
              <a:sym typeface="Arial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CDA34B9-382B-69CA-075A-BEB4EA2BC646}"/>
              </a:ext>
            </a:extLst>
          </p:cNvPr>
          <p:cNvSpPr txBox="1"/>
          <p:nvPr/>
        </p:nvSpPr>
        <p:spPr>
          <a:xfrm>
            <a:off x="309716" y="229164"/>
            <a:ext cx="511277" cy="40010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ru-RU" sz="2000" b="1" dirty="0">
                <a:solidFill>
                  <a:schemeClr val="bg1"/>
                </a:solidFill>
                <a:latin typeface="+mn-lt"/>
              </a:rPr>
              <a:t>3</a:t>
            </a:r>
            <a:endParaRPr kumimoji="0" lang="en-US" sz="2000" b="1" i="0" u="none" strike="noStrike" cap="none" spc="0" normalizeH="0" baseline="0" dirty="0">
              <a:ln>
                <a:noFill/>
              </a:ln>
              <a:solidFill>
                <a:schemeClr val="bg1"/>
              </a:solidFill>
              <a:effectLst/>
              <a:uFillTx/>
              <a:latin typeface="+mn-lt"/>
              <a:ea typeface="Arial"/>
              <a:cs typeface="Arial"/>
              <a:sym typeface="Arial"/>
            </a:endParaRP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2A33A025-EA53-49B8-A528-192EFD0584F8}"/>
              </a:ext>
            </a:extLst>
          </p:cNvPr>
          <p:cNvSpPr/>
          <p:nvPr/>
        </p:nvSpPr>
        <p:spPr>
          <a:xfrm>
            <a:off x="1047750" y="6410632"/>
            <a:ext cx="2743200" cy="285136"/>
          </a:xfrm>
          <a:prstGeom prst="rect">
            <a:avLst/>
          </a:prstGeom>
          <a:solidFill>
            <a:srgbClr val="FFFFFF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940476002"/>
      </p:ext>
    </p:extLst>
  </p:cSld>
  <p:clrMapOvr>
    <a:masterClrMapping/>
  </p:clrMapOvr>
  <p:transition spd="med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DC830BA0-522C-F045-30D9-6AA9F8291E9E}"/>
              </a:ext>
            </a:extLst>
          </p:cNvPr>
          <p:cNvSpPr/>
          <p:nvPr/>
        </p:nvSpPr>
        <p:spPr>
          <a:xfrm>
            <a:off x="609600" y="6410632"/>
            <a:ext cx="511277" cy="285136"/>
          </a:xfrm>
          <a:prstGeom prst="rect">
            <a:avLst/>
          </a:prstGeom>
          <a:solidFill>
            <a:srgbClr val="FFFFFF"/>
          </a:solidFill>
          <a:ln w="12700" cap="flat">
            <a:solidFill>
              <a:schemeClr val="bg1"/>
            </a:solidFill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4AD1059-523C-1EA5-3EB0-54775AD19B12}"/>
              </a:ext>
            </a:extLst>
          </p:cNvPr>
          <p:cNvSpPr txBox="1"/>
          <p:nvPr/>
        </p:nvSpPr>
        <p:spPr>
          <a:xfrm>
            <a:off x="963561" y="849445"/>
            <a:ext cx="9896168" cy="5371792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marL="342900" lvl="0" indent="-342900" algn="just">
              <a:lnSpc>
                <a:spcPct val="150000"/>
              </a:lnSpc>
              <a:spcAft>
                <a:spcPts val="800"/>
              </a:spcAft>
              <a:buFont typeface="+mj-lt"/>
              <a:buAutoNum type="arabicPeriod"/>
              <a:tabLst>
                <a:tab pos="457200" algn="l"/>
              </a:tabLst>
            </a:pPr>
            <a:r>
              <a:rPr lang="ru-RU" sz="2000" dirty="0">
                <a:solidFill>
                  <a:srgbClr val="0F1115"/>
                </a:solidFill>
                <a:effectLst/>
                <a:latin typeface="+mn-lt"/>
                <a:ea typeface="Times New Roman" panose="02020603050405020304" pitchFamily="18" charset="0"/>
                <a:cs typeface="Times New Roman" panose="02020603050405020304" pitchFamily="18" charset="0"/>
              </a:rPr>
              <a:t>Выбрать экономический документ в соответствии с заданием.</a:t>
            </a:r>
            <a:endParaRPr lang="en-US" sz="2000" dirty="0">
              <a:effectLst/>
              <a:latin typeface="+mn-lt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lvl="0" indent="-342900" algn="just">
              <a:lnSpc>
                <a:spcPct val="150000"/>
              </a:lnSpc>
              <a:spcAft>
                <a:spcPts val="800"/>
              </a:spcAft>
              <a:buFont typeface="+mj-lt"/>
              <a:buAutoNum type="arabicPeriod"/>
              <a:tabLst>
                <a:tab pos="457200" algn="l"/>
              </a:tabLst>
            </a:pPr>
            <a:r>
              <a:rPr lang="ru-RU" sz="2000" dirty="0">
                <a:solidFill>
                  <a:srgbClr val="0F1115"/>
                </a:solidFill>
                <a:effectLst/>
                <a:latin typeface="+mn-lt"/>
                <a:ea typeface="Times New Roman" panose="02020603050405020304" pitchFamily="18" charset="0"/>
                <a:cs typeface="Times New Roman" panose="02020603050405020304" pitchFamily="18" charset="0"/>
              </a:rPr>
              <a:t>Провести реквизитный анализ выбранного документа.</a:t>
            </a:r>
            <a:endParaRPr lang="en-US" sz="2000" dirty="0">
              <a:effectLst/>
              <a:latin typeface="+mn-lt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lvl="0" indent="-342900" algn="just">
              <a:lnSpc>
                <a:spcPct val="150000"/>
              </a:lnSpc>
              <a:spcAft>
                <a:spcPts val="800"/>
              </a:spcAft>
              <a:buFont typeface="+mj-lt"/>
              <a:buAutoNum type="arabicPeriod"/>
              <a:tabLst>
                <a:tab pos="457200" algn="l"/>
              </a:tabLst>
            </a:pPr>
            <a:r>
              <a:rPr lang="ru-RU" sz="2000" dirty="0">
                <a:solidFill>
                  <a:srgbClr val="0F1115"/>
                </a:solidFill>
                <a:effectLst/>
                <a:latin typeface="+mn-lt"/>
                <a:ea typeface="Times New Roman" panose="02020603050405020304" pitchFamily="18" charset="0"/>
                <a:cs typeface="Times New Roman" panose="02020603050405020304" pitchFamily="18" charset="0"/>
              </a:rPr>
              <a:t>Выделить в документе финансовые и экономические реквизиты.</a:t>
            </a:r>
            <a:endParaRPr lang="en-US" sz="2000" dirty="0">
              <a:effectLst/>
              <a:latin typeface="+mn-lt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lvl="0" indent="-342900" algn="just">
              <a:lnSpc>
                <a:spcPct val="150000"/>
              </a:lnSpc>
              <a:spcAft>
                <a:spcPts val="800"/>
              </a:spcAft>
              <a:buFont typeface="+mj-lt"/>
              <a:buAutoNum type="arabicPeriod"/>
              <a:tabLst>
                <a:tab pos="457200" algn="l"/>
              </a:tabLst>
            </a:pPr>
            <a:r>
              <a:rPr lang="ru-RU" sz="2000" dirty="0">
                <a:solidFill>
                  <a:srgbClr val="0F1115"/>
                </a:solidFill>
                <a:effectLst/>
                <a:latin typeface="+mn-lt"/>
                <a:ea typeface="Times New Roman" panose="02020603050405020304" pitchFamily="18" charset="0"/>
                <a:cs typeface="Times New Roman" panose="02020603050405020304" pitchFamily="18" charset="0"/>
              </a:rPr>
              <a:t>Изучить и описать процесс работы с документом, используя найденные в интернете источники.</a:t>
            </a:r>
            <a:endParaRPr lang="en-US" sz="2000" dirty="0">
              <a:effectLst/>
              <a:latin typeface="+mn-lt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lvl="0" indent="-342900" algn="just">
              <a:lnSpc>
                <a:spcPct val="150000"/>
              </a:lnSpc>
              <a:spcAft>
                <a:spcPts val="800"/>
              </a:spcAft>
              <a:buFont typeface="+mj-lt"/>
              <a:buAutoNum type="arabicPeriod"/>
              <a:tabLst>
                <a:tab pos="457200" algn="l"/>
              </a:tabLst>
            </a:pPr>
            <a:r>
              <a:rPr lang="ru-RU" sz="2000" dirty="0">
                <a:solidFill>
                  <a:srgbClr val="0F1115"/>
                </a:solidFill>
                <a:effectLst/>
                <a:latin typeface="+mn-lt"/>
                <a:ea typeface="Times New Roman" panose="02020603050405020304" pitchFamily="18" charset="0"/>
                <a:cs typeface="Times New Roman" panose="02020603050405020304" pitchFamily="18" charset="0"/>
              </a:rPr>
              <a:t>Изучить стандарт BPMN 2.0 и освоить инструмент для создания диаграмм.</a:t>
            </a:r>
            <a:endParaRPr lang="en-US" sz="2000" dirty="0">
              <a:effectLst/>
              <a:latin typeface="+mn-lt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lvl="0" indent="-342900" algn="just">
              <a:lnSpc>
                <a:spcPct val="150000"/>
              </a:lnSpc>
              <a:spcAft>
                <a:spcPts val="800"/>
              </a:spcAft>
              <a:buFont typeface="+mj-lt"/>
              <a:buAutoNum type="arabicPeriod"/>
              <a:tabLst>
                <a:tab pos="457200" algn="l"/>
              </a:tabLst>
            </a:pPr>
            <a:r>
              <a:rPr lang="ru-RU" sz="2000" dirty="0">
                <a:solidFill>
                  <a:srgbClr val="0F1115"/>
                </a:solidFill>
                <a:effectLst/>
                <a:latin typeface="+mn-lt"/>
                <a:ea typeface="Times New Roman" panose="02020603050405020304" pitchFamily="18" charset="0"/>
                <a:cs typeface="Times New Roman" panose="02020603050405020304" pitchFamily="18" charset="0"/>
              </a:rPr>
              <a:t>Разработать схему процесса обработки документа в нотации BPMN 2.0.</a:t>
            </a:r>
            <a:endParaRPr lang="en-US" sz="2000" dirty="0">
              <a:effectLst/>
              <a:latin typeface="+mn-lt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lvl="0" indent="-342900" algn="just">
              <a:lnSpc>
                <a:spcPct val="150000"/>
              </a:lnSpc>
              <a:spcAft>
                <a:spcPts val="800"/>
              </a:spcAft>
              <a:buFont typeface="+mj-lt"/>
              <a:buAutoNum type="arabicPeriod"/>
              <a:tabLst>
                <a:tab pos="457200" algn="l"/>
              </a:tabLst>
            </a:pPr>
            <a:r>
              <a:rPr lang="ru-RU" sz="2000" dirty="0">
                <a:solidFill>
                  <a:srgbClr val="0F1115"/>
                </a:solidFill>
                <a:effectLst/>
                <a:latin typeface="+mn-lt"/>
                <a:ea typeface="Times New Roman" panose="02020603050405020304" pitchFamily="18" charset="0"/>
                <a:cs typeface="Times New Roman" panose="02020603050405020304" pitchFamily="18" charset="0"/>
              </a:rPr>
              <a:t>Спроектировать базу данных для хранения информации из документа на концептуальном, логическом и физическом уровнях.</a:t>
            </a:r>
            <a:endParaRPr lang="en-US" sz="2000" dirty="0">
              <a:effectLst/>
              <a:latin typeface="+mn-lt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lvl="0" indent="-342900" algn="just">
              <a:lnSpc>
                <a:spcPct val="150000"/>
              </a:lnSpc>
              <a:spcAft>
                <a:spcPts val="800"/>
              </a:spcAft>
              <a:buFont typeface="+mj-lt"/>
              <a:buAutoNum type="arabicPeriod"/>
              <a:tabLst>
                <a:tab pos="457200" algn="l"/>
              </a:tabLst>
            </a:pPr>
            <a:r>
              <a:rPr lang="ru-RU" sz="2000" dirty="0">
                <a:solidFill>
                  <a:srgbClr val="0F1115"/>
                </a:solidFill>
                <a:effectLst/>
                <a:latin typeface="+mn-lt"/>
                <a:ea typeface="Times New Roman" panose="02020603050405020304" pitchFamily="18" charset="0"/>
                <a:cs typeface="Times New Roman" panose="02020603050405020304" pitchFamily="18" charset="0"/>
              </a:rPr>
              <a:t>Оформить отчет и сохранить его в репозитории.</a:t>
            </a:r>
            <a:endParaRPr lang="en-US" sz="2000" dirty="0">
              <a:effectLst/>
              <a:latin typeface="+mn-lt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959C283-2F3B-9343-D0E8-821A55D5CA6C}"/>
              </a:ext>
            </a:extLst>
          </p:cNvPr>
          <p:cNvSpPr txBox="1"/>
          <p:nvPr/>
        </p:nvSpPr>
        <p:spPr>
          <a:xfrm>
            <a:off x="963561" y="136832"/>
            <a:ext cx="3903407" cy="52321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ru-RU" sz="2800" b="1" i="0" u="none" strike="noStrike" cap="none" spc="0" normalizeH="0" baseline="0" dirty="0">
                <a:ln>
                  <a:noFill/>
                </a:ln>
                <a:solidFill>
                  <a:schemeClr val="accent1"/>
                </a:solidFill>
                <a:effectLst/>
                <a:uFillTx/>
                <a:latin typeface="+mn-lt"/>
                <a:ea typeface="Arial"/>
                <a:cs typeface="Arial"/>
                <a:sym typeface="Arial"/>
              </a:rPr>
              <a:t>ЗАДАЧИ</a:t>
            </a:r>
            <a:endParaRPr kumimoji="0" lang="en-US" sz="2800" b="1" i="0" u="none" strike="noStrike" cap="none" spc="0" normalizeH="0" baseline="0" dirty="0">
              <a:ln>
                <a:noFill/>
              </a:ln>
              <a:solidFill>
                <a:schemeClr val="accent1"/>
              </a:solidFill>
              <a:effectLst/>
              <a:uFillTx/>
              <a:latin typeface="+mn-lt"/>
              <a:ea typeface="Arial"/>
              <a:cs typeface="Arial"/>
              <a:sym typeface="Arial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CDA34B9-382B-69CA-075A-BEB4EA2BC646}"/>
              </a:ext>
            </a:extLst>
          </p:cNvPr>
          <p:cNvSpPr txBox="1"/>
          <p:nvPr/>
        </p:nvSpPr>
        <p:spPr>
          <a:xfrm>
            <a:off x="309716" y="229164"/>
            <a:ext cx="511277" cy="40010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ru-RU" sz="2000" b="1" i="0" u="none" strike="noStrike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+mn-lt"/>
                <a:ea typeface="Arial"/>
                <a:cs typeface="Arial"/>
                <a:sym typeface="Arial"/>
              </a:rPr>
              <a:t>4</a:t>
            </a:r>
            <a:endParaRPr kumimoji="0" lang="en-US" sz="2000" b="1" i="0" u="none" strike="noStrike" cap="none" spc="0" normalizeH="0" baseline="0" dirty="0">
              <a:ln>
                <a:noFill/>
              </a:ln>
              <a:solidFill>
                <a:schemeClr val="bg1"/>
              </a:solidFill>
              <a:effectLst/>
              <a:uFillTx/>
              <a:latin typeface="+mn-lt"/>
              <a:ea typeface="Arial"/>
              <a:cs typeface="Arial"/>
              <a:sym typeface="Arial"/>
            </a:endParaRP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3307E25E-5F0A-4713-A6B6-B7F18546D085}"/>
              </a:ext>
            </a:extLst>
          </p:cNvPr>
          <p:cNvSpPr/>
          <p:nvPr/>
        </p:nvSpPr>
        <p:spPr>
          <a:xfrm>
            <a:off x="1047750" y="6410632"/>
            <a:ext cx="2743200" cy="285136"/>
          </a:xfrm>
          <a:prstGeom prst="rect">
            <a:avLst/>
          </a:prstGeom>
          <a:solidFill>
            <a:srgbClr val="FFFFFF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75086692"/>
      </p:ext>
    </p:extLst>
  </p:cSld>
  <p:clrMapOvr>
    <a:masterClrMapping/>
  </p:clrMapOvr>
  <p:transition spd="med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DC830BA0-522C-F045-30D9-6AA9F8291E9E}"/>
              </a:ext>
            </a:extLst>
          </p:cNvPr>
          <p:cNvSpPr/>
          <p:nvPr/>
        </p:nvSpPr>
        <p:spPr>
          <a:xfrm>
            <a:off x="609600" y="6410632"/>
            <a:ext cx="511277" cy="285136"/>
          </a:xfrm>
          <a:prstGeom prst="rect">
            <a:avLst/>
          </a:prstGeom>
          <a:solidFill>
            <a:srgbClr val="FFFFFF"/>
          </a:solidFill>
          <a:ln w="12700" cap="flat">
            <a:solidFill>
              <a:schemeClr val="bg1"/>
            </a:solidFill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4AD1059-523C-1EA5-3EB0-54775AD19B12}"/>
              </a:ext>
            </a:extLst>
          </p:cNvPr>
          <p:cNvSpPr txBox="1"/>
          <p:nvPr/>
        </p:nvSpPr>
        <p:spPr>
          <a:xfrm>
            <a:off x="963561" y="1532547"/>
            <a:ext cx="10849898" cy="3767506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lvl="0" algn="just">
              <a:lnSpc>
                <a:spcPct val="150000"/>
              </a:lnSpc>
              <a:spcAft>
                <a:spcPts val="800"/>
              </a:spcAft>
              <a:buSzPts val="1000"/>
              <a:tabLst>
                <a:tab pos="457200" algn="l"/>
              </a:tabLst>
            </a:pPr>
            <a:r>
              <a:rPr lang="ru-RU" sz="2400" b="1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Операционная система</a:t>
            </a:r>
            <a:r>
              <a:rPr lang="ru-RU" sz="2400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: Microsoft Windows 11</a:t>
            </a:r>
            <a:r>
              <a:rPr lang="en-US" sz="2400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pro</a:t>
            </a:r>
            <a:endParaRPr lang="en-US" sz="2400" dirty="0">
              <a:solidFill>
                <a:srgbClr val="0F1115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lvl="0" algn="just">
              <a:lnSpc>
                <a:spcPct val="150000"/>
              </a:lnSpc>
              <a:spcAft>
                <a:spcPts val="800"/>
              </a:spcAft>
              <a:buSzPts val="1000"/>
              <a:tabLst>
                <a:tab pos="457200" algn="l"/>
              </a:tabLst>
            </a:pPr>
            <a:r>
              <a:rPr lang="ru-RU" sz="2400" b="1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Текстовый редактор</a:t>
            </a:r>
            <a:r>
              <a:rPr lang="ru-RU" sz="2400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: Microsoft Word 2021</a:t>
            </a:r>
            <a:endParaRPr lang="en-US" sz="2400" dirty="0">
              <a:solidFill>
                <a:srgbClr val="0F1115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lvl="0" algn="just">
              <a:lnSpc>
                <a:spcPct val="150000"/>
              </a:lnSpc>
              <a:spcAft>
                <a:spcPts val="800"/>
              </a:spcAft>
              <a:buSzPts val="1000"/>
              <a:tabLst>
                <a:tab pos="457200" algn="l"/>
              </a:tabLst>
            </a:pPr>
            <a:r>
              <a:rPr lang="ru-RU" sz="2400" b="1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Инструмент BPMN-моделирования</a:t>
            </a:r>
            <a:r>
              <a:rPr lang="ru-RU" sz="2400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ru-RU" sz="2400" dirty="0" err="1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Stormbpmn</a:t>
            </a:r>
            <a:r>
              <a:rPr lang="ru-RU" sz="2400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pPr lvl="0" algn="just">
              <a:lnSpc>
                <a:spcPct val="150000"/>
              </a:lnSpc>
              <a:spcAft>
                <a:spcPts val="800"/>
              </a:spcAft>
              <a:buSzPts val="1000"/>
              <a:tabLst>
                <a:tab pos="457200" algn="l"/>
              </a:tabLst>
            </a:pPr>
            <a:r>
              <a:rPr lang="ru-RU" sz="2400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(онлайн-сервис, https://stormbpmn.com/)</a:t>
            </a:r>
            <a:endParaRPr lang="en-US" sz="2400" dirty="0">
              <a:solidFill>
                <a:srgbClr val="0F1115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lvl="0" algn="just">
              <a:lnSpc>
                <a:spcPct val="150000"/>
              </a:lnSpc>
              <a:spcAft>
                <a:spcPts val="800"/>
              </a:spcAft>
              <a:buSzPts val="1000"/>
              <a:tabLst>
                <a:tab pos="457200" algn="l"/>
              </a:tabLst>
            </a:pPr>
            <a:r>
              <a:rPr lang="ru-RU" sz="2400" b="1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Инструмент проектирования БД</a:t>
            </a:r>
            <a:r>
              <a:rPr lang="ru-RU" sz="2400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: Draw.io (онлайн-сервис для создания диаграмм)</a:t>
            </a:r>
            <a:endParaRPr lang="en-US" sz="2400" dirty="0">
              <a:solidFill>
                <a:srgbClr val="0F1115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959C283-2F3B-9343-D0E8-821A55D5CA6C}"/>
              </a:ext>
            </a:extLst>
          </p:cNvPr>
          <p:cNvSpPr txBox="1"/>
          <p:nvPr/>
        </p:nvSpPr>
        <p:spPr>
          <a:xfrm>
            <a:off x="963561" y="136832"/>
            <a:ext cx="4699820" cy="52321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ru-RU" sz="2800" b="1" i="0" u="none" strike="noStrike" cap="none" spc="0" normalizeH="0" baseline="0" dirty="0">
                <a:ln>
                  <a:noFill/>
                </a:ln>
                <a:solidFill>
                  <a:schemeClr val="accent1"/>
                </a:solidFill>
                <a:effectLst/>
                <a:uFillTx/>
                <a:latin typeface="+mn-lt"/>
                <a:ea typeface="Arial"/>
                <a:cs typeface="Arial"/>
                <a:sym typeface="Arial"/>
              </a:rPr>
              <a:t>ИСПОЛЬЗУЕМОЕ ПО</a:t>
            </a:r>
            <a:endParaRPr kumimoji="0" lang="en-US" sz="2800" b="1" i="0" u="none" strike="noStrike" cap="none" spc="0" normalizeH="0" baseline="0" dirty="0">
              <a:ln>
                <a:noFill/>
              </a:ln>
              <a:solidFill>
                <a:schemeClr val="accent1"/>
              </a:solidFill>
              <a:effectLst/>
              <a:uFillTx/>
              <a:latin typeface="+mn-lt"/>
              <a:ea typeface="Arial"/>
              <a:cs typeface="Arial"/>
              <a:sym typeface="Arial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CDA34B9-382B-69CA-075A-BEB4EA2BC646}"/>
              </a:ext>
            </a:extLst>
          </p:cNvPr>
          <p:cNvSpPr txBox="1"/>
          <p:nvPr/>
        </p:nvSpPr>
        <p:spPr>
          <a:xfrm>
            <a:off x="309716" y="229164"/>
            <a:ext cx="511277" cy="40010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ru-RU" sz="2000" b="1" i="0" u="none" strike="noStrike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+mn-lt"/>
                <a:ea typeface="Arial"/>
                <a:cs typeface="Arial"/>
                <a:sym typeface="Arial"/>
              </a:rPr>
              <a:t>5</a:t>
            </a:r>
            <a:endParaRPr kumimoji="0" lang="en-US" sz="2000" b="1" i="0" u="none" strike="noStrike" cap="none" spc="0" normalizeH="0" baseline="0" dirty="0">
              <a:ln>
                <a:noFill/>
              </a:ln>
              <a:solidFill>
                <a:schemeClr val="bg1"/>
              </a:solidFill>
              <a:effectLst/>
              <a:uFillTx/>
              <a:latin typeface="+mn-lt"/>
              <a:ea typeface="Arial"/>
              <a:cs typeface="Arial"/>
              <a:sym typeface="Arial"/>
            </a:endParaRP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0F1C9547-3C72-46E1-93E5-458F1EE393AF}"/>
              </a:ext>
            </a:extLst>
          </p:cNvPr>
          <p:cNvSpPr/>
          <p:nvPr/>
        </p:nvSpPr>
        <p:spPr>
          <a:xfrm>
            <a:off x="1047750" y="6410632"/>
            <a:ext cx="2743200" cy="285136"/>
          </a:xfrm>
          <a:prstGeom prst="rect">
            <a:avLst/>
          </a:prstGeom>
          <a:solidFill>
            <a:srgbClr val="FFFFFF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258650071"/>
      </p:ext>
    </p:extLst>
  </p:cSld>
  <p:clrMapOvr>
    <a:masterClrMapping/>
  </p:clrMapOvr>
  <p:transition spd="med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DC830BA0-522C-F045-30D9-6AA9F8291E9E}"/>
              </a:ext>
            </a:extLst>
          </p:cNvPr>
          <p:cNvSpPr/>
          <p:nvPr/>
        </p:nvSpPr>
        <p:spPr>
          <a:xfrm>
            <a:off x="609600" y="6410632"/>
            <a:ext cx="511277" cy="285136"/>
          </a:xfrm>
          <a:prstGeom prst="rect">
            <a:avLst/>
          </a:prstGeom>
          <a:solidFill>
            <a:srgbClr val="FFFFFF"/>
          </a:solidFill>
          <a:ln w="12700" cap="flat">
            <a:solidFill>
              <a:schemeClr val="bg1"/>
            </a:solidFill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4AD1059-523C-1EA5-3EB0-54775AD19B12}"/>
              </a:ext>
            </a:extLst>
          </p:cNvPr>
          <p:cNvSpPr txBox="1"/>
          <p:nvPr/>
        </p:nvSpPr>
        <p:spPr>
          <a:xfrm>
            <a:off x="5142272" y="1095486"/>
            <a:ext cx="7251289" cy="4465133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indent="449580" algn="just">
              <a:lnSpc>
                <a:spcPct val="150000"/>
              </a:lnSpc>
              <a:spcAft>
                <a:spcPts val="800"/>
              </a:spcAft>
            </a:pPr>
            <a:r>
              <a:rPr lang="ru-RU" sz="2400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Для выполнения лабораторной работы был выбран документ, представленный на изображении. Это кассовый чек, сформированный обществом с ограниченной ответственностью «Альфа». Данный документ является первичным учетным документом, подтверждающим факт приобретения товара (мебельного гарнитура) и осуществления денежного расчета.</a:t>
            </a:r>
            <a:endParaRPr lang="en-US" sz="24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959C283-2F3B-9343-D0E8-821A55D5CA6C}"/>
              </a:ext>
            </a:extLst>
          </p:cNvPr>
          <p:cNvSpPr txBox="1"/>
          <p:nvPr/>
        </p:nvSpPr>
        <p:spPr>
          <a:xfrm>
            <a:off x="963561" y="167609"/>
            <a:ext cx="6479458" cy="52321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ru-RU" sz="2800" b="1" i="0" u="none" strike="noStrike" cap="none" spc="0" normalizeH="0" baseline="0" dirty="0">
                <a:ln>
                  <a:noFill/>
                </a:ln>
                <a:solidFill>
                  <a:schemeClr val="accent1"/>
                </a:solidFill>
                <a:effectLst/>
                <a:uFillTx/>
                <a:latin typeface="+mn-lt"/>
                <a:ea typeface="Arial"/>
                <a:cs typeface="Arial"/>
                <a:sym typeface="Arial"/>
              </a:rPr>
              <a:t>ВЫБОР ДОКУМЕНТА</a:t>
            </a:r>
            <a:endParaRPr kumimoji="0" lang="en-US" sz="2800" b="1" i="0" u="none" strike="noStrike" cap="none" spc="0" normalizeH="0" baseline="0" dirty="0">
              <a:ln>
                <a:noFill/>
              </a:ln>
              <a:solidFill>
                <a:schemeClr val="accent1"/>
              </a:solidFill>
              <a:effectLst/>
              <a:uFillTx/>
              <a:latin typeface="+mn-lt"/>
              <a:ea typeface="Arial"/>
              <a:cs typeface="Arial"/>
              <a:sym typeface="Arial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CDA34B9-382B-69CA-075A-BEB4EA2BC646}"/>
              </a:ext>
            </a:extLst>
          </p:cNvPr>
          <p:cNvSpPr txBox="1"/>
          <p:nvPr/>
        </p:nvSpPr>
        <p:spPr>
          <a:xfrm>
            <a:off x="309716" y="229164"/>
            <a:ext cx="511277" cy="40010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ru-RU" sz="2000" b="1" i="0" u="none" strike="noStrike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+mn-lt"/>
                <a:ea typeface="Arial"/>
                <a:cs typeface="Arial"/>
                <a:sym typeface="Arial"/>
              </a:rPr>
              <a:t>6</a:t>
            </a:r>
            <a:endParaRPr kumimoji="0" lang="en-US" sz="2000" b="1" i="0" u="none" strike="noStrike" cap="none" spc="0" normalizeH="0" baseline="0" dirty="0">
              <a:ln>
                <a:noFill/>
              </a:ln>
              <a:solidFill>
                <a:schemeClr val="bg1"/>
              </a:solidFill>
              <a:effectLst/>
              <a:uFillTx/>
              <a:latin typeface="+mn-lt"/>
              <a:ea typeface="Arial"/>
              <a:cs typeface="Arial"/>
              <a:sym typeface="Arial"/>
            </a:endParaRP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69FCA092-49CB-9337-8745-AFDA6217D72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47634" y="812175"/>
            <a:ext cx="3238500" cy="5401310"/>
          </a:xfrm>
          <a:prstGeom prst="rect">
            <a:avLst/>
          </a:prstGeom>
        </p:spPr>
      </p:pic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EE4C8503-7455-49B9-8A5E-C67C95CC2575}"/>
              </a:ext>
            </a:extLst>
          </p:cNvPr>
          <p:cNvSpPr/>
          <p:nvPr/>
        </p:nvSpPr>
        <p:spPr>
          <a:xfrm>
            <a:off x="1047750" y="6410632"/>
            <a:ext cx="2743200" cy="285136"/>
          </a:xfrm>
          <a:prstGeom prst="rect">
            <a:avLst/>
          </a:prstGeom>
          <a:solidFill>
            <a:srgbClr val="FFFFFF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95360220"/>
      </p:ext>
    </p:extLst>
  </p:cSld>
  <p:clrMapOvr>
    <a:masterClrMapping/>
  </p:clrMapOvr>
  <p:transition spd="med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DC830BA0-522C-F045-30D9-6AA9F8291E9E}"/>
              </a:ext>
            </a:extLst>
          </p:cNvPr>
          <p:cNvSpPr/>
          <p:nvPr/>
        </p:nvSpPr>
        <p:spPr>
          <a:xfrm>
            <a:off x="609600" y="6410632"/>
            <a:ext cx="511277" cy="285136"/>
          </a:xfrm>
          <a:prstGeom prst="rect">
            <a:avLst/>
          </a:prstGeom>
          <a:solidFill>
            <a:srgbClr val="FFFFFF"/>
          </a:solidFill>
          <a:ln w="12700" cap="flat">
            <a:solidFill>
              <a:schemeClr val="bg1"/>
            </a:solidFill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4AD1059-523C-1EA5-3EB0-54775AD19B12}"/>
              </a:ext>
            </a:extLst>
          </p:cNvPr>
          <p:cNvSpPr txBox="1"/>
          <p:nvPr/>
        </p:nvSpPr>
        <p:spPr>
          <a:xfrm>
            <a:off x="980766" y="975032"/>
            <a:ext cx="10658783" cy="5341462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indent="449580" algn="just">
              <a:lnSpc>
                <a:spcPct val="150000"/>
              </a:lnSpc>
              <a:spcAft>
                <a:spcPts val="800"/>
              </a:spcAft>
            </a:pPr>
            <a:r>
              <a:rPr lang="ru-RU" sz="2800" dirty="0">
                <a:solidFill>
                  <a:srgbClr val="0F1115"/>
                </a:solidFill>
                <a:effectLst/>
                <a:latin typeface="+mn-lt"/>
                <a:ea typeface="Times New Roman" panose="02020603050405020304" pitchFamily="18" charset="0"/>
                <a:cs typeface="Times New Roman" panose="02020603050405020304" pitchFamily="18" charset="0"/>
              </a:rPr>
              <a:t>В ходе анализа структуры кассового чека были выделены постоянные и переменные реквизиты, а также идентифицированы обязательные элементы, предусмотренные Федеральным законом № 54-ФЗ.</a:t>
            </a:r>
            <a:endParaRPr lang="en-US" sz="2800" dirty="0">
              <a:effectLst/>
              <a:latin typeface="+mn-lt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indent="449580" algn="just">
              <a:lnSpc>
                <a:spcPct val="150000"/>
              </a:lnSpc>
              <a:spcBef>
                <a:spcPts val="1200"/>
              </a:spcBef>
              <a:spcAft>
                <a:spcPts val="800"/>
              </a:spcAft>
            </a:pPr>
            <a:r>
              <a:rPr lang="ru-RU" sz="2800" b="1" dirty="0">
                <a:effectLst/>
                <a:latin typeface="+mn-lt"/>
                <a:ea typeface="Calibri" panose="020F0502020204030204" pitchFamily="34" charset="0"/>
                <a:cs typeface="Times New Roman" panose="02020603050405020304" pitchFamily="18" charset="0"/>
              </a:rPr>
              <a:t>Кассовый чек </a:t>
            </a:r>
            <a:r>
              <a:rPr lang="ru-RU" sz="2800" dirty="0">
                <a:effectLst/>
                <a:latin typeface="+mn-lt"/>
                <a:ea typeface="Calibri" panose="020F0502020204030204" pitchFamily="34" charset="0"/>
                <a:cs typeface="Times New Roman" panose="02020603050405020304" pitchFamily="18" charset="0"/>
              </a:rPr>
              <a:t>— это документ, подтверждающий факт оплаты товаров или услуг. Его структура включает следующие обязательные реквизиты.</a:t>
            </a:r>
            <a:endParaRPr lang="en-US" sz="2800" dirty="0">
              <a:effectLst/>
              <a:latin typeface="+mn-lt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algn="just">
              <a:lnSpc>
                <a:spcPct val="150000"/>
              </a:lnSpc>
            </a:pPr>
            <a:endParaRPr lang="en-US" sz="18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959C283-2F3B-9343-D0E8-821A55D5CA6C}"/>
              </a:ext>
            </a:extLst>
          </p:cNvPr>
          <p:cNvSpPr txBox="1"/>
          <p:nvPr/>
        </p:nvSpPr>
        <p:spPr>
          <a:xfrm>
            <a:off x="980767" y="186659"/>
            <a:ext cx="8937523" cy="52321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ru-RU" sz="2800" b="1" i="0" u="none" strike="noStrike" cap="none" spc="0" normalizeH="0" baseline="0" dirty="0">
                <a:ln>
                  <a:noFill/>
                </a:ln>
                <a:solidFill>
                  <a:schemeClr val="accent1"/>
                </a:solidFill>
                <a:effectLst/>
                <a:uFillTx/>
                <a:latin typeface="+mn-lt"/>
                <a:ea typeface="Arial"/>
                <a:cs typeface="Arial"/>
                <a:sym typeface="Arial"/>
              </a:rPr>
              <a:t>РЕКВИЗИТНЫЙ АНАЛИЗ ДОКУМЕНТА</a:t>
            </a:r>
            <a:endParaRPr kumimoji="0" lang="en-US" sz="2800" b="1" i="0" u="none" strike="noStrike" cap="none" spc="0" normalizeH="0" baseline="0" dirty="0">
              <a:ln>
                <a:noFill/>
              </a:ln>
              <a:solidFill>
                <a:schemeClr val="accent1"/>
              </a:solidFill>
              <a:effectLst/>
              <a:uFillTx/>
              <a:latin typeface="+mn-lt"/>
              <a:ea typeface="Arial"/>
              <a:cs typeface="Arial"/>
              <a:sym typeface="Arial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CDA34B9-382B-69CA-075A-BEB4EA2BC646}"/>
              </a:ext>
            </a:extLst>
          </p:cNvPr>
          <p:cNvSpPr txBox="1"/>
          <p:nvPr/>
        </p:nvSpPr>
        <p:spPr>
          <a:xfrm>
            <a:off x="309716" y="229164"/>
            <a:ext cx="511277" cy="40010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ru-RU" sz="2000" b="1" i="0" u="none" strike="noStrike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+mn-lt"/>
                <a:ea typeface="Arial"/>
                <a:cs typeface="Arial"/>
                <a:sym typeface="Arial"/>
              </a:rPr>
              <a:t>7</a:t>
            </a:r>
            <a:endParaRPr kumimoji="0" lang="en-US" sz="2000" b="1" i="0" u="none" strike="noStrike" cap="none" spc="0" normalizeH="0" baseline="0" dirty="0">
              <a:ln>
                <a:noFill/>
              </a:ln>
              <a:solidFill>
                <a:schemeClr val="bg1"/>
              </a:solidFill>
              <a:effectLst/>
              <a:uFillTx/>
              <a:latin typeface="+mn-lt"/>
              <a:ea typeface="Arial"/>
              <a:cs typeface="Arial"/>
              <a:sym typeface="Arial"/>
            </a:endParaRP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A03B36CC-D31B-4790-AF82-5A258143183C}"/>
              </a:ext>
            </a:extLst>
          </p:cNvPr>
          <p:cNvSpPr/>
          <p:nvPr/>
        </p:nvSpPr>
        <p:spPr>
          <a:xfrm>
            <a:off x="1047750" y="6410632"/>
            <a:ext cx="2743200" cy="285136"/>
          </a:xfrm>
          <a:prstGeom prst="rect">
            <a:avLst/>
          </a:prstGeom>
          <a:solidFill>
            <a:srgbClr val="FFFFFF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967102226"/>
      </p:ext>
    </p:extLst>
  </p:cSld>
  <p:clrMapOvr>
    <a:masterClrMapping/>
  </p:clrMapOvr>
  <p:transition spd="med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DC830BA0-522C-F045-30D9-6AA9F8291E9E}"/>
              </a:ext>
            </a:extLst>
          </p:cNvPr>
          <p:cNvSpPr/>
          <p:nvPr/>
        </p:nvSpPr>
        <p:spPr>
          <a:xfrm>
            <a:off x="609600" y="6410632"/>
            <a:ext cx="511277" cy="285136"/>
          </a:xfrm>
          <a:prstGeom prst="rect">
            <a:avLst/>
          </a:prstGeom>
          <a:solidFill>
            <a:srgbClr val="FFFFFF"/>
          </a:solidFill>
          <a:ln w="12700" cap="flat">
            <a:solidFill>
              <a:schemeClr val="bg1"/>
            </a:solidFill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4AD1059-523C-1EA5-3EB0-54775AD19B12}"/>
              </a:ext>
            </a:extLst>
          </p:cNvPr>
          <p:cNvSpPr txBox="1"/>
          <p:nvPr/>
        </p:nvSpPr>
        <p:spPr>
          <a:xfrm>
            <a:off x="560438" y="1187324"/>
            <a:ext cx="11833123" cy="4457952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b="1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Постоянные реквизиты (остаются неизменными для всех чеков данного продавца):</a:t>
            </a:r>
            <a:endParaRPr lang="en-US" sz="24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342900" lvl="0" indent="-342900" algn="just">
              <a:lnSpc>
                <a:spcPct val="150000"/>
              </a:lnSpc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ru-RU" sz="2400" b="1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Наименование продавца</a:t>
            </a:r>
            <a:r>
              <a:rPr lang="ru-RU" sz="2400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: ООО «Альфа»</a:t>
            </a:r>
            <a:endParaRPr lang="en-US" sz="24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342900" lvl="0" indent="-342900" algn="just">
              <a:lnSpc>
                <a:spcPct val="150000"/>
              </a:lnSpc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ru-RU" sz="2400" b="1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ИНН продавца</a:t>
            </a:r>
            <a:r>
              <a:rPr lang="ru-RU" sz="2400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: 7701123456</a:t>
            </a:r>
            <a:endParaRPr lang="en-US" sz="24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342900" lvl="0" indent="-342900" algn="just">
              <a:lnSpc>
                <a:spcPct val="150000"/>
              </a:lnSpc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ru-RU" sz="2400" b="1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Система налогообложения (СНО)</a:t>
            </a:r>
            <a:r>
              <a:rPr lang="ru-RU" sz="2400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: ОСН (Общая система налогообложения)</a:t>
            </a:r>
            <a:endParaRPr lang="en-US" sz="24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342900" lvl="0" indent="-342900" algn="just">
              <a:lnSpc>
                <a:spcPct val="150000"/>
              </a:lnSpc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ru-RU" sz="2400" b="1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Адрес и место расчетов</a:t>
            </a:r>
            <a:r>
              <a:rPr lang="ru-RU" sz="2400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: 121000 г. Москва, ул. Лесная д. 8, Деловой центр «АВС», офис 500</a:t>
            </a:r>
            <a:endParaRPr lang="en-US" sz="24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342900" lvl="0" indent="-342900" algn="just">
              <a:lnSpc>
                <a:spcPct val="150000"/>
              </a:lnSpc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ru-RU" sz="2400" b="1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Регистрационный номер ККТ (РН ККТ)</a:t>
            </a:r>
            <a:r>
              <a:rPr lang="ru-RU" sz="2400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: 0000000012345678</a:t>
            </a:r>
            <a:endParaRPr lang="en-US" sz="24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342900" lvl="0" indent="-342900" algn="just">
              <a:lnSpc>
                <a:spcPct val="150000"/>
              </a:lnSpc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ru-RU" sz="2400" b="1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Сайт ФНС</a:t>
            </a:r>
            <a:r>
              <a:rPr lang="ru-RU" sz="2400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: </a:t>
            </a:r>
            <a:r>
              <a:rPr lang="ru-RU" sz="2400" u="none" strike="noStrike" dirty="0">
                <a:solidFill>
                  <a:srgbClr val="0070C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hlinkClick r:id="rId2"/>
              </a:rPr>
              <a:t>www.nalog.gov.ru</a:t>
            </a:r>
            <a:endParaRPr lang="en-US" sz="24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CDA34B9-382B-69CA-075A-BEB4EA2BC646}"/>
              </a:ext>
            </a:extLst>
          </p:cNvPr>
          <p:cNvSpPr txBox="1"/>
          <p:nvPr/>
        </p:nvSpPr>
        <p:spPr>
          <a:xfrm>
            <a:off x="309716" y="229164"/>
            <a:ext cx="511277" cy="40010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ru-RU" sz="2000" b="1" dirty="0">
                <a:solidFill>
                  <a:schemeClr val="bg1"/>
                </a:solidFill>
                <a:latin typeface="+mn-lt"/>
              </a:rPr>
              <a:t>8</a:t>
            </a:r>
            <a:endParaRPr kumimoji="0" lang="en-US" sz="2000" b="1" i="0" u="none" strike="noStrike" cap="none" spc="0" normalizeH="0" baseline="0" dirty="0">
              <a:ln>
                <a:noFill/>
              </a:ln>
              <a:solidFill>
                <a:schemeClr val="bg1"/>
              </a:solidFill>
              <a:effectLst/>
              <a:uFillTx/>
              <a:latin typeface="+mn-lt"/>
              <a:ea typeface="Arial"/>
              <a:cs typeface="Arial"/>
              <a:sym typeface="Arial"/>
            </a:endParaRP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73610E19-D359-4B9F-B603-9DACEDDE834E}"/>
              </a:ext>
            </a:extLst>
          </p:cNvPr>
          <p:cNvSpPr/>
          <p:nvPr/>
        </p:nvSpPr>
        <p:spPr>
          <a:xfrm>
            <a:off x="1047750" y="6410632"/>
            <a:ext cx="2743200" cy="285136"/>
          </a:xfrm>
          <a:prstGeom prst="rect">
            <a:avLst/>
          </a:prstGeom>
          <a:solidFill>
            <a:srgbClr val="FFFFFF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9A310D6-9F57-4E21-88B3-BDF785149FDB}"/>
              </a:ext>
            </a:extLst>
          </p:cNvPr>
          <p:cNvSpPr txBox="1"/>
          <p:nvPr/>
        </p:nvSpPr>
        <p:spPr>
          <a:xfrm>
            <a:off x="980767" y="186659"/>
            <a:ext cx="8937523" cy="52321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ru-RU" sz="2800" b="1" i="0" u="none" strike="noStrike" cap="none" spc="0" normalizeH="0" baseline="0" dirty="0">
                <a:ln>
                  <a:noFill/>
                </a:ln>
                <a:solidFill>
                  <a:schemeClr val="accent1"/>
                </a:solidFill>
                <a:effectLst/>
                <a:uFillTx/>
                <a:latin typeface="+mn-lt"/>
                <a:ea typeface="Arial"/>
                <a:cs typeface="Arial"/>
                <a:sym typeface="Arial"/>
              </a:rPr>
              <a:t>РЕКВИЗИТНЫЙ АНАЛИЗ ДОКУМЕНТА</a:t>
            </a:r>
            <a:endParaRPr kumimoji="0" lang="en-US" sz="2800" b="1" i="0" u="none" strike="noStrike" cap="none" spc="0" normalizeH="0" baseline="0" dirty="0">
              <a:ln>
                <a:noFill/>
              </a:ln>
              <a:solidFill>
                <a:schemeClr val="accent1"/>
              </a:solidFill>
              <a:effectLst/>
              <a:uFillTx/>
              <a:latin typeface="+mn-lt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974470600"/>
      </p:ext>
    </p:extLst>
  </p:cSld>
  <p:clrMapOvr>
    <a:masterClrMapping/>
  </p:clrMapOvr>
  <p:transition spd="med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DC830BA0-522C-F045-30D9-6AA9F8291E9E}"/>
              </a:ext>
            </a:extLst>
          </p:cNvPr>
          <p:cNvSpPr/>
          <p:nvPr/>
        </p:nvSpPr>
        <p:spPr>
          <a:xfrm>
            <a:off x="609600" y="6410632"/>
            <a:ext cx="511277" cy="285136"/>
          </a:xfrm>
          <a:prstGeom prst="rect">
            <a:avLst/>
          </a:prstGeom>
          <a:solidFill>
            <a:srgbClr val="FFFFFF"/>
          </a:solidFill>
          <a:ln w="12700" cap="flat">
            <a:solidFill>
              <a:schemeClr val="bg1"/>
            </a:solidFill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4AD1059-523C-1EA5-3EB0-54775AD19B12}"/>
              </a:ext>
            </a:extLst>
          </p:cNvPr>
          <p:cNvSpPr txBox="1"/>
          <p:nvPr/>
        </p:nvSpPr>
        <p:spPr>
          <a:xfrm>
            <a:off x="865238" y="736979"/>
            <a:ext cx="11213691" cy="5565947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b="1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Переменные реквизиты (уникальны для каждой операции):</a:t>
            </a:r>
            <a:endParaRPr lang="en-US" sz="24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342900" lvl="0" indent="-342900" algn="just">
              <a:lnSpc>
                <a:spcPct val="150000"/>
              </a:lnSpc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ru-RU" sz="2400" b="1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Наименование документа</a:t>
            </a:r>
            <a:r>
              <a:rPr lang="ru-RU" sz="2400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: «КАССОВЫЙ ЧЕК»</a:t>
            </a:r>
            <a:endParaRPr lang="en-US" sz="24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342900" lvl="0" indent="-342900" algn="just">
              <a:lnSpc>
                <a:spcPct val="150000"/>
              </a:lnSpc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ru-RU" sz="2400" b="1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Признак расчета</a:t>
            </a:r>
            <a:r>
              <a:rPr lang="ru-RU" sz="2400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: Указание типа операции, "ПРИХОД" (получение средств от покупателя).</a:t>
            </a:r>
            <a:endParaRPr lang="en-US" sz="24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342900" lvl="0" indent="-342900" algn="just">
              <a:lnSpc>
                <a:spcPct val="150000"/>
              </a:lnSpc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ru-RU" sz="2400" b="1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Наименование товара</a:t>
            </a:r>
            <a:r>
              <a:rPr lang="ru-RU" sz="2400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: Мебельный гарнитур «Вектор»</a:t>
            </a:r>
            <a:endParaRPr lang="en-US" sz="24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342900" lvl="0" indent="-342900" algn="just">
              <a:lnSpc>
                <a:spcPct val="150000"/>
              </a:lnSpc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ru-RU" sz="2400" b="1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Количество товара</a:t>
            </a:r>
            <a:r>
              <a:rPr lang="ru-RU" sz="2400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: 1.00</a:t>
            </a:r>
            <a:endParaRPr lang="en-US" sz="24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342900" lvl="0" indent="-342900" algn="just">
              <a:lnSpc>
                <a:spcPct val="150000"/>
              </a:lnSpc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ru-RU" sz="2400" b="1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Цена за единицу</a:t>
            </a:r>
            <a:r>
              <a:rPr lang="ru-RU" sz="2400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: 24 000.00</a:t>
            </a:r>
            <a:endParaRPr lang="en-US" sz="24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342900" lvl="0" indent="-342900" algn="just">
              <a:lnSpc>
                <a:spcPct val="150000"/>
              </a:lnSpc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ru-RU" sz="2400" b="1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Стоимость с учетом скидок/наценок (ИТОГ)</a:t>
            </a:r>
            <a:r>
              <a:rPr lang="ru-RU" sz="2400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: 24 000.00</a:t>
            </a:r>
            <a:endParaRPr lang="en-US" sz="24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342900" lvl="0" indent="-342900" algn="just">
              <a:lnSpc>
                <a:spcPct val="150000"/>
              </a:lnSpc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ru-RU" sz="2400" b="1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Сумма НДС</a:t>
            </a:r>
            <a:r>
              <a:rPr lang="ru-RU" sz="2400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: 4 000.00 (выделена отдельной строкой)</a:t>
            </a:r>
            <a:endParaRPr lang="en-US" sz="24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342900" lvl="0" indent="-342900" algn="just">
              <a:lnSpc>
                <a:spcPct val="150000"/>
              </a:lnSpc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ru-RU" sz="2400" b="1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Признак предмета расчета</a:t>
            </a:r>
            <a:r>
              <a:rPr lang="ru-RU" sz="2400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: ТОВАР</a:t>
            </a:r>
            <a:endParaRPr lang="en-US" sz="24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CDA34B9-382B-69CA-075A-BEB4EA2BC646}"/>
              </a:ext>
            </a:extLst>
          </p:cNvPr>
          <p:cNvSpPr txBox="1"/>
          <p:nvPr/>
        </p:nvSpPr>
        <p:spPr>
          <a:xfrm>
            <a:off x="309716" y="229164"/>
            <a:ext cx="511277" cy="40010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ru-RU" sz="2000" b="1" i="0" u="none" strike="noStrike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+mn-lt"/>
                <a:ea typeface="Arial"/>
                <a:cs typeface="Arial"/>
                <a:sym typeface="Arial"/>
              </a:rPr>
              <a:t>9</a:t>
            </a:r>
            <a:endParaRPr kumimoji="0" lang="en-US" sz="2000" b="1" i="0" u="none" strike="noStrike" cap="none" spc="0" normalizeH="0" baseline="0" dirty="0">
              <a:ln>
                <a:noFill/>
              </a:ln>
              <a:solidFill>
                <a:schemeClr val="bg1"/>
              </a:solidFill>
              <a:effectLst/>
              <a:uFillTx/>
              <a:latin typeface="+mn-lt"/>
              <a:ea typeface="Arial"/>
              <a:cs typeface="Arial"/>
              <a:sym typeface="Arial"/>
            </a:endParaRP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F164C5CC-5C2D-426E-8BD7-687581871316}"/>
              </a:ext>
            </a:extLst>
          </p:cNvPr>
          <p:cNvSpPr/>
          <p:nvPr/>
        </p:nvSpPr>
        <p:spPr>
          <a:xfrm>
            <a:off x="1047750" y="6410632"/>
            <a:ext cx="2743200" cy="285136"/>
          </a:xfrm>
          <a:prstGeom prst="rect">
            <a:avLst/>
          </a:prstGeom>
          <a:solidFill>
            <a:srgbClr val="FFFFFF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CD83146-9BEB-43C1-B448-58B0AD29007A}"/>
              </a:ext>
            </a:extLst>
          </p:cNvPr>
          <p:cNvSpPr txBox="1"/>
          <p:nvPr/>
        </p:nvSpPr>
        <p:spPr>
          <a:xfrm>
            <a:off x="980767" y="186659"/>
            <a:ext cx="8937523" cy="52321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ru-RU" sz="2800" b="1" i="0" u="none" strike="noStrike" cap="none" spc="0" normalizeH="0" baseline="0" dirty="0">
                <a:ln>
                  <a:noFill/>
                </a:ln>
                <a:solidFill>
                  <a:schemeClr val="accent1"/>
                </a:solidFill>
                <a:effectLst/>
                <a:uFillTx/>
                <a:latin typeface="+mn-lt"/>
                <a:ea typeface="Arial"/>
                <a:cs typeface="Arial"/>
                <a:sym typeface="Arial"/>
              </a:rPr>
              <a:t>РЕКВИЗИТНЫЙ АНАЛИЗ ДОКУМЕНТА</a:t>
            </a:r>
            <a:endParaRPr kumimoji="0" lang="en-US" sz="2800" b="1" i="0" u="none" strike="noStrike" cap="none" spc="0" normalizeH="0" baseline="0" dirty="0">
              <a:ln>
                <a:noFill/>
              </a:ln>
              <a:solidFill>
                <a:schemeClr val="accent1"/>
              </a:solidFill>
              <a:effectLst/>
              <a:uFillTx/>
              <a:latin typeface="+mn-lt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137207618"/>
      </p:ext>
    </p:extLst>
  </p:cSld>
  <p:clrMapOvr>
    <a:masterClrMapping/>
  </p:clrMapOvr>
  <p:transition spd="med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DC830BA0-522C-F045-30D9-6AA9F8291E9E}"/>
              </a:ext>
            </a:extLst>
          </p:cNvPr>
          <p:cNvSpPr/>
          <p:nvPr/>
        </p:nvSpPr>
        <p:spPr>
          <a:xfrm>
            <a:off x="609600" y="6410632"/>
            <a:ext cx="511277" cy="285136"/>
          </a:xfrm>
          <a:prstGeom prst="rect">
            <a:avLst/>
          </a:prstGeom>
          <a:solidFill>
            <a:srgbClr val="FFFFFF"/>
          </a:solidFill>
          <a:ln w="12700" cap="flat">
            <a:solidFill>
              <a:schemeClr val="bg1"/>
            </a:solidFill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4AD1059-523C-1EA5-3EB0-54775AD19B12}"/>
              </a:ext>
            </a:extLst>
          </p:cNvPr>
          <p:cNvSpPr txBox="1"/>
          <p:nvPr/>
        </p:nvSpPr>
        <p:spPr>
          <a:xfrm>
            <a:off x="648929" y="829790"/>
            <a:ext cx="11656142" cy="5173019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marL="342900" lvl="0" indent="-342900" algn="just">
              <a:lnSpc>
                <a:spcPct val="150000"/>
              </a:lnSpc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ru-RU" sz="2400" b="1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Признак способа расчета</a:t>
            </a:r>
            <a:r>
              <a:rPr lang="ru-RU" sz="2400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: Полный расчет</a:t>
            </a:r>
            <a:endParaRPr lang="en-US" sz="24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342900" lvl="0" indent="-342900" algn="just">
              <a:lnSpc>
                <a:spcPct val="150000"/>
              </a:lnSpc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ru-RU" sz="2400" b="1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Форма оплаты</a:t>
            </a:r>
            <a:r>
              <a:rPr lang="ru-RU" sz="2400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: НАЛИЧНЫМИ</a:t>
            </a:r>
            <a:endParaRPr lang="en-US" sz="24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342900" lvl="0" indent="-342900" algn="just">
              <a:lnSpc>
                <a:spcPct val="150000"/>
              </a:lnSpc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ru-RU" sz="2400" b="1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Дата и время расчета</a:t>
            </a:r>
            <a:r>
              <a:rPr lang="ru-RU" sz="2400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: 03.03.23 15:30</a:t>
            </a:r>
            <a:endParaRPr lang="en-US" sz="24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342900" lvl="0" indent="-342900" algn="just">
              <a:lnSpc>
                <a:spcPct val="150000"/>
              </a:lnSpc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ru-RU" sz="2400" b="1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Фискальные данные</a:t>
            </a:r>
            <a:r>
              <a:rPr lang="ru-RU" sz="2400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:</a:t>
            </a:r>
            <a:endParaRPr lang="en-US" sz="24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742950" lvl="1" indent="-285750" algn="just">
              <a:lnSpc>
                <a:spcPct val="150000"/>
              </a:lnSpc>
              <a:buSzPts val="1000"/>
              <a:buFont typeface="Courier New" panose="02070309020205020404" pitchFamily="49" charset="0"/>
              <a:buChar char="o"/>
              <a:tabLst>
                <a:tab pos="914400" algn="l"/>
              </a:tabLst>
            </a:pPr>
            <a:r>
              <a:rPr lang="ru-RU" sz="2400" b="1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ФН</a:t>
            </a:r>
            <a:r>
              <a:rPr lang="ru-RU" sz="2400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(номер фискального накопителя): 9897078944322222</a:t>
            </a:r>
            <a:endParaRPr lang="en-US" sz="2400" dirty="0">
              <a:effectLst/>
              <a:latin typeface="Times New Roman" panose="02020603050405020304" pitchFamily="18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742950" lvl="1" indent="-285750" algn="just">
              <a:lnSpc>
                <a:spcPct val="150000"/>
              </a:lnSpc>
              <a:buSzPts val="1000"/>
              <a:buFont typeface="Courier New" panose="02070309020205020404" pitchFamily="49" charset="0"/>
              <a:buChar char="o"/>
              <a:tabLst>
                <a:tab pos="914400" algn="l"/>
              </a:tabLst>
            </a:pPr>
            <a:r>
              <a:rPr lang="ru-RU" sz="2400" b="1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ФД</a:t>
            </a:r>
            <a:r>
              <a:rPr lang="ru-RU" sz="2400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(фискальный документ): 181</a:t>
            </a:r>
            <a:endParaRPr lang="en-US" sz="2400" dirty="0">
              <a:effectLst/>
              <a:latin typeface="Times New Roman" panose="02020603050405020304" pitchFamily="18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742950" lvl="1" indent="-285750" algn="just">
              <a:lnSpc>
                <a:spcPct val="150000"/>
              </a:lnSpc>
              <a:buSzPts val="1000"/>
              <a:buFont typeface="Courier New" panose="02070309020205020404" pitchFamily="49" charset="0"/>
              <a:buChar char="o"/>
              <a:tabLst>
                <a:tab pos="914400" algn="l"/>
              </a:tabLst>
            </a:pPr>
            <a:r>
              <a:rPr lang="ru-RU" sz="2400" b="1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ФПД</a:t>
            </a:r>
            <a:r>
              <a:rPr lang="ru-RU" sz="2400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(фискальный признак документа): 1438138231</a:t>
            </a:r>
            <a:endParaRPr lang="en-US" sz="2400" dirty="0">
              <a:effectLst/>
              <a:latin typeface="Times New Roman" panose="02020603050405020304" pitchFamily="18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lvl="0" indent="-342900" algn="just">
              <a:lnSpc>
                <a:spcPct val="150000"/>
              </a:lnSpc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ru-RU" sz="2400" b="1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ФИО Кассира</a:t>
            </a:r>
            <a:r>
              <a:rPr lang="ru-RU" sz="2400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: Иванова Анна Ивановна</a:t>
            </a:r>
            <a:endParaRPr lang="en-US" sz="24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indent="228600" algn="just">
              <a:lnSpc>
                <a:spcPct val="150000"/>
              </a:lnSpc>
              <a:spcBef>
                <a:spcPts val="1200"/>
              </a:spcBef>
              <a:spcAft>
                <a:spcPts val="800"/>
              </a:spcAft>
            </a:pPr>
            <a:r>
              <a:rPr lang="ru-RU" sz="24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Обязательные реквизиты кассового чека регламентируются законодательством РФ.</a:t>
            </a:r>
            <a:endParaRPr lang="en-US" sz="24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CDA34B9-382B-69CA-075A-BEB4EA2BC646}"/>
              </a:ext>
            </a:extLst>
          </p:cNvPr>
          <p:cNvSpPr txBox="1"/>
          <p:nvPr/>
        </p:nvSpPr>
        <p:spPr>
          <a:xfrm>
            <a:off x="309716" y="229164"/>
            <a:ext cx="511277" cy="40010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ru-RU" sz="2000" b="1" i="0" u="none" strike="noStrike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+mn-lt"/>
                <a:ea typeface="Arial"/>
                <a:cs typeface="Arial"/>
                <a:sym typeface="Arial"/>
              </a:rPr>
              <a:t>10</a:t>
            </a:r>
            <a:endParaRPr kumimoji="0" lang="en-US" sz="2000" b="1" i="0" u="none" strike="noStrike" cap="none" spc="0" normalizeH="0" baseline="0" dirty="0">
              <a:ln>
                <a:noFill/>
              </a:ln>
              <a:solidFill>
                <a:schemeClr val="bg1"/>
              </a:solidFill>
              <a:effectLst/>
              <a:uFillTx/>
              <a:latin typeface="+mn-lt"/>
              <a:ea typeface="Arial"/>
              <a:cs typeface="Arial"/>
              <a:sym typeface="Arial"/>
            </a:endParaRP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B7CA45F2-AE21-4E69-AD6C-37D9598879FE}"/>
              </a:ext>
            </a:extLst>
          </p:cNvPr>
          <p:cNvSpPr/>
          <p:nvPr/>
        </p:nvSpPr>
        <p:spPr>
          <a:xfrm>
            <a:off x="1047750" y="6410632"/>
            <a:ext cx="2743200" cy="285136"/>
          </a:xfrm>
          <a:prstGeom prst="rect">
            <a:avLst/>
          </a:prstGeom>
          <a:solidFill>
            <a:srgbClr val="FFFFFF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966C10D-347F-4B25-803B-778FBFB78F74}"/>
              </a:ext>
            </a:extLst>
          </p:cNvPr>
          <p:cNvSpPr txBox="1"/>
          <p:nvPr/>
        </p:nvSpPr>
        <p:spPr>
          <a:xfrm>
            <a:off x="980767" y="186659"/>
            <a:ext cx="8937523" cy="52321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ru-RU" sz="2800" b="1" i="0" u="none" strike="noStrike" cap="none" spc="0" normalizeH="0" baseline="0" dirty="0">
                <a:ln>
                  <a:noFill/>
                </a:ln>
                <a:solidFill>
                  <a:schemeClr val="accent1"/>
                </a:solidFill>
                <a:effectLst/>
                <a:uFillTx/>
                <a:latin typeface="+mn-lt"/>
                <a:ea typeface="Arial"/>
                <a:cs typeface="Arial"/>
                <a:sym typeface="Arial"/>
              </a:rPr>
              <a:t>РЕКВИЗИТНЫЙ АНАЛИЗ ДОКУМЕНТА</a:t>
            </a:r>
            <a:endParaRPr kumimoji="0" lang="en-US" sz="2800" b="1" i="0" u="none" strike="noStrike" cap="none" spc="0" normalizeH="0" baseline="0" dirty="0">
              <a:ln>
                <a:noFill/>
              </a:ln>
              <a:solidFill>
                <a:schemeClr val="accent1"/>
              </a:solidFill>
              <a:effectLst/>
              <a:uFillTx/>
              <a:latin typeface="+mn-lt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869078441"/>
      </p:ext>
    </p:extLst>
  </p:cSld>
  <p:clrMapOvr>
    <a:masterClrMapping/>
  </p:clrMapOvr>
  <p:transition spd="med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DC830BA0-522C-F045-30D9-6AA9F8291E9E}"/>
              </a:ext>
            </a:extLst>
          </p:cNvPr>
          <p:cNvSpPr/>
          <p:nvPr/>
        </p:nvSpPr>
        <p:spPr>
          <a:xfrm>
            <a:off x="609600" y="6410632"/>
            <a:ext cx="511277" cy="285136"/>
          </a:xfrm>
          <a:prstGeom prst="rect">
            <a:avLst/>
          </a:prstGeom>
          <a:solidFill>
            <a:srgbClr val="FFFFFF"/>
          </a:solidFill>
          <a:ln w="12700" cap="flat">
            <a:solidFill>
              <a:schemeClr val="bg1"/>
            </a:solidFill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4AD1059-523C-1EA5-3EB0-54775AD19B12}"/>
              </a:ext>
            </a:extLst>
          </p:cNvPr>
          <p:cNvSpPr txBox="1"/>
          <p:nvPr/>
        </p:nvSpPr>
        <p:spPr>
          <a:xfrm>
            <a:off x="953729" y="1048610"/>
            <a:ext cx="10886767" cy="4602029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indent="449580" algn="just">
              <a:lnSpc>
                <a:spcPct val="150000"/>
              </a:lnSpc>
            </a:pPr>
            <a:r>
              <a:rPr lang="ru-RU" sz="2200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В предоставленном чеке присутствуют следующие реквизиты, имеющие финансовое и экономическое значение:</a:t>
            </a:r>
            <a:endParaRPr lang="en-US" sz="22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200" b="1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Финансовые реквизиты</a:t>
            </a:r>
            <a:r>
              <a:rPr lang="ru-RU" sz="2200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 (непосредственно отражают движение денежных средств):</a:t>
            </a:r>
            <a:endParaRPr lang="en-US" sz="22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342900" lvl="0" indent="-342900" algn="just">
              <a:lnSpc>
                <a:spcPct val="150000"/>
              </a:lnSpc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ru-RU" sz="2200" b="1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Цена за единицу</a:t>
            </a:r>
            <a:r>
              <a:rPr lang="ru-RU" sz="2200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: 24 000.00 руб. — стоимость одного товара.</a:t>
            </a:r>
            <a:endParaRPr lang="en-US" sz="22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342900" lvl="0" indent="-342900" algn="just">
              <a:lnSpc>
                <a:spcPct val="150000"/>
              </a:lnSpc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ru-RU" sz="2200" b="1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Итоговая сумма (ИТОГ)</a:t>
            </a:r>
            <a:r>
              <a:rPr lang="ru-RU" sz="2200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: 24 000.00 руб. — общая сумма денежных средств, полученных от покупателя. Является ключевым финансовым показателем операции.</a:t>
            </a:r>
            <a:endParaRPr lang="en-US" sz="22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342900" lvl="0" indent="-342900" algn="just">
              <a:lnSpc>
                <a:spcPct val="150000"/>
              </a:lnSpc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ru-RU" sz="2200" b="1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Сумма НДС</a:t>
            </a:r>
            <a:r>
              <a:rPr lang="ru-RU" sz="2200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: 4 000.00 руб. — сумма налога на добавленную стоимость, подлежащая уплате в бюджет.</a:t>
            </a:r>
            <a:endParaRPr lang="en-US" sz="22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342900" lvl="0" indent="-342900" algn="just">
              <a:lnSpc>
                <a:spcPct val="150000"/>
              </a:lnSpc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ru-RU" sz="2200" b="1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Форма оплаты</a:t>
            </a:r>
            <a:r>
              <a:rPr lang="ru-RU" sz="2200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: НАЛИЧНЫМИ — указывает на форму денежного обращения.</a:t>
            </a:r>
            <a:endParaRPr lang="en-US" sz="22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959C283-2F3B-9343-D0E8-821A55D5CA6C}"/>
              </a:ext>
            </a:extLst>
          </p:cNvPr>
          <p:cNvSpPr txBox="1"/>
          <p:nvPr/>
        </p:nvSpPr>
        <p:spPr>
          <a:xfrm>
            <a:off x="953729" y="167609"/>
            <a:ext cx="10726994" cy="52321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ru-RU" sz="2800" b="1" i="0" u="none" strike="noStrike" cap="none" spc="0" normalizeH="0" baseline="0" dirty="0">
                <a:ln>
                  <a:noFill/>
                </a:ln>
                <a:solidFill>
                  <a:schemeClr val="accent1"/>
                </a:solidFill>
                <a:effectLst/>
                <a:uFillTx/>
                <a:latin typeface="+mn-lt"/>
                <a:ea typeface="Arial"/>
                <a:cs typeface="Arial"/>
                <a:sym typeface="Arial"/>
              </a:rPr>
              <a:t>ФИНАНСОВЫЕ И ЭКОНОМИЧЕСКИЕ РЕКВИЗИТЫ</a:t>
            </a:r>
            <a:endParaRPr kumimoji="0" lang="en-US" sz="2800" b="1" i="0" u="none" strike="noStrike" cap="none" spc="0" normalizeH="0" baseline="0" dirty="0">
              <a:ln>
                <a:noFill/>
              </a:ln>
              <a:solidFill>
                <a:schemeClr val="accent1"/>
              </a:solidFill>
              <a:effectLst/>
              <a:uFillTx/>
              <a:latin typeface="+mn-lt"/>
              <a:ea typeface="Arial"/>
              <a:cs typeface="Arial"/>
              <a:sym typeface="Arial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CDA34B9-382B-69CA-075A-BEB4EA2BC646}"/>
              </a:ext>
            </a:extLst>
          </p:cNvPr>
          <p:cNvSpPr txBox="1"/>
          <p:nvPr/>
        </p:nvSpPr>
        <p:spPr>
          <a:xfrm>
            <a:off x="309716" y="229164"/>
            <a:ext cx="511277" cy="40010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ru-RU" sz="2000" b="1" dirty="0">
                <a:solidFill>
                  <a:schemeClr val="bg1"/>
                </a:solidFill>
                <a:latin typeface="+mn-lt"/>
              </a:rPr>
              <a:t>11</a:t>
            </a:r>
            <a:endParaRPr kumimoji="0" lang="en-US" sz="2000" b="1" i="0" u="none" strike="noStrike" cap="none" spc="0" normalizeH="0" baseline="0" dirty="0">
              <a:ln>
                <a:noFill/>
              </a:ln>
              <a:solidFill>
                <a:schemeClr val="bg1"/>
              </a:solidFill>
              <a:effectLst/>
              <a:uFillTx/>
              <a:latin typeface="+mn-lt"/>
              <a:ea typeface="Arial"/>
              <a:cs typeface="Arial"/>
              <a:sym typeface="Arial"/>
            </a:endParaRP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77E1745E-DB3C-420F-8E30-F9A2CD4F0E97}"/>
              </a:ext>
            </a:extLst>
          </p:cNvPr>
          <p:cNvSpPr/>
          <p:nvPr/>
        </p:nvSpPr>
        <p:spPr>
          <a:xfrm>
            <a:off x="1047750" y="6410632"/>
            <a:ext cx="2743200" cy="285136"/>
          </a:xfrm>
          <a:prstGeom prst="rect">
            <a:avLst/>
          </a:prstGeom>
          <a:solidFill>
            <a:srgbClr val="FFFFFF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93712400"/>
      </p:ext>
    </p:extLst>
  </p:cSld>
  <p:clrMapOvr>
    <a:masterClrMapping/>
  </p:clrMapOvr>
  <p:transition spd="med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DC830BA0-522C-F045-30D9-6AA9F8291E9E}"/>
              </a:ext>
            </a:extLst>
          </p:cNvPr>
          <p:cNvSpPr/>
          <p:nvPr/>
        </p:nvSpPr>
        <p:spPr>
          <a:xfrm>
            <a:off x="609600" y="6410632"/>
            <a:ext cx="511277" cy="285136"/>
          </a:xfrm>
          <a:prstGeom prst="rect">
            <a:avLst/>
          </a:prstGeom>
          <a:solidFill>
            <a:srgbClr val="FFFFFF"/>
          </a:solidFill>
          <a:ln w="12700" cap="flat">
            <a:solidFill>
              <a:schemeClr val="bg1"/>
            </a:solidFill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4AD1059-523C-1EA5-3EB0-54775AD19B12}"/>
              </a:ext>
            </a:extLst>
          </p:cNvPr>
          <p:cNvSpPr txBox="1"/>
          <p:nvPr/>
        </p:nvSpPr>
        <p:spPr>
          <a:xfrm>
            <a:off x="406809" y="965022"/>
            <a:ext cx="12140381" cy="510986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200" b="1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Экономические реквизиты</a:t>
            </a:r>
            <a:r>
              <a:rPr lang="ru-RU" sz="2200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 (характеризуют хозяйственную операцию, ее состав и участников):</a:t>
            </a:r>
            <a:endParaRPr lang="en-US" sz="22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342900" lvl="0" indent="-342900" algn="just">
              <a:lnSpc>
                <a:spcPct val="150000"/>
              </a:lnSpc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ru-RU" sz="2200" b="1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Наименование товара</a:t>
            </a:r>
            <a:r>
              <a:rPr lang="ru-RU" sz="2200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: Мебельный гарнитур «Вектор» — объект хозяйственной операции.</a:t>
            </a:r>
            <a:endParaRPr lang="en-US" sz="22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342900" lvl="0" indent="-342900" algn="just">
              <a:lnSpc>
                <a:spcPct val="150000"/>
              </a:lnSpc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ru-RU" sz="2200" b="1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Количество</a:t>
            </a:r>
            <a:r>
              <a:rPr lang="ru-RU" sz="2200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: 1.00 — количественная мера товара.</a:t>
            </a:r>
            <a:endParaRPr lang="en-US" sz="22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342900" lvl="0" indent="-342900" algn="just">
              <a:lnSpc>
                <a:spcPct val="150000"/>
              </a:lnSpc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ru-RU" sz="2200" b="1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ИНН продавца</a:t>
            </a:r>
            <a:r>
              <a:rPr lang="ru-RU" sz="2200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: 7701123456 — идентификатор экономического субъекта (продавца) для налогового учета.</a:t>
            </a:r>
            <a:endParaRPr lang="en-US" sz="22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342900" lvl="0" indent="-342900" algn="just">
              <a:lnSpc>
                <a:spcPct val="150000"/>
              </a:lnSpc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ru-RU" sz="2200" b="1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Система налогообложения (СНО)</a:t>
            </a:r>
            <a:r>
              <a:rPr lang="ru-RU" sz="2200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: ОСН — определяет порядок налогового учета и расчета налогов.</a:t>
            </a:r>
            <a:endParaRPr lang="en-US" sz="22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342900" lvl="0" indent="-342900" algn="just">
              <a:lnSpc>
                <a:spcPct val="150000"/>
              </a:lnSpc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ru-RU" sz="2200" b="1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Дата и время</a:t>
            </a:r>
            <a:r>
              <a:rPr lang="ru-RU" sz="2200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: 03.03.23 15:30 — временная характеристика экономического события.</a:t>
            </a:r>
            <a:endParaRPr lang="en-US" sz="22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342900" lvl="0" indent="-342900" algn="just">
              <a:lnSpc>
                <a:spcPct val="150000"/>
              </a:lnSpc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ru-RU" sz="2200" b="1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Фискальный признак (ФПД)</a:t>
            </a:r>
            <a:r>
              <a:rPr lang="ru-RU" sz="2200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: 1438138231 — уникальный идентификатор документа в системе ФНС, гарантирующий его подлинность и неизменность.</a:t>
            </a:r>
            <a:endParaRPr lang="en-US" sz="22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959C283-2F3B-9343-D0E8-821A55D5CA6C}"/>
              </a:ext>
            </a:extLst>
          </p:cNvPr>
          <p:cNvSpPr txBox="1"/>
          <p:nvPr/>
        </p:nvSpPr>
        <p:spPr>
          <a:xfrm>
            <a:off x="953729" y="167609"/>
            <a:ext cx="10726994" cy="52321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ru-RU" sz="2800" b="1" i="0" u="none" strike="noStrike" cap="none" spc="0" normalizeH="0" baseline="0" dirty="0">
                <a:ln>
                  <a:noFill/>
                </a:ln>
                <a:solidFill>
                  <a:schemeClr val="accent1"/>
                </a:solidFill>
                <a:effectLst/>
                <a:uFillTx/>
                <a:latin typeface="+mn-lt"/>
                <a:ea typeface="Arial"/>
                <a:cs typeface="Arial"/>
                <a:sym typeface="Arial"/>
              </a:rPr>
              <a:t>ФИНАНСОВЫЕ И ЭКОНОМИЧЕСКИЕ РЕКВИЗИТЫ</a:t>
            </a:r>
            <a:endParaRPr kumimoji="0" lang="en-US" sz="2800" b="1" i="0" u="none" strike="noStrike" cap="none" spc="0" normalizeH="0" baseline="0" dirty="0">
              <a:ln>
                <a:noFill/>
              </a:ln>
              <a:solidFill>
                <a:schemeClr val="accent1"/>
              </a:solidFill>
              <a:effectLst/>
              <a:uFillTx/>
              <a:latin typeface="+mn-lt"/>
              <a:ea typeface="Arial"/>
              <a:cs typeface="Arial"/>
              <a:sym typeface="Arial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CDA34B9-382B-69CA-075A-BEB4EA2BC646}"/>
              </a:ext>
            </a:extLst>
          </p:cNvPr>
          <p:cNvSpPr txBox="1"/>
          <p:nvPr/>
        </p:nvSpPr>
        <p:spPr>
          <a:xfrm>
            <a:off x="309716" y="229164"/>
            <a:ext cx="511277" cy="40010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ru-RU" sz="2000" b="1" dirty="0">
                <a:solidFill>
                  <a:schemeClr val="bg1"/>
                </a:solidFill>
                <a:latin typeface="+mn-lt"/>
              </a:rPr>
              <a:t>12</a:t>
            </a:r>
            <a:endParaRPr kumimoji="0" lang="en-US" sz="2000" b="1" i="0" u="none" strike="noStrike" cap="none" spc="0" normalizeH="0" baseline="0" dirty="0">
              <a:ln>
                <a:noFill/>
              </a:ln>
              <a:solidFill>
                <a:schemeClr val="bg1"/>
              </a:solidFill>
              <a:effectLst/>
              <a:uFillTx/>
              <a:latin typeface="+mn-lt"/>
              <a:ea typeface="Arial"/>
              <a:cs typeface="Arial"/>
              <a:sym typeface="Arial"/>
            </a:endParaRP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C18E8467-0771-4FB6-8CE8-C96B23DBDEA4}"/>
              </a:ext>
            </a:extLst>
          </p:cNvPr>
          <p:cNvSpPr/>
          <p:nvPr/>
        </p:nvSpPr>
        <p:spPr>
          <a:xfrm>
            <a:off x="1047750" y="6410632"/>
            <a:ext cx="2743200" cy="285136"/>
          </a:xfrm>
          <a:prstGeom prst="rect">
            <a:avLst/>
          </a:prstGeom>
          <a:solidFill>
            <a:srgbClr val="FFFFFF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583139854"/>
      </p:ext>
    </p:extLst>
  </p:cSld>
  <p:clrMapOvr>
    <a:masterClrMapping/>
  </p:clrMapOvr>
  <p:transition spd="med"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DC830BA0-522C-F045-30D9-6AA9F8291E9E}"/>
              </a:ext>
            </a:extLst>
          </p:cNvPr>
          <p:cNvSpPr/>
          <p:nvPr/>
        </p:nvSpPr>
        <p:spPr>
          <a:xfrm>
            <a:off x="609600" y="6410632"/>
            <a:ext cx="511277" cy="285136"/>
          </a:xfrm>
          <a:prstGeom prst="rect">
            <a:avLst/>
          </a:prstGeom>
          <a:solidFill>
            <a:srgbClr val="FFFFFF"/>
          </a:solidFill>
          <a:ln w="12700" cap="flat">
            <a:solidFill>
              <a:schemeClr val="bg1"/>
            </a:solidFill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4AD1059-523C-1EA5-3EB0-54775AD19B12}"/>
              </a:ext>
            </a:extLst>
          </p:cNvPr>
          <p:cNvSpPr txBox="1"/>
          <p:nvPr/>
        </p:nvSpPr>
        <p:spPr>
          <a:xfrm>
            <a:off x="435077" y="833656"/>
            <a:ext cx="12083846" cy="5576976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indent="449580" algn="just">
              <a:lnSpc>
                <a:spcPct val="150000"/>
              </a:lnSpc>
            </a:pPr>
            <a:r>
              <a:rPr lang="ru-RU" sz="2200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Процесс работы с кассовым чеком в общем случае включает несколько этапов, как со стороны продавца, так и со стороны покупателя. </a:t>
            </a:r>
            <a:endParaRPr lang="en-US" sz="22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457200" lvl="0" indent="-457200" algn="just">
              <a:lnSpc>
                <a:spcPct val="150000"/>
              </a:lnSpc>
              <a:buFont typeface="+mj-lt"/>
              <a:buAutoNum type="arabicPeriod"/>
              <a:tabLst>
                <a:tab pos="457200" algn="l"/>
              </a:tabLst>
            </a:pPr>
            <a:r>
              <a:rPr lang="ru-RU" sz="2200" b="1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Инициирование покупки</a:t>
            </a:r>
            <a:r>
              <a:rPr lang="ru-RU" sz="2200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: Покупатель выбирает товар и предъявляет его кассиру для оплаты.</a:t>
            </a:r>
            <a:endParaRPr lang="en-US" sz="22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457200" lvl="0" indent="-457200" algn="just">
              <a:lnSpc>
                <a:spcPct val="150000"/>
              </a:lnSpc>
              <a:buFont typeface="+mj-lt"/>
              <a:buAutoNum type="arabicPeriod"/>
              <a:tabLst>
                <a:tab pos="457200" algn="l"/>
              </a:tabLst>
            </a:pPr>
            <a:r>
              <a:rPr lang="ru-RU" sz="2200" b="1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Регистрация товара в системе</a:t>
            </a:r>
            <a:r>
              <a:rPr lang="ru-RU" sz="2200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: Кассир с помощью сканера или вручную вносит информацию о товаре (его наименование, цену, количество) в кассовое программное обеспечение. В данном случае, товар один, поэтому процесс прост.</a:t>
            </a:r>
          </a:p>
          <a:p>
            <a:pPr marL="457200" lvl="0" indent="-457200" algn="just">
              <a:lnSpc>
                <a:spcPct val="150000"/>
              </a:lnSpc>
              <a:buFont typeface="+mj-lt"/>
              <a:buAutoNum type="arabicPeriod"/>
              <a:tabLst>
                <a:tab pos="457200" algn="l"/>
              </a:tabLst>
            </a:pPr>
            <a:r>
              <a:rPr lang="ru-RU" sz="2200" b="1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Формирование итога чека</a:t>
            </a:r>
            <a:r>
              <a:rPr lang="ru-RU" sz="2200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: Кассовая программа автоматически рассчитывает итоговую сумму покупки, включая налоги (НДС), и отображает ее для покупателя.</a:t>
            </a:r>
            <a:endParaRPr lang="ru-RU" sz="2200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457200" lvl="0" indent="-457200" algn="just">
              <a:lnSpc>
                <a:spcPct val="150000"/>
              </a:lnSpc>
              <a:buFont typeface="+mj-lt"/>
              <a:buAutoNum type="arabicPeriod"/>
              <a:tabLst>
                <a:tab pos="457200" algn="l"/>
              </a:tabLst>
            </a:pPr>
            <a:r>
              <a:rPr lang="ru-RU" sz="2200" b="1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Осуществление оплаты</a:t>
            </a:r>
            <a:r>
              <a:rPr lang="ru-RU" sz="2200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: Покупатель производит оплату наличными денежными средствами. Кассир принимает деньги.</a:t>
            </a:r>
            <a:endParaRPr lang="en-US" sz="22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lvl="0" algn="just">
              <a:lnSpc>
                <a:spcPct val="150000"/>
              </a:lnSpc>
              <a:tabLst>
                <a:tab pos="457200" algn="l"/>
              </a:tabLst>
            </a:pPr>
            <a:endParaRPr lang="en-US" sz="20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959C283-2F3B-9343-D0E8-821A55D5CA6C}"/>
              </a:ext>
            </a:extLst>
          </p:cNvPr>
          <p:cNvSpPr txBox="1"/>
          <p:nvPr/>
        </p:nvSpPr>
        <p:spPr>
          <a:xfrm>
            <a:off x="953729" y="167609"/>
            <a:ext cx="10726994" cy="52321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ru-RU" sz="2800" b="1" i="0" u="none" strike="noStrike" cap="none" spc="0" normalizeH="0" baseline="0" dirty="0">
                <a:ln>
                  <a:noFill/>
                </a:ln>
                <a:solidFill>
                  <a:schemeClr val="accent1"/>
                </a:solidFill>
                <a:effectLst/>
                <a:uFillTx/>
                <a:latin typeface="+mn-lt"/>
                <a:ea typeface="Arial"/>
                <a:cs typeface="Arial"/>
                <a:sym typeface="Arial"/>
              </a:rPr>
              <a:t>ОПИСАНИЕ ПРОЦЕССА РАБОТЫ С ДОКУМЕНТОМ</a:t>
            </a:r>
            <a:endParaRPr kumimoji="0" lang="en-US" sz="2800" b="1" i="0" u="none" strike="noStrike" cap="none" spc="0" normalizeH="0" baseline="0" dirty="0">
              <a:ln>
                <a:noFill/>
              </a:ln>
              <a:solidFill>
                <a:schemeClr val="accent1"/>
              </a:solidFill>
              <a:effectLst/>
              <a:uFillTx/>
              <a:latin typeface="+mn-lt"/>
              <a:ea typeface="Arial"/>
              <a:cs typeface="Arial"/>
              <a:sym typeface="Arial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CDA34B9-382B-69CA-075A-BEB4EA2BC646}"/>
              </a:ext>
            </a:extLst>
          </p:cNvPr>
          <p:cNvSpPr txBox="1"/>
          <p:nvPr/>
        </p:nvSpPr>
        <p:spPr>
          <a:xfrm>
            <a:off x="309716" y="229164"/>
            <a:ext cx="511277" cy="40010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ru-RU" sz="2000" b="1" i="0" u="none" strike="noStrike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+mn-lt"/>
                <a:ea typeface="Arial"/>
                <a:cs typeface="Arial"/>
                <a:sym typeface="Arial"/>
              </a:rPr>
              <a:t>13</a:t>
            </a:r>
            <a:endParaRPr kumimoji="0" lang="en-US" sz="2000" b="1" i="0" u="none" strike="noStrike" cap="none" spc="0" normalizeH="0" baseline="0" dirty="0">
              <a:ln>
                <a:noFill/>
              </a:ln>
              <a:solidFill>
                <a:schemeClr val="bg1"/>
              </a:solidFill>
              <a:effectLst/>
              <a:uFillTx/>
              <a:latin typeface="+mn-lt"/>
              <a:ea typeface="Arial"/>
              <a:cs typeface="Arial"/>
              <a:sym typeface="Arial"/>
            </a:endParaRP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F860C348-B5EC-4A8C-821C-C8332F75E40A}"/>
              </a:ext>
            </a:extLst>
          </p:cNvPr>
          <p:cNvSpPr/>
          <p:nvPr/>
        </p:nvSpPr>
        <p:spPr>
          <a:xfrm>
            <a:off x="1047750" y="6410632"/>
            <a:ext cx="2743200" cy="285136"/>
          </a:xfrm>
          <a:prstGeom prst="rect">
            <a:avLst/>
          </a:prstGeom>
          <a:solidFill>
            <a:srgbClr val="FFFFFF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703817199"/>
      </p:ext>
    </p:extLst>
  </p:cSld>
  <p:clrMapOvr>
    <a:masterClrMapping/>
  </p:clrMapOvr>
  <p:transition spd="med"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DC830BA0-522C-F045-30D9-6AA9F8291E9E}"/>
              </a:ext>
            </a:extLst>
          </p:cNvPr>
          <p:cNvSpPr/>
          <p:nvPr/>
        </p:nvSpPr>
        <p:spPr>
          <a:xfrm>
            <a:off x="609600" y="6410632"/>
            <a:ext cx="511277" cy="285136"/>
          </a:xfrm>
          <a:prstGeom prst="rect">
            <a:avLst/>
          </a:prstGeom>
          <a:solidFill>
            <a:srgbClr val="FFFFFF"/>
          </a:solidFill>
          <a:ln w="12700" cap="flat">
            <a:solidFill>
              <a:schemeClr val="bg1"/>
            </a:solidFill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4AD1059-523C-1EA5-3EB0-54775AD19B12}"/>
              </a:ext>
            </a:extLst>
          </p:cNvPr>
          <p:cNvSpPr txBox="1"/>
          <p:nvPr/>
        </p:nvSpPr>
        <p:spPr>
          <a:xfrm>
            <a:off x="861552" y="995799"/>
            <a:ext cx="11230896" cy="510986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marL="342900" lvl="0" indent="-342900" algn="just">
              <a:lnSpc>
                <a:spcPct val="150000"/>
              </a:lnSpc>
              <a:buFont typeface="+mj-lt"/>
              <a:buAutoNum type="arabicPeriod" startAt="5"/>
              <a:tabLst>
                <a:tab pos="457200" algn="l"/>
              </a:tabLst>
            </a:pPr>
            <a:r>
              <a:rPr lang="ru-RU" sz="2200" b="1" dirty="0" err="1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Фискализация</a:t>
            </a:r>
            <a:r>
              <a:rPr lang="ru-RU" sz="2200" b="1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и печать чека</a:t>
            </a:r>
            <a:r>
              <a:rPr lang="ru-RU" sz="2200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: После внесения суммы оплаты, кассир закрывает чек. Контрольно-кассовая техника (ККТ) передает данные о чеке в фискальный накопитель, который формирует фискальные признаки (ФД, ФПД). Затем ККТ печатает чек на бумажном носителе.</a:t>
            </a:r>
            <a:endParaRPr lang="en-US" sz="22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342900" lvl="0" indent="-342900" algn="just">
              <a:lnSpc>
                <a:spcPct val="150000"/>
              </a:lnSpc>
              <a:buFont typeface="+mj-lt"/>
              <a:buAutoNum type="arabicPeriod" startAt="5"/>
              <a:tabLst>
                <a:tab pos="457200" algn="l"/>
              </a:tabLst>
            </a:pPr>
            <a:r>
              <a:rPr lang="ru-RU" sz="2200" b="1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Передача чека покупателю</a:t>
            </a:r>
            <a:r>
              <a:rPr lang="ru-RU" sz="2200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: Кассир отдает покупателю бумажный чек, который служит единственным подтверждением покупки при расчете наличными.</a:t>
            </a:r>
            <a:endParaRPr lang="en-US" sz="22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342900" lvl="0" indent="-342900" algn="just">
              <a:lnSpc>
                <a:spcPct val="150000"/>
              </a:lnSpc>
              <a:buFont typeface="+mj-lt"/>
              <a:buAutoNum type="arabicPeriod" startAt="5"/>
              <a:tabLst>
                <a:tab pos="457200" algn="l"/>
              </a:tabLst>
            </a:pPr>
            <a:r>
              <a:rPr lang="ru-RU" sz="2200" b="1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Передача данных в ФНС</a:t>
            </a:r>
            <a:r>
              <a:rPr lang="ru-RU" sz="2200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: Фискальный накопитель хранит данные о всех операциях и периодически (в соответствии с настройками) передает их оператору фискальных данных (ОФД), который, в свою очередь, направляет их в Федеральную налоговую службу (ФНС).</a:t>
            </a:r>
            <a:endParaRPr lang="en-US" sz="22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959C283-2F3B-9343-D0E8-821A55D5CA6C}"/>
              </a:ext>
            </a:extLst>
          </p:cNvPr>
          <p:cNvSpPr txBox="1"/>
          <p:nvPr/>
        </p:nvSpPr>
        <p:spPr>
          <a:xfrm>
            <a:off x="953729" y="167609"/>
            <a:ext cx="10726994" cy="52321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ru-RU" sz="2800" b="1" i="0" u="none" strike="noStrike" cap="none" spc="0" normalizeH="0" baseline="0" dirty="0">
                <a:ln>
                  <a:noFill/>
                </a:ln>
                <a:solidFill>
                  <a:schemeClr val="accent1"/>
                </a:solidFill>
                <a:effectLst/>
                <a:uFillTx/>
                <a:latin typeface="+mn-lt"/>
                <a:ea typeface="Arial"/>
                <a:cs typeface="Arial"/>
                <a:sym typeface="Arial"/>
              </a:rPr>
              <a:t>ОПИСАНИЕ ПРОЦЕССА РАБОТЫ С ДОКУМЕНТОМ</a:t>
            </a:r>
            <a:endParaRPr kumimoji="0" lang="en-US" sz="2800" b="1" i="0" u="none" strike="noStrike" cap="none" spc="0" normalizeH="0" baseline="0" dirty="0">
              <a:ln>
                <a:noFill/>
              </a:ln>
              <a:solidFill>
                <a:schemeClr val="accent1"/>
              </a:solidFill>
              <a:effectLst/>
              <a:uFillTx/>
              <a:latin typeface="+mn-lt"/>
              <a:ea typeface="Arial"/>
              <a:cs typeface="Arial"/>
              <a:sym typeface="Arial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CDA34B9-382B-69CA-075A-BEB4EA2BC646}"/>
              </a:ext>
            </a:extLst>
          </p:cNvPr>
          <p:cNvSpPr txBox="1"/>
          <p:nvPr/>
        </p:nvSpPr>
        <p:spPr>
          <a:xfrm>
            <a:off x="309716" y="229164"/>
            <a:ext cx="511277" cy="40010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ru-RU" sz="2000" b="1" i="0" u="none" strike="noStrike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+mn-lt"/>
                <a:ea typeface="Arial"/>
                <a:cs typeface="Arial"/>
                <a:sym typeface="Arial"/>
              </a:rPr>
              <a:t>14</a:t>
            </a:r>
            <a:endParaRPr kumimoji="0" lang="en-US" sz="2000" b="1" i="0" u="none" strike="noStrike" cap="none" spc="0" normalizeH="0" baseline="0" dirty="0">
              <a:ln>
                <a:noFill/>
              </a:ln>
              <a:solidFill>
                <a:schemeClr val="bg1"/>
              </a:solidFill>
              <a:effectLst/>
              <a:uFillTx/>
              <a:latin typeface="+mn-lt"/>
              <a:ea typeface="Arial"/>
              <a:cs typeface="Arial"/>
              <a:sym typeface="Arial"/>
            </a:endParaRP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884BEB7E-5331-42A8-B8A6-BAF445ADB6B6}"/>
              </a:ext>
            </a:extLst>
          </p:cNvPr>
          <p:cNvSpPr/>
          <p:nvPr/>
        </p:nvSpPr>
        <p:spPr>
          <a:xfrm>
            <a:off x="1047750" y="6410632"/>
            <a:ext cx="2743200" cy="285136"/>
          </a:xfrm>
          <a:prstGeom prst="rect">
            <a:avLst/>
          </a:prstGeom>
          <a:solidFill>
            <a:srgbClr val="FFFFFF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90567656"/>
      </p:ext>
    </p:extLst>
  </p:cSld>
  <p:clrMapOvr>
    <a:masterClrMapping/>
  </p:clrMapOvr>
  <p:transition spd="med"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DC830BA0-522C-F045-30D9-6AA9F8291E9E}"/>
              </a:ext>
            </a:extLst>
          </p:cNvPr>
          <p:cNvSpPr/>
          <p:nvPr/>
        </p:nvSpPr>
        <p:spPr>
          <a:xfrm>
            <a:off x="609600" y="6410632"/>
            <a:ext cx="511277" cy="285136"/>
          </a:xfrm>
          <a:prstGeom prst="rect">
            <a:avLst/>
          </a:prstGeom>
          <a:solidFill>
            <a:srgbClr val="FFFFFF"/>
          </a:solidFill>
          <a:ln w="12700" cap="flat">
            <a:solidFill>
              <a:schemeClr val="bg1"/>
            </a:solidFill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4AD1059-523C-1EA5-3EB0-54775AD19B12}"/>
              </a:ext>
            </a:extLst>
          </p:cNvPr>
          <p:cNvSpPr txBox="1"/>
          <p:nvPr/>
        </p:nvSpPr>
        <p:spPr>
          <a:xfrm>
            <a:off x="154858" y="851604"/>
            <a:ext cx="12644284" cy="5844164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algn="just">
              <a:lnSpc>
                <a:spcPct val="150000"/>
              </a:lnSpc>
              <a:spcBef>
                <a:spcPts val="1200"/>
              </a:spcBef>
            </a:pPr>
            <a:r>
              <a:rPr lang="en-US" sz="1800" b="1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	</a:t>
            </a:r>
            <a:r>
              <a:rPr lang="ru-RU" sz="2000" b="1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BPMN 2.0 (Business Process Model </a:t>
            </a:r>
            <a:r>
              <a:rPr lang="ru-RU" sz="2000" b="1" dirty="0" err="1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and</a:t>
            </a:r>
            <a:r>
              <a:rPr lang="ru-RU" sz="2000" b="1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ru-RU" sz="2000" b="1" dirty="0" err="1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Notation</a:t>
            </a:r>
            <a:r>
              <a:rPr lang="ru-RU" sz="2000" b="1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)</a:t>
            </a:r>
            <a:r>
              <a:rPr lang="ru-RU" sz="2000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 — это международный стандарт моделирования бизнес-процессов, разработанный для создания понятных и единообразных схем, описывающих последовательность действий, роли участников и потоки информации в организации.</a:t>
            </a:r>
            <a:endParaRPr lang="en-US" sz="2000" dirty="0">
              <a:solidFill>
                <a:srgbClr val="0F1115"/>
              </a:solidFill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algn="just">
              <a:lnSpc>
                <a:spcPct val="150000"/>
              </a:lnSpc>
              <a:spcBef>
                <a:spcPts val="1200"/>
              </a:spcBef>
            </a:pPr>
            <a:r>
              <a:rPr lang="en-US" sz="2000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	</a:t>
            </a:r>
            <a:r>
              <a:rPr lang="ru-RU" sz="2000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Основная цель BPMN 2.0 — создать универсальный язык общения между разными участниками процесса: бизнес-аналитиками, разработчиками, менеджерами и исполнителями. Стандарт позволяет :</a:t>
            </a:r>
            <a:endParaRPr lang="en-US" sz="20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342900" lvl="0" indent="-342900" algn="just">
              <a:lnSpc>
                <a:spcPct val="150000"/>
              </a:lnSpc>
              <a:buFont typeface="Arial" panose="020B0604020202020204" pitchFamily="34" charset="0"/>
              <a:buChar char="•"/>
              <a:tabLst>
                <a:tab pos="457200" algn="l"/>
              </a:tabLst>
            </a:pPr>
            <a:r>
              <a:rPr lang="ru-RU" sz="2000" b="1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Визуализировать процессы</a:t>
            </a:r>
            <a:r>
              <a:rPr lang="ru-RU" sz="2000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 — наглядно представить, как работает тот или иной процесс от начала до конца.</a:t>
            </a:r>
            <a:endParaRPr lang="en-US" sz="20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342900" lvl="0" indent="-342900" algn="just">
              <a:lnSpc>
                <a:spcPct val="150000"/>
              </a:lnSpc>
              <a:buFont typeface="Arial" panose="020B0604020202020204" pitchFamily="34" charset="0"/>
              <a:buChar char="•"/>
              <a:tabLst>
                <a:tab pos="457200" algn="l"/>
              </a:tabLst>
            </a:pPr>
            <a:r>
              <a:rPr lang="ru-RU" sz="2000" b="1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Устранить неоднозначности</a:t>
            </a:r>
            <a:r>
              <a:rPr lang="ru-RU" sz="2000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 — графические схемы понятнее текстовых описаний и исключают разночтения.</a:t>
            </a:r>
            <a:endParaRPr lang="en-US" sz="20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342900" lvl="0" indent="-342900" algn="just">
              <a:lnSpc>
                <a:spcPct val="150000"/>
              </a:lnSpc>
              <a:buFont typeface="Arial" panose="020B0604020202020204" pitchFamily="34" charset="0"/>
              <a:buChar char="•"/>
              <a:tabLst>
                <a:tab pos="457200" algn="l"/>
              </a:tabLst>
            </a:pPr>
            <a:r>
              <a:rPr lang="ru-RU" sz="2000" b="1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Связать бизнес и IT</a:t>
            </a:r>
            <a:r>
              <a:rPr lang="ru-RU" sz="2000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 — диаграммы BPMN могут быть преобразованы в исполняемый код (XML) для движков бизнес-процессов .</a:t>
            </a:r>
            <a:endParaRPr lang="en-US" sz="20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342900" lvl="0" indent="-342900" algn="just">
              <a:lnSpc>
                <a:spcPct val="150000"/>
              </a:lnSpc>
              <a:buFont typeface="Arial" panose="020B0604020202020204" pitchFamily="34" charset="0"/>
              <a:buChar char="•"/>
              <a:tabLst>
                <a:tab pos="457200" algn="l"/>
              </a:tabLst>
            </a:pPr>
            <a:r>
              <a:rPr lang="ru-RU" sz="2000" b="1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Оптимизировать деятельность</a:t>
            </a:r>
            <a:r>
              <a:rPr lang="ru-RU" sz="2000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 — выявлять узкие места, дублирование функций и возможности для автоматизации.</a:t>
            </a:r>
            <a:endParaRPr lang="en-US" sz="20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algn="just">
              <a:lnSpc>
                <a:spcPct val="150000"/>
              </a:lnSpc>
              <a:spcBef>
                <a:spcPts val="1200"/>
              </a:spcBef>
            </a:pPr>
            <a:endParaRPr lang="en-US" sz="18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959C283-2F3B-9343-D0E8-821A55D5CA6C}"/>
              </a:ext>
            </a:extLst>
          </p:cNvPr>
          <p:cNvSpPr txBox="1"/>
          <p:nvPr/>
        </p:nvSpPr>
        <p:spPr>
          <a:xfrm>
            <a:off x="893813" y="180932"/>
            <a:ext cx="10726994" cy="52321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ru-RU" sz="2800" b="1" i="0" u="none" strike="noStrike" cap="none" spc="0" normalizeH="0" baseline="0" dirty="0">
                <a:ln>
                  <a:noFill/>
                </a:ln>
                <a:solidFill>
                  <a:schemeClr val="accent1"/>
                </a:solidFill>
                <a:effectLst/>
                <a:uFillTx/>
                <a:latin typeface="+mn-lt"/>
                <a:ea typeface="Arial"/>
                <a:cs typeface="Arial"/>
                <a:sym typeface="Arial"/>
              </a:rPr>
              <a:t>ИЗУЧЕНИЕ НАЗНАЧЕНИЯ И ОСОБЕННОСТЕЙ </a:t>
            </a:r>
            <a:r>
              <a:rPr kumimoji="0" lang="en-US" sz="2800" b="1" i="0" u="none" strike="noStrike" cap="none" spc="0" normalizeH="0" baseline="0" dirty="0">
                <a:ln>
                  <a:noFill/>
                </a:ln>
                <a:solidFill>
                  <a:schemeClr val="accent1"/>
                </a:solidFill>
                <a:effectLst/>
                <a:uFillTx/>
                <a:latin typeface="+mn-lt"/>
                <a:ea typeface="Arial"/>
                <a:cs typeface="Arial"/>
                <a:sym typeface="Arial"/>
              </a:rPr>
              <a:t>BPMN 2.0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CDA34B9-382B-69CA-075A-BEB4EA2BC646}"/>
              </a:ext>
            </a:extLst>
          </p:cNvPr>
          <p:cNvSpPr txBox="1"/>
          <p:nvPr/>
        </p:nvSpPr>
        <p:spPr>
          <a:xfrm>
            <a:off x="309716" y="229164"/>
            <a:ext cx="511277" cy="40010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ru-RU" sz="2000" b="1" dirty="0">
                <a:solidFill>
                  <a:schemeClr val="bg1"/>
                </a:solidFill>
                <a:latin typeface="+mn-lt"/>
              </a:rPr>
              <a:t>15</a:t>
            </a:r>
            <a:endParaRPr kumimoji="0" lang="en-US" sz="2000" b="1" i="0" u="none" strike="noStrike" cap="none" spc="0" normalizeH="0" baseline="0" dirty="0">
              <a:ln>
                <a:noFill/>
              </a:ln>
              <a:solidFill>
                <a:schemeClr val="bg1"/>
              </a:solidFill>
              <a:effectLst/>
              <a:uFillTx/>
              <a:latin typeface="+mn-lt"/>
              <a:ea typeface="Arial"/>
              <a:cs typeface="Arial"/>
              <a:sym typeface="Arial"/>
            </a:endParaRP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45AE52B3-7C14-4857-9495-735B10AE6303}"/>
              </a:ext>
            </a:extLst>
          </p:cNvPr>
          <p:cNvSpPr/>
          <p:nvPr/>
        </p:nvSpPr>
        <p:spPr>
          <a:xfrm>
            <a:off x="1047750" y="6410632"/>
            <a:ext cx="2743200" cy="285136"/>
          </a:xfrm>
          <a:prstGeom prst="rect">
            <a:avLst/>
          </a:prstGeom>
          <a:solidFill>
            <a:srgbClr val="FFFFFF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640032709"/>
      </p:ext>
    </p:extLst>
  </p:cSld>
  <p:clrMapOvr>
    <a:masterClrMapping/>
  </p:clrMapOvr>
  <p:transition spd="med"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DC830BA0-522C-F045-30D9-6AA9F8291E9E}"/>
              </a:ext>
            </a:extLst>
          </p:cNvPr>
          <p:cNvSpPr/>
          <p:nvPr/>
        </p:nvSpPr>
        <p:spPr>
          <a:xfrm>
            <a:off x="609600" y="6410632"/>
            <a:ext cx="511277" cy="285136"/>
          </a:xfrm>
          <a:prstGeom prst="rect">
            <a:avLst/>
          </a:prstGeom>
          <a:solidFill>
            <a:srgbClr val="FFFFFF"/>
          </a:solidFill>
          <a:ln w="12700" cap="flat">
            <a:solidFill>
              <a:schemeClr val="bg1"/>
            </a:solidFill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4AD1059-523C-1EA5-3EB0-54775AD19B12}"/>
              </a:ext>
            </a:extLst>
          </p:cNvPr>
          <p:cNvSpPr txBox="1"/>
          <p:nvPr/>
        </p:nvSpPr>
        <p:spPr>
          <a:xfrm>
            <a:off x="765687" y="1187324"/>
            <a:ext cx="11063748" cy="4457952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indent="449580" algn="just">
              <a:lnSpc>
                <a:spcPct val="150000"/>
              </a:lnSpc>
            </a:pPr>
            <a:r>
              <a:rPr lang="en-US" sz="2400" b="1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	</a:t>
            </a:r>
            <a:r>
              <a:rPr lang="ru-RU" sz="2400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BPMN был изначально разработан организацией BPMI.org в 2004 году. В 2005 году BPMI объединилась с Object Management Group (OMG), которая взяла на себя дальнейшее развитие стандарта. Версия </a:t>
            </a:r>
            <a:r>
              <a:rPr lang="ru-RU" sz="2400" b="1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BPMN 2.0</a:t>
            </a:r>
            <a:r>
              <a:rPr lang="ru-RU" sz="2400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была выпущена в 2011 году и стала важным этапом развития, так как ввела не только графическую нотацию, но и формальную метамодель, а также формат обмена данными.</a:t>
            </a:r>
            <a:endParaRPr lang="en-US" sz="24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indent="449580" algn="just">
              <a:lnSpc>
                <a:spcPct val="150000"/>
              </a:lnSpc>
            </a:pPr>
            <a:r>
              <a:rPr lang="ru-RU" sz="2400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В 2013 году BPMN 2.0 получил официальное признание как международный стандарт ISO </a:t>
            </a:r>
            <a:r>
              <a:rPr lang="ru-RU" sz="2400" b="1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ISO/IEC 19510</a:t>
            </a:r>
            <a:r>
              <a:rPr lang="ru-RU" sz="2400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, что подтверждает его глобальное значение и применение в различных отраслях.</a:t>
            </a:r>
            <a:endParaRPr lang="en-US" sz="24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959C283-2F3B-9343-D0E8-821A55D5CA6C}"/>
              </a:ext>
            </a:extLst>
          </p:cNvPr>
          <p:cNvSpPr txBox="1"/>
          <p:nvPr/>
        </p:nvSpPr>
        <p:spPr>
          <a:xfrm>
            <a:off x="934064" y="189842"/>
            <a:ext cx="10726994" cy="52321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ru-RU" sz="2800" b="1" dirty="0">
                <a:solidFill>
                  <a:schemeClr val="accent1"/>
                </a:solidFill>
                <a:latin typeface="+mn-lt"/>
              </a:rPr>
              <a:t>ИСТОРИЯ И СТАНДАРТИЗАЦИЯ</a:t>
            </a:r>
            <a:endParaRPr kumimoji="0" lang="en-US" sz="2800" b="1" i="0" u="none" strike="noStrike" cap="none" spc="0" normalizeH="0" baseline="0" dirty="0">
              <a:ln>
                <a:noFill/>
              </a:ln>
              <a:solidFill>
                <a:schemeClr val="accent1"/>
              </a:solidFill>
              <a:effectLst/>
              <a:uFillTx/>
              <a:latin typeface="+mn-lt"/>
              <a:ea typeface="Arial"/>
              <a:cs typeface="Arial"/>
              <a:sym typeface="Arial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CDA34B9-382B-69CA-075A-BEB4EA2BC646}"/>
              </a:ext>
            </a:extLst>
          </p:cNvPr>
          <p:cNvSpPr txBox="1"/>
          <p:nvPr/>
        </p:nvSpPr>
        <p:spPr>
          <a:xfrm>
            <a:off x="309716" y="229164"/>
            <a:ext cx="511277" cy="40010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ru-RU" sz="2000" b="1" dirty="0">
                <a:solidFill>
                  <a:schemeClr val="bg1"/>
                </a:solidFill>
                <a:latin typeface="+mn-lt"/>
              </a:rPr>
              <a:t>16</a:t>
            </a:r>
            <a:endParaRPr kumimoji="0" lang="en-US" sz="2000" b="1" i="0" u="none" strike="noStrike" cap="none" spc="0" normalizeH="0" baseline="0" dirty="0">
              <a:ln>
                <a:noFill/>
              </a:ln>
              <a:solidFill>
                <a:schemeClr val="bg1"/>
              </a:solidFill>
              <a:effectLst/>
              <a:uFillTx/>
              <a:latin typeface="+mn-lt"/>
              <a:ea typeface="Arial"/>
              <a:cs typeface="Arial"/>
              <a:sym typeface="Arial"/>
            </a:endParaRP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1EA62E2E-3B47-42B8-9536-A9631FF97283}"/>
              </a:ext>
            </a:extLst>
          </p:cNvPr>
          <p:cNvSpPr/>
          <p:nvPr/>
        </p:nvSpPr>
        <p:spPr>
          <a:xfrm>
            <a:off x="1047750" y="6410632"/>
            <a:ext cx="2743200" cy="285136"/>
          </a:xfrm>
          <a:prstGeom prst="rect">
            <a:avLst/>
          </a:prstGeom>
          <a:solidFill>
            <a:srgbClr val="FFFFFF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131537990"/>
      </p:ext>
    </p:extLst>
  </p:cSld>
  <p:clrMapOvr>
    <a:masterClrMapping/>
  </p:clrMapOvr>
  <p:transition spd="med"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DC830BA0-522C-F045-30D9-6AA9F8291E9E}"/>
              </a:ext>
            </a:extLst>
          </p:cNvPr>
          <p:cNvSpPr/>
          <p:nvPr/>
        </p:nvSpPr>
        <p:spPr>
          <a:xfrm>
            <a:off x="609600" y="6410632"/>
            <a:ext cx="511277" cy="285136"/>
          </a:xfrm>
          <a:prstGeom prst="rect">
            <a:avLst/>
          </a:prstGeom>
          <a:solidFill>
            <a:srgbClr val="FFFFFF"/>
          </a:solidFill>
          <a:ln w="12700" cap="flat">
            <a:solidFill>
              <a:schemeClr val="bg1"/>
            </a:solidFill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4AD1059-523C-1EA5-3EB0-54775AD19B12}"/>
              </a:ext>
            </a:extLst>
          </p:cNvPr>
          <p:cNvSpPr txBox="1"/>
          <p:nvPr/>
        </p:nvSpPr>
        <p:spPr>
          <a:xfrm>
            <a:off x="154858" y="851604"/>
            <a:ext cx="12644284" cy="76771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ru-RU" sz="1800" b="1" dirty="0">
                <a:solidFill>
                  <a:srgbClr val="0F1115"/>
                </a:solidFill>
                <a:effectLst/>
                <a:latin typeface="+mn-lt"/>
                <a:ea typeface="Calibri" panose="020F0502020204030204" pitchFamily="34" charset="0"/>
                <a:cs typeface="Times New Roman" panose="02020603050405020304" pitchFamily="18" charset="0"/>
              </a:rPr>
              <a:t>1. Четыре основные категории элементов</a:t>
            </a:r>
            <a:endParaRPr lang="ru-RU" b="1" dirty="0">
              <a:latin typeface="+mn-lt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ru-RU" sz="1800" dirty="0">
                <a:solidFill>
                  <a:srgbClr val="0F1115"/>
                </a:solidFill>
                <a:effectLst/>
                <a:latin typeface="+mn-lt"/>
                <a:ea typeface="Times New Roman" panose="02020603050405020304" pitchFamily="18" charset="0"/>
              </a:rPr>
              <a:t>Нотация BPMN 2.0 включает более 100 различных символов, но все они группируются в четыре основные категории:</a:t>
            </a:r>
            <a:endParaRPr lang="en-US" sz="1800" dirty="0">
              <a:effectLst/>
              <a:latin typeface="+mn-lt"/>
              <a:ea typeface="Times New Roman" panose="02020603050405020304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959C283-2F3B-9343-D0E8-821A55D5CA6C}"/>
              </a:ext>
            </a:extLst>
          </p:cNvPr>
          <p:cNvSpPr txBox="1"/>
          <p:nvPr/>
        </p:nvSpPr>
        <p:spPr>
          <a:xfrm>
            <a:off x="943896" y="179183"/>
            <a:ext cx="10726994" cy="52321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ru-RU" sz="2800" b="1" i="0" u="none" strike="noStrike" cap="none" spc="0" normalizeH="0" baseline="0" dirty="0">
                <a:ln>
                  <a:noFill/>
                </a:ln>
                <a:solidFill>
                  <a:schemeClr val="accent1"/>
                </a:solidFill>
                <a:effectLst/>
                <a:uFillTx/>
                <a:latin typeface="+mn-lt"/>
                <a:ea typeface="Arial"/>
                <a:cs typeface="Arial"/>
                <a:sym typeface="Arial"/>
              </a:rPr>
              <a:t>КЛЮЧЕВЫЕ ОСОБЕННОСТИ </a:t>
            </a:r>
            <a:r>
              <a:rPr kumimoji="0" lang="en-US" sz="2800" b="1" i="0" u="none" strike="noStrike" cap="none" spc="0" normalizeH="0" baseline="0" dirty="0">
                <a:ln>
                  <a:noFill/>
                </a:ln>
                <a:solidFill>
                  <a:schemeClr val="accent1"/>
                </a:solidFill>
                <a:effectLst/>
                <a:uFillTx/>
                <a:latin typeface="+mn-lt"/>
                <a:ea typeface="Arial"/>
                <a:cs typeface="Arial"/>
                <a:sym typeface="Arial"/>
              </a:rPr>
              <a:t>BPMN 2.0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CDA34B9-382B-69CA-075A-BEB4EA2BC646}"/>
              </a:ext>
            </a:extLst>
          </p:cNvPr>
          <p:cNvSpPr txBox="1"/>
          <p:nvPr/>
        </p:nvSpPr>
        <p:spPr>
          <a:xfrm>
            <a:off x="309716" y="229164"/>
            <a:ext cx="511277" cy="40010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ru-RU" sz="2000" b="1" dirty="0">
                <a:solidFill>
                  <a:schemeClr val="bg1"/>
                </a:solidFill>
                <a:latin typeface="+mn-lt"/>
              </a:rPr>
              <a:t>17</a:t>
            </a:r>
            <a:endParaRPr kumimoji="0" lang="en-US" sz="2000" b="1" i="0" u="none" strike="noStrike" cap="none" spc="0" normalizeH="0" baseline="0" dirty="0">
              <a:ln>
                <a:noFill/>
              </a:ln>
              <a:solidFill>
                <a:schemeClr val="bg1"/>
              </a:solidFill>
              <a:effectLst/>
              <a:uFillTx/>
              <a:latin typeface="+mn-lt"/>
              <a:ea typeface="Arial"/>
              <a:cs typeface="Arial"/>
              <a:sym typeface="Arial"/>
            </a:endParaRPr>
          </a:p>
        </p:txBody>
      </p:sp>
      <p:graphicFrame>
        <p:nvGraphicFramePr>
          <p:cNvPr id="8" name="Таблица 7">
            <a:extLst>
              <a:ext uri="{FF2B5EF4-FFF2-40B4-BE49-F238E27FC236}">
                <a16:creationId xmlns:a16="http://schemas.microsoft.com/office/drawing/2014/main" id="{A81E10C5-55BA-7F41-8273-77B75F520BD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44271876"/>
              </p:ext>
            </p:extLst>
          </p:nvPr>
        </p:nvGraphicFramePr>
        <p:xfrm>
          <a:off x="602226" y="1768518"/>
          <a:ext cx="11749548" cy="4424143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3578941">
                  <a:extLst>
                    <a:ext uri="{9D8B030D-6E8A-4147-A177-3AD203B41FA5}">
                      <a16:colId xmlns:a16="http://schemas.microsoft.com/office/drawing/2014/main" val="2126030946"/>
                    </a:ext>
                  </a:extLst>
                </a:gridCol>
                <a:gridCol w="3441291">
                  <a:extLst>
                    <a:ext uri="{9D8B030D-6E8A-4147-A177-3AD203B41FA5}">
                      <a16:colId xmlns:a16="http://schemas.microsoft.com/office/drawing/2014/main" val="2738707327"/>
                    </a:ext>
                  </a:extLst>
                </a:gridCol>
                <a:gridCol w="4729316">
                  <a:extLst>
                    <a:ext uri="{9D8B030D-6E8A-4147-A177-3AD203B41FA5}">
                      <a16:colId xmlns:a16="http://schemas.microsoft.com/office/drawing/2014/main" val="2533489795"/>
                    </a:ext>
                  </a:extLst>
                </a:gridCol>
              </a:tblGrid>
              <a:tr h="238789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ru-RU" sz="1800" b="1" dirty="0">
                          <a:effectLst/>
                        </a:rPr>
                        <a:t>Категория</a:t>
                      </a:r>
                      <a:endParaRPr lang="en-US" sz="1800" b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179" marR="68179" marT="0" marB="0" anchor="ctr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ru-RU" sz="1800" b="1" dirty="0">
                          <a:effectLst/>
                        </a:rPr>
                        <a:t>Описание</a:t>
                      </a:r>
                      <a:endParaRPr lang="en-US" sz="1800" b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179" marR="68179" marT="0" marB="0" anchor="ctr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ru-RU" sz="1800" b="1" dirty="0">
                          <a:effectLst/>
                        </a:rPr>
                        <a:t>Примеры</a:t>
                      </a:r>
                      <a:endParaRPr lang="en-US" sz="1800" b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179" marR="68179" marT="0" marB="0" anchor="ctr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53403765"/>
                  </a:ext>
                </a:extLst>
              </a:tr>
              <a:tr h="1162059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ru-RU" sz="1800" dirty="0">
                          <a:effectLst/>
                        </a:rPr>
                        <a:t>Объекты потока (</a:t>
                      </a:r>
                      <a:r>
                        <a:rPr lang="ru-RU" sz="1800" dirty="0" err="1">
                          <a:effectLst/>
                        </a:rPr>
                        <a:t>Flow</a:t>
                      </a:r>
                      <a:r>
                        <a:rPr lang="ru-RU" sz="1800" dirty="0">
                          <a:effectLst/>
                        </a:rPr>
                        <a:t> </a:t>
                      </a:r>
                      <a:r>
                        <a:rPr lang="ru-RU" sz="1800" dirty="0" err="1">
                          <a:effectLst/>
                        </a:rPr>
                        <a:t>Objects</a:t>
                      </a:r>
                      <a:r>
                        <a:rPr lang="ru-RU" sz="1800" dirty="0">
                          <a:effectLst/>
                        </a:rPr>
                        <a:t>)</a:t>
                      </a:r>
                      <a:endParaRPr lang="en-US" sz="18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179" marR="68179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ru-RU" sz="1800" dirty="0">
                          <a:effectLst/>
                        </a:rPr>
                        <a:t>Основные строительные блоки, определяющие поведение процесса</a:t>
                      </a:r>
                      <a:endParaRPr lang="en-US" sz="18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179" marR="68179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ru-RU" sz="1800" dirty="0">
                          <a:effectLst/>
                        </a:rPr>
                        <a:t>События (круги), действия (прямоугольники со скруглениями), шлюзы (ромбы)</a:t>
                      </a:r>
                      <a:endParaRPr lang="en-US" sz="18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179" marR="68179" marT="0" marB="0" anchor="ctr"/>
                </a:tc>
                <a:extLst>
                  <a:ext uri="{0D108BD9-81ED-4DB2-BD59-A6C34878D82A}">
                    <a16:rowId xmlns:a16="http://schemas.microsoft.com/office/drawing/2014/main" val="759272579"/>
                  </a:ext>
                </a:extLst>
              </a:tr>
              <a:tr h="1308323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ru-RU" sz="1800">
                          <a:effectLst/>
                        </a:rPr>
                        <a:t>Соединяющие объекты (Connecting Objects)</a:t>
                      </a:r>
                      <a:endParaRPr lang="en-US" sz="18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179" marR="68179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ru-RU" sz="1800" dirty="0">
                          <a:effectLst/>
                        </a:rPr>
                        <a:t>Показывают, как элементы связаны между собой</a:t>
                      </a:r>
                      <a:endParaRPr lang="en-US" sz="18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179" marR="68179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ru-RU" sz="1800" dirty="0">
                          <a:effectLst/>
                        </a:rPr>
                        <a:t>Поток управления (сплошная стрелка), поток сообщений (пунктирная), ассоциации</a:t>
                      </a:r>
                      <a:endParaRPr lang="en-US" sz="18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179" marR="68179" marT="0" marB="0" anchor="ctr"/>
                </a:tc>
                <a:extLst>
                  <a:ext uri="{0D108BD9-81ED-4DB2-BD59-A6C34878D82A}">
                    <a16:rowId xmlns:a16="http://schemas.microsoft.com/office/drawing/2014/main" val="194504253"/>
                  </a:ext>
                </a:extLst>
              </a:tr>
              <a:tr h="773556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ru-RU" sz="1800">
                          <a:effectLst/>
                        </a:rPr>
                        <a:t>Зоны ответственности (Swimlanes)</a:t>
                      </a:r>
                      <a:endParaRPr lang="en-US" sz="18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179" marR="68179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ru-RU" sz="1800">
                          <a:effectLst/>
                        </a:rPr>
                        <a:t>Группируют действия по исполнителям или отделам</a:t>
                      </a:r>
                      <a:endParaRPr lang="en-US" sz="18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179" marR="68179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ru-RU" sz="1800" dirty="0">
                          <a:effectLst/>
                        </a:rPr>
                        <a:t>Пулы (целые организации) и дорожки (роли внутри пула)</a:t>
                      </a:r>
                      <a:endParaRPr lang="en-US" sz="18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179" marR="68179" marT="0" marB="0" anchor="ctr"/>
                </a:tc>
                <a:extLst>
                  <a:ext uri="{0D108BD9-81ED-4DB2-BD59-A6C34878D82A}">
                    <a16:rowId xmlns:a16="http://schemas.microsoft.com/office/drawing/2014/main" val="1043370756"/>
                  </a:ext>
                </a:extLst>
              </a:tr>
              <a:tr h="773556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ru-RU" sz="1800">
                          <a:effectLst/>
                        </a:rPr>
                        <a:t>Артефакты (Artifacts)</a:t>
                      </a:r>
                      <a:endParaRPr lang="en-US" sz="18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179" marR="68179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ru-RU" sz="1800">
                          <a:effectLst/>
                        </a:rPr>
                        <a:t>Добавляют дополнительную информацию</a:t>
                      </a:r>
                      <a:endParaRPr lang="en-US" sz="18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179" marR="68179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ru-RU" sz="1800" dirty="0">
                          <a:effectLst/>
                        </a:rPr>
                        <a:t>Объекты данных, группы, текстовые аннотации</a:t>
                      </a:r>
                      <a:endParaRPr lang="en-US" sz="18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179" marR="68179" marT="0" marB="0" anchor="ctr"/>
                </a:tc>
                <a:extLst>
                  <a:ext uri="{0D108BD9-81ED-4DB2-BD59-A6C34878D82A}">
                    <a16:rowId xmlns:a16="http://schemas.microsoft.com/office/drawing/2014/main" val="3751836740"/>
                  </a:ext>
                </a:extLst>
              </a:tr>
            </a:tbl>
          </a:graphicData>
        </a:graphic>
      </p:graphicFrame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F4106D70-4919-41E5-A8E6-60407CDAF629}"/>
              </a:ext>
            </a:extLst>
          </p:cNvPr>
          <p:cNvSpPr/>
          <p:nvPr/>
        </p:nvSpPr>
        <p:spPr>
          <a:xfrm>
            <a:off x="1047750" y="6410632"/>
            <a:ext cx="2743200" cy="285136"/>
          </a:xfrm>
          <a:prstGeom prst="rect">
            <a:avLst/>
          </a:prstGeom>
          <a:solidFill>
            <a:srgbClr val="FFFFFF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779081288"/>
      </p:ext>
    </p:extLst>
  </p:cSld>
  <p:clrMapOvr>
    <a:masterClrMapping/>
  </p:clrMapOvr>
  <p:transition spd="med"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DC830BA0-522C-F045-30D9-6AA9F8291E9E}"/>
              </a:ext>
            </a:extLst>
          </p:cNvPr>
          <p:cNvSpPr/>
          <p:nvPr/>
        </p:nvSpPr>
        <p:spPr>
          <a:xfrm>
            <a:off x="609600" y="6410632"/>
            <a:ext cx="511277" cy="285136"/>
          </a:xfrm>
          <a:prstGeom prst="rect">
            <a:avLst/>
          </a:prstGeom>
          <a:solidFill>
            <a:srgbClr val="FFFFFF"/>
          </a:solidFill>
          <a:ln w="12700" cap="flat">
            <a:solidFill>
              <a:schemeClr val="bg1"/>
            </a:solidFill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4AD1059-523C-1EA5-3EB0-54775AD19B12}"/>
              </a:ext>
            </a:extLst>
          </p:cNvPr>
          <p:cNvSpPr txBox="1"/>
          <p:nvPr/>
        </p:nvSpPr>
        <p:spPr>
          <a:xfrm>
            <a:off x="154858" y="1024044"/>
            <a:ext cx="12644284" cy="505337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>
              <a:lnSpc>
                <a:spcPct val="107000"/>
              </a:lnSpc>
              <a:spcBef>
                <a:spcPts val="1200"/>
              </a:spcBef>
              <a:spcAft>
                <a:spcPts val="800"/>
              </a:spcAft>
            </a:pPr>
            <a:r>
              <a:rPr lang="ru-RU" sz="2400" b="1" dirty="0">
                <a:effectLst/>
                <a:latin typeface="+mn-lt"/>
                <a:ea typeface="Calibri" panose="020F0502020204030204" pitchFamily="34" charset="0"/>
                <a:cs typeface="Times New Roman" panose="02020603050405020304" pitchFamily="18" charset="0"/>
              </a:rPr>
              <a:t>2. Исполняемость и переносимость</a:t>
            </a:r>
            <a:endParaRPr lang="en-US" sz="2400" b="1" dirty="0">
              <a:effectLst/>
              <a:latin typeface="+mn-lt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indent="449580" algn="just">
              <a:lnSpc>
                <a:spcPct val="150000"/>
              </a:lnSpc>
            </a:pPr>
            <a:r>
              <a:rPr lang="ru-RU" sz="2400" dirty="0">
                <a:solidFill>
                  <a:srgbClr val="0F1115"/>
                </a:solidFill>
                <a:effectLst/>
                <a:latin typeface="+mn-lt"/>
                <a:ea typeface="Times New Roman" panose="02020603050405020304" pitchFamily="18" charset="0"/>
              </a:rPr>
              <a:t>В отличие от предыдущих версий, BPMN 2.0 определяет не только графическую нотацию, но и формальный XML-формат для обмена моделями между различными инструментами. Это означает, что процесс, созданный в одном редакторе (например, </a:t>
            </a:r>
            <a:r>
              <a:rPr lang="ru-RU" sz="2400" dirty="0" err="1">
                <a:solidFill>
                  <a:srgbClr val="0F1115"/>
                </a:solidFill>
                <a:effectLst/>
                <a:latin typeface="+mn-lt"/>
                <a:ea typeface="Times New Roman" panose="02020603050405020304" pitchFamily="18" charset="0"/>
              </a:rPr>
              <a:t>Camunda</a:t>
            </a:r>
            <a:r>
              <a:rPr lang="ru-RU" sz="2400" dirty="0">
                <a:solidFill>
                  <a:srgbClr val="0F1115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ru-RU" sz="2400" dirty="0" err="1">
                <a:solidFill>
                  <a:srgbClr val="0F1115"/>
                </a:solidFill>
                <a:effectLst/>
                <a:latin typeface="+mn-lt"/>
                <a:ea typeface="Times New Roman" panose="02020603050405020304" pitchFamily="18" charset="0"/>
              </a:rPr>
              <a:t>Modeler</a:t>
            </a:r>
            <a:r>
              <a:rPr lang="ru-RU" sz="2400" dirty="0">
                <a:solidFill>
                  <a:srgbClr val="0F1115"/>
                </a:solidFill>
                <a:effectLst/>
                <a:latin typeface="+mn-lt"/>
                <a:ea typeface="Times New Roman" panose="02020603050405020304" pitchFamily="18" charset="0"/>
              </a:rPr>
              <a:t>), может быть открыт в другом (например, </a:t>
            </a:r>
            <a:r>
              <a:rPr lang="ru-RU" sz="2400" dirty="0" err="1">
                <a:solidFill>
                  <a:srgbClr val="0F1115"/>
                </a:solidFill>
                <a:effectLst/>
                <a:latin typeface="+mn-lt"/>
                <a:ea typeface="Times New Roman" panose="02020603050405020304" pitchFamily="18" charset="0"/>
              </a:rPr>
              <a:t>Bizagi</a:t>
            </a:r>
            <a:r>
              <a:rPr lang="ru-RU" sz="2400" dirty="0">
                <a:solidFill>
                  <a:srgbClr val="0F1115"/>
                </a:solidFill>
                <a:effectLst/>
                <a:latin typeface="+mn-lt"/>
                <a:ea typeface="Times New Roman" panose="02020603050405020304" pitchFamily="18" charset="0"/>
              </a:rPr>
              <a:t>) и даже исполнен на движке бизнес-процессов.</a:t>
            </a:r>
            <a:endParaRPr lang="en-US" sz="2400" dirty="0">
              <a:effectLst/>
              <a:latin typeface="+mn-lt"/>
              <a:ea typeface="Times New Roman" panose="02020603050405020304" pitchFamily="18" charset="0"/>
            </a:endParaRPr>
          </a:p>
          <a:p>
            <a:pPr>
              <a:lnSpc>
                <a:spcPct val="107000"/>
              </a:lnSpc>
              <a:spcBef>
                <a:spcPts val="1200"/>
              </a:spcBef>
              <a:spcAft>
                <a:spcPts val="800"/>
              </a:spcAft>
            </a:pPr>
            <a:r>
              <a:rPr lang="ru-RU" sz="2400" b="1" dirty="0">
                <a:latin typeface="+mn-lt"/>
                <a:ea typeface="Calibri" panose="020F0502020204030204" pitchFamily="34" charset="0"/>
                <a:cs typeface="Times New Roman" panose="02020603050405020304" pitchFamily="18" charset="0"/>
              </a:rPr>
              <a:t>3</a:t>
            </a:r>
            <a:r>
              <a:rPr lang="ru-RU" sz="2400" b="1" dirty="0">
                <a:effectLst/>
                <a:latin typeface="+mn-lt"/>
                <a:ea typeface="Calibri" panose="020F0502020204030204" pitchFamily="34" charset="0"/>
                <a:cs typeface="Times New Roman" panose="02020603050405020304" pitchFamily="18" charset="0"/>
              </a:rPr>
              <a:t>. Расширяемость</a:t>
            </a:r>
            <a:endParaRPr lang="en-US" sz="2400" b="1" dirty="0">
              <a:effectLst/>
              <a:latin typeface="+mn-lt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indent="449580" algn="just">
              <a:lnSpc>
                <a:spcPct val="150000"/>
              </a:lnSpc>
            </a:pPr>
            <a:r>
              <a:rPr lang="ru-RU" sz="2400" dirty="0">
                <a:solidFill>
                  <a:srgbClr val="0F1115"/>
                </a:solidFill>
                <a:effectLst/>
                <a:latin typeface="+mn-lt"/>
                <a:ea typeface="Times New Roman" panose="02020603050405020304" pitchFamily="18" charset="0"/>
              </a:rPr>
              <a:t>Стандарт предусматривает возможность расширения за счет добавления собственных атрибутов и элементов, что позволяет адаптировать его под специфические нужды организаций, сохраняя совместимость с базовым стандартом.</a:t>
            </a:r>
            <a:endParaRPr lang="en-US" sz="2400" dirty="0">
              <a:effectLst/>
              <a:latin typeface="+mn-lt"/>
              <a:ea typeface="Times New Roman" panose="02020603050405020304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959C283-2F3B-9343-D0E8-821A55D5CA6C}"/>
              </a:ext>
            </a:extLst>
          </p:cNvPr>
          <p:cNvSpPr txBox="1"/>
          <p:nvPr/>
        </p:nvSpPr>
        <p:spPr>
          <a:xfrm>
            <a:off x="953728" y="167609"/>
            <a:ext cx="10726994" cy="52321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ru-RU" sz="2800" b="1" i="0" u="none" strike="noStrike" cap="none" spc="0" normalizeH="0" baseline="0" dirty="0">
                <a:ln>
                  <a:noFill/>
                </a:ln>
                <a:solidFill>
                  <a:schemeClr val="accent1"/>
                </a:solidFill>
                <a:effectLst/>
                <a:uFillTx/>
                <a:latin typeface="+mn-lt"/>
                <a:ea typeface="Arial"/>
                <a:cs typeface="Arial"/>
                <a:sym typeface="Arial"/>
              </a:rPr>
              <a:t>КЛЮЧЕВЫЕ ОСОБЕННОСТИ </a:t>
            </a:r>
            <a:r>
              <a:rPr kumimoji="0" lang="en-US" sz="2800" b="1" i="0" u="none" strike="noStrike" cap="none" spc="0" normalizeH="0" baseline="0" dirty="0">
                <a:ln>
                  <a:noFill/>
                </a:ln>
                <a:solidFill>
                  <a:schemeClr val="accent1"/>
                </a:solidFill>
                <a:effectLst/>
                <a:uFillTx/>
                <a:latin typeface="+mn-lt"/>
                <a:ea typeface="Arial"/>
                <a:cs typeface="Arial"/>
                <a:sym typeface="Arial"/>
              </a:rPr>
              <a:t>BPMN 2.0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CDA34B9-382B-69CA-075A-BEB4EA2BC646}"/>
              </a:ext>
            </a:extLst>
          </p:cNvPr>
          <p:cNvSpPr txBox="1"/>
          <p:nvPr/>
        </p:nvSpPr>
        <p:spPr>
          <a:xfrm>
            <a:off x="309716" y="229164"/>
            <a:ext cx="511277" cy="40010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ru-RU" sz="2000" b="1" dirty="0">
                <a:solidFill>
                  <a:schemeClr val="bg1"/>
                </a:solidFill>
                <a:latin typeface="+mn-lt"/>
              </a:rPr>
              <a:t>18</a:t>
            </a:r>
            <a:endParaRPr kumimoji="0" lang="en-US" sz="2000" b="1" i="0" u="none" strike="noStrike" cap="none" spc="0" normalizeH="0" baseline="0" dirty="0">
              <a:ln>
                <a:noFill/>
              </a:ln>
              <a:solidFill>
                <a:schemeClr val="bg1"/>
              </a:solidFill>
              <a:effectLst/>
              <a:uFillTx/>
              <a:latin typeface="+mn-lt"/>
              <a:ea typeface="Arial"/>
              <a:cs typeface="Arial"/>
              <a:sym typeface="Arial"/>
            </a:endParaRP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586CB0D9-8AAA-4A90-A494-6F6B00B6E61A}"/>
              </a:ext>
            </a:extLst>
          </p:cNvPr>
          <p:cNvSpPr/>
          <p:nvPr/>
        </p:nvSpPr>
        <p:spPr>
          <a:xfrm>
            <a:off x="1047750" y="6410632"/>
            <a:ext cx="2743200" cy="285136"/>
          </a:xfrm>
          <a:prstGeom prst="rect">
            <a:avLst/>
          </a:prstGeom>
          <a:solidFill>
            <a:srgbClr val="FFFFFF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040407840"/>
      </p:ext>
    </p:extLst>
  </p:cSld>
  <p:clrMapOvr>
    <a:masterClrMapping/>
  </p:clrMapOvr>
  <p:transition spd="med"/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DC830BA0-522C-F045-30D9-6AA9F8291E9E}"/>
              </a:ext>
            </a:extLst>
          </p:cNvPr>
          <p:cNvSpPr/>
          <p:nvPr/>
        </p:nvSpPr>
        <p:spPr>
          <a:xfrm>
            <a:off x="609600" y="6410632"/>
            <a:ext cx="511277" cy="285136"/>
          </a:xfrm>
          <a:prstGeom prst="rect">
            <a:avLst/>
          </a:prstGeom>
          <a:solidFill>
            <a:srgbClr val="FFFFFF"/>
          </a:solidFill>
          <a:ln w="12700" cap="flat">
            <a:solidFill>
              <a:schemeClr val="bg1"/>
            </a:solidFill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4AD1059-523C-1EA5-3EB0-54775AD19B12}"/>
              </a:ext>
            </a:extLst>
          </p:cNvPr>
          <p:cNvSpPr txBox="1"/>
          <p:nvPr/>
        </p:nvSpPr>
        <p:spPr>
          <a:xfrm>
            <a:off x="565354" y="1232911"/>
            <a:ext cx="10935929" cy="4987712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>
              <a:lnSpc>
                <a:spcPct val="107000"/>
              </a:lnSpc>
              <a:spcBef>
                <a:spcPts val="1200"/>
              </a:spcBef>
              <a:spcAft>
                <a:spcPts val="800"/>
              </a:spcAft>
            </a:pPr>
            <a:r>
              <a:rPr lang="ru-RU" sz="2400" b="1" dirty="0">
                <a:latin typeface="+mn-lt"/>
                <a:ea typeface="Calibri" panose="020F0502020204030204" pitchFamily="34" charset="0"/>
                <a:cs typeface="Times New Roman" panose="02020603050405020304" pitchFamily="18" charset="0"/>
              </a:rPr>
              <a:t>4</a:t>
            </a:r>
            <a:r>
              <a:rPr lang="ru-RU" sz="2400" b="1" dirty="0">
                <a:effectLst/>
                <a:latin typeface="+mn-lt"/>
                <a:ea typeface="Calibri" panose="020F0502020204030204" pitchFamily="34" charset="0"/>
                <a:cs typeface="Times New Roman" panose="02020603050405020304" pitchFamily="18" charset="0"/>
              </a:rPr>
              <a:t>. Поддержка различных уровней детализации</a:t>
            </a:r>
            <a:endParaRPr lang="en-US" sz="2400" b="1" dirty="0">
              <a:effectLst/>
              <a:latin typeface="+mn-lt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indent="228600" algn="just">
              <a:lnSpc>
                <a:spcPct val="150000"/>
              </a:lnSpc>
            </a:pPr>
            <a:r>
              <a:rPr lang="ru-RU" sz="2400" dirty="0">
                <a:solidFill>
                  <a:srgbClr val="0F1115"/>
                </a:solidFill>
                <a:effectLst/>
                <a:latin typeface="+mn-lt"/>
                <a:ea typeface="Times New Roman" panose="02020603050405020304" pitchFamily="18" charset="0"/>
              </a:rPr>
              <a:t>BPMN 2.0 позволяет создавать модели с разной степенью детализации в зависимости от целевой аудитории:</a:t>
            </a:r>
            <a:endParaRPr lang="en-US" sz="2400" dirty="0">
              <a:effectLst/>
              <a:latin typeface="+mn-lt"/>
              <a:ea typeface="Times New Roman" panose="02020603050405020304" pitchFamily="18" charset="0"/>
            </a:endParaRPr>
          </a:p>
          <a:p>
            <a:pPr marL="342900" lvl="0" indent="-342900" algn="just">
              <a:lnSpc>
                <a:spcPct val="150000"/>
              </a:lnSpc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ru-RU" sz="2400" b="1" dirty="0">
                <a:solidFill>
                  <a:srgbClr val="0F1115"/>
                </a:solidFill>
                <a:effectLst/>
                <a:latin typeface="+mn-lt"/>
                <a:ea typeface="Times New Roman" panose="02020603050405020304" pitchFamily="18" charset="0"/>
              </a:rPr>
              <a:t>Для менеджмента</a:t>
            </a:r>
            <a:r>
              <a:rPr lang="ru-RU" sz="2400" dirty="0">
                <a:solidFill>
                  <a:srgbClr val="0F1115"/>
                </a:solidFill>
                <a:effectLst/>
                <a:latin typeface="+mn-lt"/>
                <a:ea typeface="Times New Roman" panose="02020603050405020304" pitchFamily="18" charset="0"/>
              </a:rPr>
              <a:t> — общие схемы верхнего уровня, показывающие основные этапы.</a:t>
            </a:r>
            <a:endParaRPr lang="en-US" sz="2400" dirty="0">
              <a:effectLst/>
              <a:latin typeface="+mn-lt"/>
              <a:ea typeface="Times New Roman" panose="02020603050405020304" pitchFamily="18" charset="0"/>
            </a:endParaRPr>
          </a:p>
          <a:p>
            <a:pPr marL="342900" lvl="0" indent="-342900" algn="just">
              <a:lnSpc>
                <a:spcPct val="150000"/>
              </a:lnSpc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ru-RU" sz="2400" b="1" dirty="0">
                <a:solidFill>
                  <a:srgbClr val="0F1115"/>
                </a:solidFill>
                <a:effectLst/>
                <a:latin typeface="+mn-lt"/>
                <a:ea typeface="Times New Roman" panose="02020603050405020304" pitchFamily="18" charset="0"/>
              </a:rPr>
              <a:t>Для бизнес-аналитиков</a:t>
            </a:r>
            <a:r>
              <a:rPr lang="ru-RU" sz="2400" dirty="0">
                <a:solidFill>
                  <a:srgbClr val="0F1115"/>
                </a:solidFill>
                <a:effectLst/>
                <a:latin typeface="+mn-lt"/>
                <a:ea typeface="Times New Roman" panose="02020603050405020304" pitchFamily="18" charset="0"/>
              </a:rPr>
              <a:t> — детализированные модели с условиями и исключениями.</a:t>
            </a:r>
            <a:endParaRPr lang="en-US" sz="2400" dirty="0">
              <a:effectLst/>
              <a:latin typeface="+mn-lt"/>
              <a:ea typeface="Times New Roman" panose="02020603050405020304" pitchFamily="18" charset="0"/>
            </a:endParaRPr>
          </a:p>
          <a:p>
            <a:pPr marL="342900" lvl="0" indent="-342900" algn="just">
              <a:lnSpc>
                <a:spcPct val="150000"/>
              </a:lnSpc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ru-RU" sz="2400" b="1" dirty="0">
                <a:solidFill>
                  <a:srgbClr val="0F1115"/>
                </a:solidFill>
                <a:effectLst/>
                <a:latin typeface="+mn-lt"/>
                <a:ea typeface="Times New Roman" panose="02020603050405020304" pitchFamily="18" charset="0"/>
              </a:rPr>
              <a:t>Для разработчиков</a:t>
            </a:r>
            <a:r>
              <a:rPr lang="ru-RU" sz="2400" dirty="0">
                <a:solidFill>
                  <a:srgbClr val="0F1115"/>
                </a:solidFill>
                <a:effectLst/>
                <a:latin typeface="+mn-lt"/>
                <a:ea typeface="Times New Roman" panose="02020603050405020304" pitchFamily="18" charset="0"/>
              </a:rPr>
              <a:t> — исполняемые модели с техническими деталями.</a:t>
            </a:r>
            <a:endParaRPr lang="en-US" sz="2400" dirty="0">
              <a:effectLst/>
              <a:latin typeface="+mn-lt"/>
              <a:ea typeface="Times New Roman" panose="02020603050405020304" pitchFamily="18" charset="0"/>
            </a:endParaRPr>
          </a:p>
          <a:p>
            <a:pPr algn="just">
              <a:lnSpc>
                <a:spcPct val="150000"/>
              </a:lnSpc>
              <a:spcBef>
                <a:spcPts val="1200"/>
              </a:spcBef>
            </a:pPr>
            <a:endParaRPr lang="en-US" sz="18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959C283-2F3B-9343-D0E8-821A55D5CA6C}"/>
              </a:ext>
            </a:extLst>
          </p:cNvPr>
          <p:cNvSpPr txBox="1"/>
          <p:nvPr/>
        </p:nvSpPr>
        <p:spPr>
          <a:xfrm>
            <a:off x="953728" y="167609"/>
            <a:ext cx="10726994" cy="52321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ru-RU" sz="2800" b="1" i="0" u="none" strike="noStrike" cap="none" spc="0" normalizeH="0" baseline="0" dirty="0">
                <a:ln>
                  <a:noFill/>
                </a:ln>
                <a:solidFill>
                  <a:schemeClr val="accent1"/>
                </a:solidFill>
                <a:effectLst/>
                <a:uFillTx/>
                <a:latin typeface="+mn-lt"/>
                <a:ea typeface="Arial"/>
                <a:cs typeface="Arial"/>
                <a:sym typeface="Arial"/>
              </a:rPr>
              <a:t>КЛЮЧЕВЫЕ ОСОБЕННОСТИ </a:t>
            </a:r>
            <a:r>
              <a:rPr kumimoji="0" lang="en-US" sz="2800" b="1" i="0" u="none" strike="noStrike" cap="none" spc="0" normalizeH="0" baseline="0" dirty="0">
                <a:ln>
                  <a:noFill/>
                </a:ln>
                <a:solidFill>
                  <a:schemeClr val="accent1"/>
                </a:solidFill>
                <a:effectLst/>
                <a:uFillTx/>
                <a:latin typeface="+mn-lt"/>
                <a:ea typeface="Arial"/>
                <a:cs typeface="Arial"/>
                <a:sym typeface="Arial"/>
              </a:rPr>
              <a:t>BPMN 2.0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CDA34B9-382B-69CA-075A-BEB4EA2BC646}"/>
              </a:ext>
            </a:extLst>
          </p:cNvPr>
          <p:cNvSpPr txBox="1"/>
          <p:nvPr/>
        </p:nvSpPr>
        <p:spPr>
          <a:xfrm>
            <a:off x="309716" y="229164"/>
            <a:ext cx="511277" cy="40010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ru-RU" sz="2000" b="1" dirty="0">
                <a:solidFill>
                  <a:schemeClr val="bg1"/>
                </a:solidFill>
                <a:latin typeface="+mn-lt"/>
              </a:rPr>
              <a:t>19</a:t>
            </a:r>
            <a:endParaRPr kumimoji="0" lang="en-US" sz="2000" b="1" i="0" u="none" strike="noStrike" cap="none" spc="0" normalizeH="0" baseline="0" dirty="0">
              <a:ln>
                <a:noFill/>
              </a:ln>
              <a:solidFill>
                <a:schemeClr val="bg1"/>
              </a:solidFill>
              <a:effectLst/>
              <a:uFillTx/>
              <a:latin typeface="+mn-lt"/>
              <a:ea typeface="Arial"/>
              <a:cs typeface="Arial"/>
              <a:sym typeface="Arial"/>
            </a:endParaRP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2432C915-7AF9-4D7C-9532-AD04DC64F6C7}"/>
              </a:ext>
            </a:extLst>
          </p:cNvPr>
          <p:cNvSpPr/>
          <p:nvPr/>
        </p:nvSpPr>
        <p:spPr>
          <a:xfrm>
            <a:off x="1047750" y="6410632"/>
            <a:ext cx="2743200" cy="285136"/>
          </a:xfrm>
          <a:prstGeom prst="rect">
            <a:avLst/>
          </a:prstGeom>
          <a:solidFill>
            <a:srgbClr val="FFFFFF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575923550"/>
      </p:ext>
    </p:extLst>
  </p:cSld>
  <p:clrMapOvr>
    <a:masterClrMapping/>
  </p:clrMapOvr>
  <p:transition spd="med"/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DC830BA0-522C-F045-30D9-6AA9F8291E9E}"/>
              </a:ext>
            </a:extLst>
          </p:cNvPr>
          <p:cNvSpPr/>
          <p:nvPr/>
        </p:nvSpPr>
        <p:spPr>
          <a:xfrm>
            <a:off x="609600" y="6410632"/>
            <a:ext cx="511277" cy="285136"/>
          </a:xfrm>
          <a:prstGeom prst="rect">
            <a:avLst/>
          </a:prstGeom>
          <a:solidFill>
            <a:srgbClr val="FFFFFF"/>
          </a:solidFill>
          <a:ln w="12700" cap="flat">
            <a:solidFill>
              <a:schemeClr val="bg1"/>
            </a:solidFill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4AD1059-523C-1EA5-3EB0-54775AD19B12}"/>
              </a:ext>
            </a:extLst>
          </p:cNvPr>
          <p:cNvSpPr txBox="1"/>
          <p:nvPr/>
        </p:nvSpPr>
        <p:spPr>
          <a:xfrm>
            <a:off x="953728" y="1604299"/>
            <a:ext cx="10895372" cy="389286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marL="342900" lvl="0" indent="-342900" algn="just">
              <a:lnSpc>
                <a:spcPct val="150000"/>
              </a:lnSpc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ru-RU" sz="2800" b="1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Стандартизация</a:t>
            </a:r>
            <a:r>
              <a:rPr lang="ru-RU" sz="2800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 — единый язык понятен всем участникам,</a:t>
            </a:r>
            <a:endParaRPr lang="en-US" sz="28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342900" lvl="0" indent="-342900" algn="just">
              <a:lnSpc>
                <a:spcPct val="150000"/>
              </a:lnSpc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ru-RU" sz="2800" b="1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Интуитивность</a:t>
            </a:r>
            <a:r>
              <a:rPr lang="ru-RU" sz="2800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 — даже нетехнические специалисты могут читать диаграммы,</a:t>
            </a:r>
            <a:endParaRPr lang="en-US" sz="28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342900" lvl="0" indent="-342900" algn="just">
              <a:lnSpc>
                <a:spcPct val="150000"/>
              </a:lnSpc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ru-RU" sz="2800" b="1" dirty="0" err="1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Межфункциональное</a:t>
            </a:r>
            <a:r>
              <a:rPr lang="ru-RU" sz="2800" b="1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взаимодействие</a:t>
            </a:r>
            <a:r>
              <a:rPr lang="ru-RU" sz="2800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 — объединяет бизнес и IT,</a:t>
            </a:r>
            <a:endParaRPr lang="en-US" sz="28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342900" lvl="0" indent="-342900" algn="just">
              <a:lnSpc>
                <a:spcPct val="150000"/>
              </a:lnSpc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ru-RU" sz="2800" b="1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Масштабируемость</a:t>
            </a:r>
            <a:r>
              <a:rPr lang="ru-RU" sz="2800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 — подходит для простых и сверхсложных процессов.</a:t>
            </a:r>
            <a:endParaRPr lang="en-US" sz="28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959C283-2F3B-9343-D0E8-821A55D5CA6C}"/>
              </a:ext>
            </a:extLst>
          </p:cNvPr>
          <p:cNvSpPr txBox="1"/>
          <p:nvPr/>
        </p:nvSpPr>
        <p:spPr>
          <a:xfrm>
            <a:off x="953728" y="167609"/>
            <a:ext cx="10726994" cy="52321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ru-RU" sz="2800" b="1" i="0" u="none" strike="noStrike" cap="none" spc="0" normalizeH="0" baseline="0" dirty="0">
                <a:ln>
                  <a:noFill/>
                </a:ln>
                <a:solidFill>
                  <a:schemeClr val="accent1"/>
                </a:solidFill>
                <a:effectLst/>
                <a:uFillTx/>
                <a:latin typeface="+mn-lt"/>
                <a:ea typeface="Arial"/>
                <a:cs typeface="Arial"/>
                <a:sym typeface="Arial"/>
              </a:rPr>
              <a:t>ПРИЕМУЩЕСТВА ИСПОЛЬЗОВАНИЯ </a:t>
            </a:r>
            <a:r>
              <a:rPr kumimoji="0" lang="en-US" sz="2800" b="1" i="0" u="none" strike="noStrike" cap="none" spc="0" normalizeH="0" baseline="0" dirty="0">
                <a:ln>
                  <a:noFill/>
                </a:ln>
                <a:solidFill>
                  <a:schemeClr val="accent1"/>
                </a:solidFill>
                <a:effectLst/>
                <a:uFillTx/>
                <a:latin typeface="+mn-lt"/>
                <a:ea typeface="Arial"/>
                <a:cs typeface="Arial"/>
                <a:sym typeface="Arial"/>
              </a:rPr>
              <a:t>BPMN 2.0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CDA34B9-382B-69CA-075A-BEB4EA2BC646}"/>
              </a:ext>
            </a:extLst>
          </p:cNvPr>
          <p:cNvSpPr txBox="1"/>
          <p:nvPr/>
        </p:nvSpPr>
        <p:spPr>
          <a:xfrm>
            <a:off x="309716" y="229164"/>
            <a:ext cx="511277" cy="40010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ru-RU" sz="2000" b="1" i="0" u="none" strike="noStrike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+mn-lt"/>
                <a:ea typeface="Arial"/>
                <a:cs typeface="Arial"/>
                <a:sym typeface="Arial"/>
              </a:rPr>
              <a:t>20</a:t>
            </a:r>
            <a:endParaRPr kumimoji="0" lang="en-US" sz="2000" b="1" i="0" u="none" strike="noStrike" cap="none" spc="0" normalizeH="0" baseline="0" dirty="0">
              <a:ln>
                <a:noFill/>
              </a:ln>
              <a:solidFill>
                <a:schemeClr val="bg1"/>
              </a:solidFill>
              <a:effectLst/>
              <a:uFillTx/>
              <a:latin typeface="+mn-lt"/>
              <a:ea typeface="Arial"/>
              <a:cs typeface="Arial"/>
              <a:sym typeface="Arial"/>
            </a:endParaRP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1AED6FE5-F155-414A-8F8F-09A05D0CC35C}"/>
              </a:ext>
            </a:extLst>
          </p:cNvPr>
          <p:cNvSpPr/>
          <p:nvPr/>
        </p:nvSpPr>
        <p:spPr>
          <a:xfrm>
            <a:off x="1047750" y="6410632"/>
            <a:ext cx="2743200" cy="285136"/>
          </a:xfrm>
          <a:prstGeom prst="rect">
            <a:avLst/>
          </a:prstGeom>
          <a:solidFill>
            <a:srgbClr val="FFFFFF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815952184"/>
      </p:ext>
    </p:extLst>
  </p:cSld>
  <p:clrMapOvr>
    <a:masterClrMapping/>
  </p:clrMapOvr>
  <p:transition spd="med"/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F3FEB316-2277-FA77-C407-D25E6BA8383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871" t="8246" r="3454" b="39207"/>
          <a:stretch/>
        </p:blipFill>
        <p:spPr>
          <a:xfrm>
            <a:off x="363317" y="3715701"/>
            <a:ext cx="12227366" cy="2980067"/>
          </a:xfrm>
          <a:prstGeom prst="rect">
            <a:avLst/>
          </a:prstGeom>
        </p:spPr>
      </p:pic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DC830BA0-522C-F045-30D9-6AA9F8291E9E}"/>
              </a:ext>
            </a:extLst>
          </p:cNvPr>
          <p:cNvSpPr/>
          <p:nvPr/>
        </p:nvSpPr>
        <p:spPr>
          <a:xfrm>
            <a:off x="609600" y="6410632"/>
            <a:ext cx="511277" cy="285136"/>
          </a:xfrm>
          <a:prstGeom prst="rect">
            <a:avLst/>
          </a:prstGeom>
          <a:solidFill>
            <a:srgbClr val="FFFFFF"/>
          </a:solidFill>
          <a:ln w="12700" cap="flat">
            <a:solidFill>
              <a:schemeClr val="bg1"/>
            </a:solidFill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4AD1059-523C-1EA5-3EB0-54775AD19B12}"/>
              </a:ext>
            </a:extLst>
          </p:cNvPr>
          <p:cNvSpPr txBox="1"/>
          <p:nvPr/>
        </p:nvSpPr>
        <p:spPr>
          <a:xfrm>
            <a:off x="154858" y="690827"/>
            <a:ext cx="12644284" cy="128907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indent="449580" algn="just">
              <a:lnSpc>
                <a:spcPct val="150000"/>
              </a:lnSpc>
            </a:pPr>
            <a:r>
              <a:rPr lang="ru-RU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Для наглядного представления процесса работы с кассовым чеком была выбрана нотация BPMN 2.0. В качестве инструмента моделирования использовался онлайн-сервис </a:t>
            </a:r>
            <a:r>
              <a:rPr lang="ru-RU" dirty="0" err="1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Stormbpmn</a:t>
            </a:r>
            <a:r>
              <a:rPr lang="ru-RU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.</a:t>
            </a:r>
            <a:endParaRPr lang="ru-RU" sz="1600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indent="449580" algn="just">
              <a:lnSpc>
                <a:spcPct val="150000"/>
              </a:lnSpc>
            </a:pPr>
            <a:r>
              <a:rPr lang="ru-RU" sz="1600" b="1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                                                                                                                 </a:t>
            </a:r>
            <a:r>
              <a:rPr lang="ru-RU" b="1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Основные элементы диаграммы:</a:t>
            </a:r>
            <a:endParaRPr lang="en-US" sz="16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959C283-2F3B-9343-D0E8-821A55D5CA6C}"/>
              </a:ext>
            </a:extLst>
          </p:cNvPr>
          <p:cNvSpPr txBox="1"/>
          <p:nvPr/>
        </p:nvSpPr>
        <p:spPr>
          <a:xfrm>
            <a:off x="953728" y="167609"/>
            <a:ext cx="10726994" cy="52321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ru-RU" sz="2800" b="1" i="0" u="none" strike="noStrike" cap="none" spc="0" normalizeH="0" baseline="0" dirty="0">
                <a:ln>
                  <a:noFill/>
                </a:ln>
                <a:solidFill>
                  <a:schemeClr val="accent1"/>
                </a:solidFill>
                <a:effectLst/>
                <a:uFillTx/>
                <a:latin typeface="+mn-lt"/>
                <a:ea typeface="Arial"/>
                <a:cs typeface="Arial"/>
                <a:sym typeface="Arial"/>
              </a:rPr>
              <a:t>МОДЕЛИРОВАНИЕ ПРОЦЕССА В НОТАЦИИ </a:t>
            </a:r>
            <a:r>
              <a:rPr kumimoji="0" lang="en-US" sz="2800" b="1" i="0" u="none" strike="noStrike" cap="none" spc="0" normalizeH="0" baseline="0" dirty="0">
                <a:ln>
                  <a:noFill/>
                </a:ln>
                <a:solidFill>
                  <a:schemeClr val="accent1"/>
                </a:solidFill>
                <a:effectLst/>
                <a:uFillTx/>
                <a:latin typeface="+mn-lt"/>
                <a:ea typeface="Arial"/>
                <a:cs typeface="Arial"/>
                <a:sym typeface="Arial"/>
              </a:rPr>
              <a:t>BPMN 2.0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CDA34B9-382B-69CA-075A-BEB4EA2BC646}"/>
              </a:ext>
            </a:extLst>
          </p:cNvPr>
          <p:cNvSpPr txBox="1"/>
          <p:nvPr/>
        </p:nvSpPr>
        <p:spPr>
          <a:xfrm>
            <a:off x="309716" y="229164"/>
            <a:ext cx="511277" cy="40010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ru-RU" sz="2000" b="1" i="0" u="none" strike="noStrike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+mn-lt"/>
                <a:ea typeface="Arial"/>
                <a:cs typeface="Arial"/>
                <a:sym typeface="Arial"/>
              </a:rPr>
              <a:t>21</a:t>
            </a:r>
            <a:endParaRPr kumimoji="0" lang="en-US" sz="2000" b="1" i="0" u="none" strike="noStrike" cap="none" spc="0" normalizeH="0" baseline="0" dirty="0">
              <a:ln>
                <a:noFill/>
              </a:ln>
              <a:solidFill>
                <a:schemeClr val="bg1"/>
              </a:solidFill>
              <a:effectLst/>
              <a:uFillTx/>
              <a:latin typeface="+mn-lt"/>
              <a:ea typeface="Arial"/>
              <a:cs typeface="Arial"/>
              <a:sym typeface="Arial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AE3A155-D588-CC9C-4CE0-79B0E7816B1B}"/>
              </a:ext>
            </a:extLst>
          </p:cNvPr>
          <p:cNvSpPr txBox="1"/>
          <p:nvPr/>
        </p:nvSpPr>
        <p:spPr>
          <a:xfrm>
            <a:off x="2927554" y="1941449"/>
            <a:ext cx="8664677" cy="235090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marL="285750" lvl="0" indent="-285750" algn="r">
              <a:lnSpc>
                <a:spcPct val="150000"/>
              </a:lnSpc>
              <a:buSzPts val="1000"/>
              <a:buFont typeface="Arial" panose="020B0604020202020204" pitchFamily="34" charset="0"/>
              <a:buChar char="•"/>
              <a:tabLst>
                <a:tab pos="457200" algn="l"/>
              </a:tabLst>
            </a:pPr>
            <a:r>
              <a:rPr lang="ru-RU" sz="1600" b="1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Участники процесса (</a:t>
            </a:r>
            <a:r>
              <a:rPr lang="ru-RU" sz="1600" b="1" dirty="0" err="1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Pools</a:t>
            </a:r>
            <a:r>
              <a:rPr lang="ru-RU" sz="1600" b="1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)</a:t>
            </a:r>
            <a:r>
              <a:rPr lang="ru-RU" sz="1600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: </a:t>
            </a:r>
            <a:r>
              <a:rPr lang="ru-RU" sz="1600" dirty="0">
                <a:solidFill>
                  <a:srgbClr val="0F1115"/>
                </a:solidFill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ru-RU" sz="1600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«Покупатель», «Кассир», «Кассовый аппарат (ККТ)».</a:t>
            </a:r>
          </a:p>
          <a:p>
            <a:pPr marL="285750" lvl="0" indent="-285750" algn="r">
              <a:lnSpc>
                <a:spcPct val="150000"/>
              </a:lnSpc>
              <a:buSzPts val="1000"/>
              <a:buFont typeface="Arial" panose="020B0604020202020204" pitchFamily="34" charset="0"/>
              <a:buChar char="•"/>
              <a:tabLst>
                <a:tab pos="457200" algn="l"/>
              </a:tabLst>
            </a:pPr>
            <a:r>
              <a:rPr lang="ru-RU" sz="1600" b="1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События (</a:t>
            </a:r>
            <a:r>
              <a:rPr lang="ru-RU" sz="1600" b="1" dirty="0" err="1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Events</a:t>
            </a:r>
            <a:r>
              <a:rPr lang="ru-RU" sz="1600" b="1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)</a:t>
            </a:r>
            <a:r>
              <a:rPr lang="ru-RU" sz="1600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:</a:t>
            </a:r>
            <a:endParaRPr lang="en-US" sz="16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742950" lvl="1" indent="-285750" algn="r">
              <a:lnSpc>
                <a:spcPct val="150000"/>
              </a:lnSpc>
              <a:buSzPts val="1000"/>
              <a:buFont typeface="Courier New" panose="02070309020205020404" pitchFamily="49" charset="0"/>
              <a:buChar char="o"/>
              <a:tabLst>
                <a:tab pos="914400" algn="l"/>
              </a:tabLst>
            </a:pPr>
            <a:r>
              <a:rPr lang="ru-RU" sz="1600" i="1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Стартовое:</a:t>
            </a:r>
            <a:r>
              <a:rPr lang="ru-RU" sz="1600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«Товар выбран для покупки»</a:t>
            </a:r>
            <a:endParaRPr lang="en-US" sz="1600" dirty="0">
              <a:effectLst/>
              <a:latin typeface="Times New Roman" panose="02020603050405020304" pitchFamily="18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742950" lvl="1" indent="-285750" algn="r">
              <a:lnSpc>
                <a:spcPct val="150000"/>
              </a:lnSpc>
              <a:buSzPts val="1000"/>
              <a:buFont typeface="Courier New" panose="02070309020205020404" pitchFamily="49" charset="0"/>
              <a:buChar char="o"/>
              <a:tabLst>
                <a:tab pos="914400" algn="l"/>
              </a:tabLst>
            </a:pPr>
            <a:r>
              <a:rPr lang="ru-RU" sz="1600" i="1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Промежуточные:</a:t>
            </a:r>
            <a:r>
              <a:rPr lang="ru-RU" sz="1600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«Оплата наличными получена»</a:t>
            </a:r>
            <a:endParaRPr lang="en-US" sz="1600" dirty="0">
              <a:effectLst/>
              <a:latin typeface="Times New Roman" panose="02020603050405020304" pitchFamily="18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742950" lvl="1" indent="-285750" algn="r">
              <a:lnSpc>
                <a:spcPct val="150000"/>
              </a:lnSpc>
              <a:buSzPts val="1000"/>
              <a:buFont typeface="Courier New" panose="02070309020205020404" pitchFamily="49" charset="0"/>
              <a:buChar char="o"/>
              <a:tabLst>
                <a:tab pos="914400" algn="l"/>
              </a:tabLst>
            </a:pPr>
            <a:r>
              <a:rPr lang="ru-RU" sz="1600" i="1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Конечное:</a:t>
            </a:r>
            <a:r>
              <a:rPr lang="ru-RU" sz="1600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«Чек получен покупателем»</a:t>
            </a:r>
            <a:endParaRPr lang="en-US" sz="1600" dirty="0">
              <a:effectLst/>
              <a:latin typeface="Times New Roman" panose="02020603050405020304" pitchFamily="18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0" algn="ctr">
              <a:lnSpc>
                <a:spcPct val="150000"/>
              </a:lnSpc>
              <a:buSzPts val="1000"/>
              <a:tabLst>
                <a:tab pos="457200" algn="l"/>
              </a:tabLst>
            </a:pPr>
            <a:endParaRPr lang="en-US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37176436"/>
      </p:ext>
    </p:extLst>
  </p:cSld>
  <p:clrMapOvr>
    <a:masterClrMapping/>
  </p:clrMapOvr>
  <p:transition spd="med"/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DC830BA0-522C-F045-30D9-6AA9F8291E9E}"/>
              </a:ext>
            </a:extLst>
          </p:cNvPr>
          <p:cNvSpPr/>
          <p:nvPr/>
        </p:nvSpPr>
        <p:spPr>
          <a:xfrm>
            <a:off x="609600" y="6410632"/>
            <a:ext cx="511277" cy="285136"/>
          </a:xfrm>
          <a:prstGeom prst="rect">
            <a:avLst/>
          </a:prstGeom>
          <a:solidFill>
            <a:srgbClr val="FFFFFF"/>
          </a:solidFill>
          <a:ln w="12700" cap="flat">
            <a:solidFill>
              <a:schemeClr val="bg1"/>
            </a:solidFill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959C283-2F3B-9343-D0E8-821A55D5CA6C}"/>
              </a:ext>
            </a:extLst>
          </p:cNvPr>
          <p:cNvSpPr txBox="1"/>
          <p:nvPr/>
        </p:nvSpPr>
        <p:spPr>
          <a:xfrm>
            <a:off x="953728" y="167609"/>
            <a:ext cx="10726994" cy="52321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ru-RU" sz="2800" b="1" i="0" u="none" strike="noStrike" cap="none" spc="0" normalizeH="0" baseline="0" dirty="0">
                <a:ln>
                  <a:noFill/>
                </a:ln>
                <a:solidFill>
                  <a:schemeClr val="accent1"/>
                </a:solidFill>
                <a:effectLst/>
                <a:uFillTx/>
                <a:latin typeface="+mn-lt"/>
                <a:ea typeface="Arial"/>
                <a:cs typeface="Arial"/>
                <a:sym typeface="Arial"/>
              </a:rPr>
              <a:t>МОДЕЛИРОВАНИЕ ПРОЦЕССА В НОТАЦИИ </a:t>
            </a:r>
            <a:r>
              <a:rPr kumimoji="0" lang="en-US" sz="2800" b="1" i="0" u="none" strike="noStrike" cap="none" spc="0" normalizeH="0" baseline="0" dirty="0">
                <a:ln>
                  <a:noFill/>
                </a:ln>
                <a:solidFill>
                  <a:schemeClr val="accent1"/>
                </a:solidFill>
                <a:effectLst/>
                <a:uFillTx/>
                <a:latin typeface="+mn-lt"/>
                <a:ea typeface="Arial"/>
                <a:cs typeface="Arial"/>
                <a:sym typeface="Arial"/>
              </a:rPr>
              <a:t>BPMN 2.0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CDA34B9-382B-69CA-075A-BEB4EA2BC646}"/>
              </a:ext>
            </a:extLst>
          </p:cNvPr>
          <p:cNvSpPr txBox="1"/>
          <p:nvPr/>
        </p:nvSpPr>
        <p:spPr>
          <a:xfrm>
            <a:off x="309716" y="229164"/>
            <a:ext cx="511277" cy="40010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ru-RU" sz="2000" b="1" i="0" u="none" strike="noStrike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+mn-lt"/>
                <a:ea typeface="Arial"/>
                <a:cs typeface="Arial"/>
                <a:sym typeface="Arial"/>
              </a:rPr>
              <a:t>22</a:t>
            </a:r>
            <a:endParaRPr kumimoji="0" lang="en-US" sz="2000" b="1" i="0" u="none" strike="noStrike" cap="none" spc="0" normalizeH="0" baseline="0" dirty="0">
              <a:ln>
                <a:noFill/>
              </a:ln>
              <a:solidFill>
                <a:schemeClr val="bg1"/>
              </a:solidFill>
              <a:effectLst/>
              <a:uFillTx/>
              <a:latin typeface="+mn-lt"/>
              <a:ea typeface="Arial"/>
              <a:cs typeface="Arial"/>
              <a:sym typeface="Arial"/>
            </a:endParaRP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A7FF1A1E-AE0F-27F0-6C09-F81EC93598F5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871" t="8246" r="3454" b="39508"/>
          <a:stretch/>
        </p:blipFill>
        <p:spPr>
          <a:xfrm>
            <a:off x="235735" y="4317860"/>
            <a:ext cx="9812833" cy="2377908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209552F1-DB8D-2B1C-E47F-7B92E1BA22B2}"/>
              </a:ext>
            </a:extLst>
          </p:cNvPr>
          <p:cNvSpPr txBox="1"/>
          <p:nvPr/>
        </p:nvSpPr>
        <p:spPr>
          <a:xfrm>
            <a:off x="-2458" y="601073"/>
            <a:ext cx="6479458" cy="2535566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marL="342900" lvl="0" indent="-342900" algn="just">
              <a:lnSpc>
                <a:spcPct val="150000"/>
              </a:lnSpc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ru-RU" b="1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Задачи (</a:t>
            </a:r>
            <a:r>
              <a:rPr lang="ru-RU" b="1" dirty="0" err="1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Tasks</a:t>
            </a:r>
            <a:r>
              <a:rPr lang="ru-RU" b="1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)</a:t>
            </a:r>
            <a:r>
              <a:rPr lang="ru-RU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:</a:t>
            </a:r>
            <a:endParaRPr lang="en-US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742950" lvl="1" indent="-285750" algn="just">
              <a:lnSpc>
                <a:spcPct val="150000"/>
              </a:lnSpc>
              <a:buSzPts val="1000"/>
              <a:buFont typeface="Courier New" panose="02070309020205020404" pitchFamily="49" charset="0"/>
              <a:buChar char="o"/>
              <a:tabLst>
                <a:tab pos="914400" algn="l"/>
              </a:tabLst>
            </a:pPr>
            <a:r>
              <a:rPr lang="ru-RU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«Внести/считать товар» (для Кассира)</a:t>
            </a:r>
            <a:endParaRPr lang="en-US" dirty="0">
              <a:effectLst/>
              <a:latin typeface="Times New Roman" panose="02020603050405020304" pitchFamily="18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742950" lvl="1" indent="-285750" algn="just">
              <a:lnSpc>
                <a:spcPct val="150000"/>
              </a:lnSpc>
              <a:buSzPts val="1000"/>
              <a:buFont typeface="Courier New" panose="02070309020205020404" pitchFamily="49" charset="0"/>
              <a:buChar char="o"/>
              <a:tabLst>
                <a:tab pos="914400" algn="l"/>
              </a:tabLst>
            </a:pPr>
            <a:r>
              <a:rPr lang="ru-RU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«Рассчитать итоговую сумму» (для ККТ)</a:t>
            </a:r>
            <a:endParaRPr lang="en-US" dirty="0">
              <a:effectLst/>
              <a:latin typeface="Times New Roman" panose="02020603050405020304" pitchFamily="18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742950" lvl="1" indent="-285750" algn="just">
              <a:lnSpc>
                <a:spcPct val="150000"/>
              </a:lnSpc>
              <a:buSzPts val="1000"/>
              <a:buFont typeface="Courier New" panose="02070309020205020404" pitchFamily="49" charset="0"/>
              <a:buChar char="o"/>
              <a:tabLst>
                <a:tab pos="914400" algn="l"/>
              </a:tabLst>
            </a:pPr>
            <a:r>
              <a:rPr lang="ru-RU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«Принять наличные» (для Кассира)</a:t>
            </a:r>
            <a:endParaRPr lang="en-US" dirty="0">
              <a:effectLst/>
              <a:latin typeface="Times New Roman" panose="02020603050405020304" pitchFamily="18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742950" lvl="1" indent="-285750" algn="just">
              <a:lnSpc>
                <a:spcPct val="150000"/>
              </a:lnSpc>
              <a:buSzPts val="1000"/>
              <a:buFont typeface="Courier New" panose="02070309020205020404" pitchFamily="49" charset="0"/>
              <a:buChar char="o"/>
              <a:tabLst>
                <a:tab pos="914400" algn="l"/>
              </a:tabLst>
            </a:pPr>
            <a:r>
              <a:rPr lang="ru-RU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«Зафиксировать оплату и напечатать чек» (для ККТ)</a:t>
            </a:r>
            <a:endParaRPr lang="en-US" dirty="0">
              <a:effectLst/>
              <a:latin typeface="Times New Roman" panose="02020603050405020304" pitchFamily="18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742950" lvl="1" indent="-285750" algn="just">
              <a:lnSpc>
                <a:spcPct val="150000"/>
              </a:lnSpc>
              <a:buSzPts val="1000"/>
              <a:buFont typeface="Courier New" panose="02070309020205020404" pitchFamily="49" charset="0"/>
              <a:buChar char="o"/>
              <a:tabLst>
                <a:tab pos="914400" algn="l"/>
              </a:tabLst>
            </a:pPr>
            <a:r>
              <a:rPr lang="ru-RU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«Передать чек покупателю» (для Кассира)</a:t>
            </a:r>
            <a:endParaRPr lang="en-US" dirty="0">
              <a:effectLst/>
              <a:latin typeface="Times New Roman" panose="02020603050405020304" pitchFamily="18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640652F-ABBE-EB8D-1D3D-3F6CFCB9CBF3}"/>
              </a:ext>
            </a:extLst>
          </p:cNvPr>
          <p:cNvSpPr txBox="1"/>
          <p:nvPr/>
        </p:nvSpPr>
        <p:spPr>
          <a:xfrm>
            <a:off x="6317225" y="702382"/>
            <a:ext cx="4881717" cy="1704569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marL="342900" lvl="0" indent="-342900" algn="just">
              <a:lnSpc>
                <a:spcPct val="150000"/>
              </a:lnSpc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ru-RU" b="1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Шлюзы (</a:t>
            </a:r>
            <a:r>
              <a:rPr lang="ru-RU" b="1" dirty="0" err="1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Gateways</a:t>
            </a:r>
            <a:r>
              <a:rPr lang="ru-RU" b="1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)</a:t>
            </a:r>
            <a:r>
              <a:rPr lang="ru-RU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: Использовался простой поток, без ветвлений.</a:t>
            </a:r>
            <a:endParaRPr lang="en-US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342900" lvl="0" indent="-342900" algn="just">
              <a:lnSpc>
                <a:spcPct val="150000"/>
              </a:lnSpc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ru-RU" b="1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Потоки данных (Data </a:t>
            </a:r>
            <a:r>
              <a:rPr lang="ru-RU" b="1" dirty="0" err="1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Objects</a:t>
            </a:r>
            <a:r>
              <a:rPr lang="ru-RU" b="1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)</a:t>
            </a:r>
            <a:r>
              <a:rPr lang="ru-RU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: «Информация о товаре», «Чек».</a:t>
            </a:r>
            <a:endParaRPr lang="en-US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695D56F-7DF8-84D6-FBAF-A08B9DC9BEA0}"/>
              </a:ext>
            </a:extLst>
          </p:cNvPr>
          <p:cNvSpPr txBox="1"/>
          <p:nvPr/>
        </p:nvSpPr>
        <p:spPr>
          <a:xfrm>
            <a:off x="5925128" y="2979422"/>
            <a:ext cx="6665555" cy="1704569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indent="449580" algn="r">
              <a:lnSpc>
                <a:spcPct val="150000"/>
              </a:lnSpc>
            </a:pPr>
            <a:r>
              <a:rPr lang="ru-RU" sz="1800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Кассир и кассовый аппарат выполняют последовательные операции по регистрации товара, расчету, приему оплаты и печати чека, который в итоге передается покупателю, </a:t>
            </a:r>
          </a:p>
          <a:p>
            <a:pPr indent="449580" algn="r">
              <a:lnSpc>
                <a:spcPct val="150000"/>
              </a:lnSpc>
            </a:pPr>
            <a:r>
              <a:rPr lang="ru-RU" sz="1800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завершая процесс.</a:t>
            </a:r>
            <a:endParaRPr lang="en-US" sz="16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E3C4388-10DA-A69A-49D3-3CAEA1F5805C}"/>
              </a:ext>
            </a:extLst>
          </p:cNvPr>
          <p:cNvSpPr txBox="1"/>
          <p:nvPr/>
        </p:nvSpPr>
        <p:spPr>
          <a:xfrm>
            <a:off x="6357031" y="2435718"/>
            <a:ext cx="6233652" cy="64633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algn="r"/>
            <a:r>
              <a:rPr lang="ru-RU" sz="1800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На диаграмме видно взаимодействие трех участников. Процесс начинается с действия покупателя.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20273185"/>
      </p:ext>
    </p:extLst>
  </p:cSld>
  <p:clrMapOvr>
    <a:masterClrMapping/>
  </p:clrMapOvr>
  <p:transition spd="med"/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DC830BA0-522C-F045-30D9-6AA9F8291E9E}"/>
              </a:ext>
            </a:extLst>
          </p:cNvPr>
          <p:cNvSpPr/>
          <p:nvPr/>
        </p:nvSpPr>
        <p:spPr>
          <a:xfrm>
            <a:off x="609600" y="6410632"/>
            <a:ext cx="511277" cy="285136"/>
          </a:xfrm>
          <a:prstGeom prst="rect">
            <a:avLst/>
          </a:prstGeom>
          <a:solidFill>
            <a:srgbClr val="FFFFFF"/>
          </a:solidFill>
          <a:ln w="12700" cap="flat">
            <a:solidFill>
              <a:schemeClr val="bg1"/>
            </a:solidFill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959C283-2F3B-9343-D0E8-821A55D5CA6C}"/>
              </a:ext>
            </a:extLst>
          </p:cNvPr>
          <p:cNvSpPr txBox="1"/>
          <p:nvPr/>
        </p:nvSpPr>
        <p:spPr>
          <a:xfrm>
            <a:off x="953728" y="167609"/>
            <a:ext cx="10726994" cy="52321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ru-RU" sz="2800" b="1" i="0" u="none" strike="noStrike" cap="none" spc="0" normalizeH="0" baseline="0" dirty="0">
                <a:ln>
                  <a:noFill/>
                </a:ln>
                <a:solidFill>
                  <a:schemeClr val="accent1"/>
                </a:solidFill>
                <a:effectLst/>
                <a:uFillTx/>
                <a:latin typeface="+mn-lt"/>
                <a:ea typeface="Arial"/>
                <a:cs typeface="Arial"/>
                <a:sym typeface="Arial"/>
              </a:rPr>
              <a:t>ПРОЕКТИРОВАНИЕ БАЗЫ ДАННЫХ</a:t>
            </a:r>
            <a:endParaRPr kumimoji="0" lang="en-US" sz="2800" b="1" i="0" u="none" strike="noStrike" cap="none" spc="0" normalizeH="0" baseline="0" dirty="0">
              <a:ln>
                <a:noFill/>
              </a:ln>
              <a:solidFill>
                <a:schemeClr val="accent1"/>
              </a:solidFill>
              <a:effectLst/>
              <a:uFillTx/>
              <a:latin typeface="+mn-lt"/>
              <a:ea typeface="Arial"/>
              <a:cs typeface="Arial"/>
              <a:sym typeface="Arial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CDA34B9-382B-69CA-075A-BEB4EA2BC646}"/>
              </a:ext>
            </a:extLst>
          </p:cNvPr>
          <p:cNvSpPr txBox="1"/>
          <p:nvPr/>
        </p:nvSpPr>
        <p:spPr>
          <a:xfrm>
            <a:off x="309716" y="229164"/>
            <a:ext cx="511277" cy="40010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ru-RU" sz="2000" b="1" i="0" u="none" strike="noStrike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+mn-lt"/>
                <a:ea typeface="Arial"/>
                <a:cs typeface="Arial"/>
                <a:sym typeface="Arial"/>
              </a:rPr>
              <a:t>2</a:t>
            </a:r>
            <a:r>
              <a:rPr lang="ru-RU" sz="2000" b="1" dirty="0">
                <a:solidFill>
                  <a:schemeClr val="bg1"/>
                </a:solidFill>
                <a:latin typeface="+mn-lt"/>
              </a:rPr>
              <a:t>3</a:t>
            </a:r>
            <a:endParaRPr kumimoji="0" lang="en-US" sz="2000" b="1" i="0" u="none" strike="noStrike" cap="none" spc="0" normalizeH="0" baseline="0" dirty="0">
              <a:ln>
                <a:noFill/>
              </a:ln>
              <a:solidFill>
                <a:schemeClr val="bg1"/>
              </a:solidFill>
              <a:effectLst/>
              <a:uFillTx/>
              <a:latin typeface="+mn-lt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40F14D-2A0F-8DA0-8517-234C9BA8B3FE}"/>
              </a:ext>
            </a:extLst>
          </p:cNvPr>
          <p:cNvSpPr txBox="1"/>
          <p:nvPr/>
        </p:nvSpPr>
        <p:spPr>
          <a:xfrm>
            <a:off x="820993" y="965022"/>
            <a:ext cx="10967885" cy="510986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indent="449580" algn="just">
              <a:lnSpc>
                <a:spcPct val="150000"/>
              </a:lnSpc>
            </a:pPr>
            <a:r>
              <a:rPr lang="ru-RU" sz="2200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Для хранения информации о кассовых чеках была спроектирована реляционная база данных на трех уровнях абстракции.</a:t>
            </a:r>
            <a:endParaRPr lang="en-US" sz="22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200" b="1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1. Концептуальная модель (инфологическая)</a:t>
            </a:r>
            <a:endParaRPr lang="en-US" sz="22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indent="449580" algn="just">
              <a:lnSpc>
                <a:spcPct val="150000"/>
              </a:lnSpc>
            </a:pPr>
            <a:r>
              <a:rPr lang="ru-RU" sz="2200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Концептуальная модель отвечает на вопрос </a:t>
            </a:r>
            <a:r>
              <a:rPr lang="ru-RU" sz="2200" b="1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«Что храним?»</a:t>
            </a:r>
            <a:r>
              <a:rPr lang="ru-RU" sz="2200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. Она не зависит от конкретной СУБД и показывает основные сущности (объекты) и связи между ними.</a:t>
            </a:r>
            <a:endParaRPr lang="en-US" sz="22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342900" lvl="0" indent="-342900" algn="just">
              <a:lnSpc>
                <a:spcPct val="150000"/>
              </a:lnSpc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ru-RU" sz="2200" b="1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Сущность «Чек»</a:t>
            </a:r>
            <a:r>
              <a:rPr lang="ru-RU" sz="2200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 — содержит общую информацию о фискальном документе </a:t>
            </a:r>
            <a:endParaRPr lang="en-US" sz="22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342900" lvl="0" indent="-342900" algn="just">
              <a:lnSpc>
                <a:spcPct val="150000"/>
              </a:lnSpc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ru-RU" sz="2200" b="1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Сущность «Позиция чека»</a:t>
            </a:r>
            <a:r>
              <a:rPr lang="ru-RU" sz="2200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 — содержит информацию о каждой купленной товарной позиции </a:t>
            </a:r>
            <a:endParaRPr lang="en-US" sz="22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342900" lvl="0" indent="-342900" algn="just">
              <a:lnSpc>
                <a:spcPct val="150000"/>
              </a:lnSpc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ru-RU" sz="2200" b="1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Сущность «Продавец»</a:t>
            </a:r>
            <a:r>
              <a:rPr lang="ru-RU" sz="2200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 — содержит реквизиты организации-продавца </a:t>
            </a:r>
            <a:endParaRPr lang="en-US" sz="22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342900" lvl="0" indent="-342900" algn="just">
              <a:lnSpc>
                <a:spcPct val="150000"/>
              </a:lnSpc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ru-RU" sz="2200" b="1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Сущность «Кассир»</a:t>
            </a:r>
            <a:r>
              <a:rPr lang="ru-RU" sz="2200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 — содержит информацию о сотруднике, оформившем чек</a:t>
            </a:r>
            <a:endParaRPr lang="en-US" sz="22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A97B7558-2F56-4700-B4DE-FE0A976464E7}"/>
              </a:ext>
            </a:extLst>
          </p:cNvPr>
          <p:cNvSpPr/>
          <p:nvPr/>
        </p:nvSpPr>
        <p:spPr>
          <a:xfrm>
            <a:off x="1047750" y="6410632"/>
            <a:ext cx="2743200" cy="285136"/>
          </a:xfrm>
          <a:prstGeom prst="rect">
            <a:avLst/>
          </a:prstGeom>
          <a:solidFill>
            <a:srgbClr val="FFFFFF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007006388"/>
      </p:ext>
    </p:extLst>
  </p:cSld>
  <p:clrMapOvr>
    <a:masterClrMapping/>
  </p:clrMapOvr>
  <p:transition spd="med"/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DC830BA0-522C-F045-30D9-6AA9F8291E9E}"/>
              </a:ext>
            </a:extLst>
          </p:cNvPr>
          <p:cNvSpPr/>
          <p:nvPr/>
        </p:nvSpPr>
        <p:spPr>
          <a:xfrm>
            <a:off x="609600" y="6410632"/>
            <a:ext cx="511277" cy="285136"/>
          </a:xfrm>
          <a:prstGeom prst="rect">
            <a:avLst/>
          </a:prstGeom>
          <a:solidFill>
            <a:srgbClr val="FFFFFF"/>
          </a:solidFill>
          <a:ln w="12700" cap="flat">
            <a:solidFill>
              <a:schemeClr val="bg1"/>
            </a:solidFill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959C283-2F3B-9343-D0E8-821A55D5CA6C}"/>
              </a:ext>
            </a:extLst>
          </p:cNvPr>
          <p:cNvSpPr txBox="1"/>
          <p:nvPr/>
        </p:nvSpPr>
        <p:spPr>
          <a:xfrm>
            <a:off x="953728" y="167609"/>
            <a:ext cx="10726994" cy="52321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ru-RU" sz="2800" b="1" i="0" u="none" strike="noStrike" cap="none" spc="0" normalizeH="0" baseline="0" dirty="0">
                <a:ln>
                  <a:noFill/>
                </a:ln>
                <a:solidFill>
                  <a:schemeClr val="accent1"/>
                </a:solidFill>
                <a:effectLst/>
                <a:uFillTx/>
                <a:latin typeface="+mn-lt"/>
                <a:ea typeface="Arial"/>
                <a:cs typeface="Arial"/>
                <a:sym typeface="Arial"/>
              </a:rPr>
              <a:t>ПРОЕКТИРОВАНИЕ БАЗЫ ДАННЫХ</a:t>
            </a:r>
            <a:endParaRPr kumimoji="0" lang="en-US" sz="2800" b="1" i="0" u="none" strike="noStrike" cap="none" spc="0" normalizeH="0" baseline="0" dirty="0">
              <a:ln>
                <a:noFill/>
              </a:ln>
              <a:solidFill>
                <a:schemeClr val="accent1"/>
              </a:solidFill>
              <a:effectLst/>
              <a:uFillTx/>
              <a:latin typeface="+mn-lt"/>
              <a:ea typeface="Arial"/>
              <a:cs typeface="Arial"/>
              <a:sym typeface="Arial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CDA34B9-382B-69CA-075A-BEB4EA2BC646}"/>
              </a:ext>
            </a:extLst>
          </p:cNvPr>
          <p:cNvSpPr txBox="1"/>
          <p:nvPr/>
        </p:nvSpPr>
        <p:spPr>
          <a:xfrm>
            <a:off x="309716" y="229164"/>
            <a:ext cx="511277" cy="40010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ru-RU" sz="2000" b="1" i="0" u="none" strike="noStrike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+mn-lt"/>
                <a:ea typeface="Arial"/>
                <a:cs typeface="Arial"/>
                <a:sym typeface="Arial"/>
              </a:rPr>
              <a:t>2</a:t>
            </a:r>
            <a:r>
              <a:rPr lang="ru-RU" sz="2000" b="1" dirty="0">
                <a:solidFill>
                  <a:schemeClr val="bg1"/>
                </a:solidFill>
                <a:latin typeface="+mn-lt"/>
              </a:rPr>
              <a:t>4</a:t>
            </a:r>
            <a:endParaRPr kumimoji="0" lang="en-US" sz="2000" b="1" i="0" u="none" strike="noStrike" cap="none" spc="0" normalizeH="0" baseline="0" dirty="0">
              <a:ln>
                <a:noFill/>
              </a:ln>
              <a:solidFill>
                <a:schemeClr val="bg1"/>
              </a:solidFill>
              <a:effectLst/>
              <a:uFillTx/>
              <a:latin typeface="+mn-lt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2FE45A7-05CD-A40E-914F-9AD9D7C3F8BA}"/>
              </a:ext>
            </a:extLst>
          </p:cNvPr>
          <p:cNvSpPr txBox="1"/>
          <p:nvPr/>
        </p:nvSpPr>
        <p:spPr>
          <a:xfrm>
            <a:off x="161925" y="870008"/>
            <a:ext cx="3677265" cy="461665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r>
              <a:rPr lang="ru-RU" sz="2400" b="1" dirty="0">
                <a:solidFill>
                  <a:schemeClr val="accent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Сущности и их атрибуты</a:t>
            </a:r>
            <a:endParaRPr lang="en-US" sz="2400" dirty="0">
              <a:solidFill>
                <a:schemeClr val="accent1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9FCE6D8-7B46-62B6-4CA1-5FAEF19EBD43}"/>
              </a:ext>
            </a:extLst>
          </p:cNvPr>
          <p:cNvSpPr txBox="1"/>
          <p:nvPr/>
        </p:nvSpPr>
        <p:spPr>
          <a:xfrm>
            <a:off x="404351" y="1332176"/>
            <a:ext cx="3913239" cy="2862322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1800" b="1" i="1" u="sng" dirty="0">
                <a:solidFill>
                  <a:srgbClr val="0F1115"/>
                </a:solidFill>
                <a:effectLst/>
                <a:latin typeface="+mn-lt"/>
                <a:ea typeface="Times New Roman" panose="02020603050405020304" pitchFamily="18" charset="0"/>
              </a:rPr>
              <a:t>Сущность «Продавец» (</a:t>
            </a:r>
            <a:r>
              <a:rPr lang="ru-RU" sz="1800" b="1" i="1" u="sng" dirty="0" err="1">
                <a:solidFill>
                  <a:srgbClr val="0F1115"/>
                </a:solidFill>
                <a:effectLst/>
                <a:latin typeface="+mn-lt"/>
                <a:ea typeface="Times New Roman" panose="02020603050405020304" pitchFamily="18" charset="0"/>
              </a:rPr>
              <a:t>Seller</a:t>
            </a:r>
            <a:r>
              <a:rPr lang="ru-RU" sz="1800" b="1" i="1" u="sng" dirty="0">
                <a:solidFill>
                  <a:srgbClr val="0F1115"/>
                </a:solidFill>
                <a:effectLst/>
                <a:latin typeface="+mn-lt"/>
                <a:ea typeface="Times New Roman" panose="02020603050405020304" pitchFamily="18" charset="0"/>
              </a:rPr>
              <a:t>)</a:t>
            </a:r>
            <a:endParaRPr lang="en-US" sz="1600" dirty="0">
              <a:effectLst/>
              <a:latin typeface="+mn-lt"/>
              <a:ea typeface="Times New Roman" panose="02020603050405020304" pitchFamily="18" charset="0"/>
            </a:endParaRPr>
          </a:p>
          <a:p>
            <a:pPr marL="342900" lvl="0" indent="-342900" algn="just">
              <a:lnSpc>
                <a:spcPct val="150000"/>
              </a:lnSpc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ru-RU" sz="1800" dirty="0">
                <a:solidFill>
                  <a:srgbClr val="0F1115"/>
                </a:solidFill>
                <a:effectLst/>
                <a:latin typeface="+mn-lt"/>
                <a:ea typeface="Times New Roman" panose="02020603050405020304" pitchFamily="18" charset="0"/>
              </a:rPr>
              <a:t>Идентификатор продавца</a:t>
            </a:r>
            <a:endParaRPr lang="en-US" sz="1600" dirty="0">
              <a:effectLst/>
              <a:latin typeface="+mn-lt"/>
              <a:ea typeface="Times New Roman" panose="02020603050405020304" pitchFamily="18" charset="0"/>
            </a:endParaRPr>
          </a:p>
          <a:p>
            <a:pPr marL="342900" lvl="0" indent="-342900" algn="just">
              <a:lnSpc>
                <a:spcPct val="150000"/>
              </a:lnSpc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ru-RU" sz="1800" dirty="0">
                <a:solidFill>
                  <a:srgbClr val="0F1115"/>
                </a:solidFill>
                <a:effectLst/>
                <a:latin typeface="+mn-lt"/>
                <a:ea typeface="Times New Roman" panose="02020603050405020304" pitchFamily="18" charset="0"/>
              </a:rPr>
              <a:t>Наименование организации</a:t>
            </a:r>
            <a:endParaRPr lang="en-US" sz="1600" dirty="0">
              <a:effectLst/>
              <a:latin typeface="+mn-lt"/>
              <a:ea typeface="Times New Roman" panose="02020603050405020304" pitchFamily="18" charset="0"/>
            </a:endParaRPr>
          </a:p>
          <a:p>
            <a:pPr marL="342900" lvl="0" indent="-342900" algn="just">
              <a:lnSpc>
                <a:spcPct val="150000"/>
              </a:lnSpc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ru-RU" sz="1800" dirty="0">
                <a:solidFill>
                  <a:srgbClr val="0F1115"/>
                </a:solidFill>
                <a:effectLst/>
                <a:latin typeface="+mn-lt"/>
                <a:ea typeface="Times New Roman" panose="02020603050405020304" pitchFamily="18" charset="0"/>
              </a:rPr>
              <a:t>ИНН</a:t>
            </a:r>
            <a:endParaRPr lang="en-US" sz="1600" dirty="0">
              <a:effectLst/>
              <a:latin typeface="+mn-lt"/>
              <a:ea typeface="Times New Roman" panose="02020603050405020304" pitchFamily="18" charset="0"/>
            </a:endParaRPr>
          </a:p>
          <a:p>
            <a:pPr marL="342900" lvl="0" indent="-342900" algn="just">
              <a:lnSpc>
                <a:spcPct val="150000"/>
              </a:lnSpc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ru-RU" sz="1800" dirty="0">
                <a:solidFill>
                  <a:srgbClr val="0F1115"/>
                </a:solidFill>
                <a:effectLst/>
                <a:latin typeface="+mn-lt"/>
                <a:ea typeface="Times New Roman" panose="02020603050405020304" pitchFamily="18" charset="0"/>
              </a:rPr>
              <a:t>Адрес</a:t>
            </a:r>
            <a:endParaRPr lang="en-US" sz="1600" dirty="0">
              <a:effectLst/>
              <a:latin typeface="+mn-lt"/>
              <a:ea typeface="Times New Roman" panose="02020603050405020304" pitchFamily="18" charset="0"/>
            </a:endParaRPr>
          </a:p>
          <a:p>
            <a:pPr marL="342900" lvl="0" indent="-342900" algn="just">
              <a:lnSpc>
                <a:spcPct val="150000"/>
              </a:lnSpc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ru-RU" sz="1800" dirty="0">
                <a:solidFill>
                  <a:srgbClr val="0F1115"/>
                </a:solidFill>
                <a:effectLst/>
                <a:latin typeface="+mn-lt"/>
                <a:ea typeface="Times New Roman" panose="02020603050405020304" pitchFamily="18" charset="0"/>
              </a:rPr>
              <a:t>Система налогообложения (СНО)</a:t>
            </a:r>
            <a:endParaRPr lang="en-US" sz="1600" dirty="0">
              <a:effectLst/>
              <a:latin typeface="+mn-lt"/>
              <a:ea typeface="Times New Roman" panose="02020603050405020304" pitchFamily="18" charset="0"/>
            </a:endParaRPr>
          </a:p>
          <a:p>
            <a:r>
              <a:rPr lang="ru-RU" sz="1800" dirty="0">
                <a:solidFill>
                  <a:srgbClr val="0F1115"/>
                </a:solidFill>
                <a:effectLst/>
                <a:latin typeface="+mn-lt"/>
                <a:ea typeface="Calibri" panose="020F0502020204030204" pitchFamily="34" charset="0"/>
                <a:cs typeface="Times New Roman" panose="02020603050405020304" pitchFamily="18" charset="0"/>
              </a:rPr>
              <a:t>Регистрационный номер ККТ</a:t>
            </a:r>
            <a:endParaRPr lang="en-US" dirty="0">
              <a:latin typeface="+mn-lt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DB9A9FB-E72B-F363-EDB0-656EDE69DED3}"/>
              </a:ext>
            </a:extLst>
          </p:cNvPr>
          <p:cNvSpPr txBox="1"/>
          <p:nvPr/>
        </p:nvSpPr>
        <p:spPr>
          <a:xfrm>
            <a:off x="404351" y="4601624"/>
            <a:ext cx="3795252" cy="128907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algn="just">
              <a:lnSpc>
                <a:spcPct val="150000"/>
              </a:lnSpc>
              <a:spcBef>
                <a:spcPts val="1200"/>
              </a:spcBef>
            </a:pPr>
            <a:r>
              <a:rPr lang="ru-RU" sz="1800" b="1" i="1" u="sng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Сущность «Кассир» (</a:t>
            </a:r>
            <a:r>
              <a:rPr lang="ru-RU" sz="1800" b="1" i="1" u="sng" dirty="0" err="1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Cashier</a:t>
            </a:r>
            <a:r>
              <a:rPr lang="ru-RU" sz="1800" b="1" i="1" u="sng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)</a:t>
            </a:r>
            <a:endParaRPr lang="en-US" sz="16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342900" lvl="0" indent="-342900" algn="just">
              <a:lnSpc>
                <a:spcPct val="150000"/>
              </a:lnSpc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ru-RU" sz="1800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Идентификатор кассира</a:t>
            </a:r>
            <a:endParaRPr lang="en-US" sz="16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342900" lvl="0" indent="-342900" algn="just">
              <a:lnSpc>
                <a:spcPct val="150000"/>
              </a:lnSpc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ru-RU" sz="1800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ФИО кассира</a:t>
            </a:r>
            <a:endParaRPr lang="en-US" sz="16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98C0E62-921B-AE1D-F557-83574957D8E8}"/>
              </a:ext>
            </a:extLst>
          </p:cNvPr>
          <p:cNvSpPr txBox="1"/>
          <p:nvPr/>
        </p:nvSpPr>
        <p:spPr>
          <a:xfrm>
            <a:off x="4651888" y="1282104"/>
            <a:ext cx="4621161" cy="4197559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algn="just">
              <a:lnSpc>
                <a:spcPct val="150000"/>
              </a:lnSpc>
              <a:spcBef>
                <a:spcPts val="1200"/>
              </a:spcBef>
            </a:pPr>
            <a:r>
              <a:rPr lang="ru-RU" sz="1800" b="1" i="1" u="sng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Сущность «Чек» (</a:t>
            </a:r>
            <a:r>
              <a:rPr lang="ru-RU" sz="1800" b="1" i="1" u="sng" dirty="0" err="1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Receipt</a:t>
            </a:r>
            <a:r>
              <a:rPr lang="ru-RU" sz="1800" b="1" i="1" u="sng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)</a:t>
            </a:r>
            <a:endParaRPr lang="en-US" sz="16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342900" lvl="0" indent="-342900" algn="just">
              <a:lnSpc>
                <a:spcPct val="150000"/>
              </a:lnSpc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ru-RU" sz="1800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Идентификатор чека</a:t>
            </a:r>
            <a:endParaRPr lang="en-US" sz="16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342900" lvl="0" indent="-342900" algn="just">
              <a:lnSpc>
                <a:spcPct val="150000"/>
              </a:lnSpc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ru-RU" sz="1800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Дата и время</a:t>
            </a:r>
            <a:endParaRPr lang="en-US" sz="16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342900" lvl="0" indent="-342900" algn="just">
              <a:lnSpc>
                <a:spcPct val="150000"/>
              </a:lnSpc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ru-RU" sz="1800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Итоговая сумма</a:t>
            </a:r>
            <a:endParaRPr lang="en-US" sz="16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342900" lvl="0" indent="-342900" algn="just">
              <a:lnSpc>
                <a:spcPct val="150000"/>
              </a:lnSpc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ru-RU" sz="1800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Сумма НДС</a:t>
            </a:r>
            <a:endParaRPr lang="en-US" sz="16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342900" lvl="0" indent="-342900" algn="just">
              <a:lnSpc>
                <a:spcPct val="150000"/>
              </a:lnSpc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ru-RU" sz="1800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Форма оплаты</a:t>
            </a:r>
            <a:endParaRPr lang="en-US" sz="16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342900" lvl="0" indent="-342900" algn="just">
              <a:lnSpc>
                <a:spcPct val="150000"/>
              </a:lnSpc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ru-RU" sz="1800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Фискальный признак </a:t>
            </a:r>
          </a:p>
          <a:p>
            <a:pPr lvl="0" algn="just">
              <a:lnSpc>
                <a:spcPct val="150000"/>
              </a:lnSpc>
              <a:buSzPts val="1000"/>
              <a:tabLst>
                <a:tab pos="457200" algn="l"/>
              </a:tabLst>
            </a:pPr>
            <a:r>
              <a:rPr lang="ru-RU" sz="1800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документа (ФПД)</a:t>
            </a:r>
            <a:endParaRPr lang="en-US" sz="16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342900" lvl="0" indent="-342900" algn="just">
              <a:lnSpc>
                <a:spcPct val="150000"/>
              </a:lnSpc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ru-RU" sz="1800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Ссылка на продавца</a:t>
            </a:r>
            <a:endParaRPr lang="en-US" sz="16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342900" lvl="0" indent="-342900" algn="just">
              <a:lnSpc>
                <a:spcPct val="150000"/>
              </a:lnSpc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ru-RU" sz="1800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Ссылка на кассира</a:t>
            </a:r>
            <a:endParaRPr lang="en-US" sz="16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1BC250F-D155-1B84-D6AE-661DEC3034AD}"/>
              </a:ext>
            </a:extLst>
          </p:cNvPr>
          <p:cNvSpPr txBox="1"/>
          <p:nvPr/>
        </p:nvSpPr>
        <p:spPr>
          <a:xfrm>
            <a:off x="8412726" y="1282104"/>
            <a:ext cx="4424516" cy="2535566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algn="just">
              <a:lnSpc>
                <a:spcPct val="150000"/>
              </a:lnSpc>
              <a:spcBef>
                <a:spcPts val="1200"/>
              </a:spcBef>
            </a:pPr>
            <a:r>
              <a:rPr lang="ru-RU" sz="1800" b="1" i="1" u="sng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Сущность «Позиция чека» (</a:t>
            </a:r>
            <a:r>
              <a:rPr lang="ru-RU" sz="1800" b="1" i="1" u="sng" dirty="0" err="1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Receipt_Item</a:t>
            </a:r>
            <a:r>
              <a:rPr lang="ru-RU" sz="1800" b="1" i="1" u="sng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)</a:t>
            </a:r>
            <a:endParaRPr lang="en-US" sz="16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342900" lvl="0" indent="-342900" algn="just">
              <a:lnSpc>
                <a:spcPct val="150000"/>
              </a:lnSpc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ru-RU" sz="1800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Идентификатор позиции</a:t>
            </a:r>
            <a:endParaRPr lang="en-US" sz="16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342900" lvl="0" indent="-342900" algn="just">
              <a:lnSpc>
                <a:spcPct val="150000"/>
              </a:lnSpc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ru-RU" sz="1800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Наименование товара</a:t>
            </a:r>
            <a:endParaRPr lang="en-US" sz="16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342900" lvl="0" indent="-342900" algn="just">
              <a:lnSpc>
                <a:spcPct val="150000"/>
              </a:lnSpc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ru-RU" sz="1800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Количество</a:t>
            </a:r>
            <a:endParaRPr lang="en-US" sz="16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342900" lvl="0" indent="-342900" algn="just">
              <a:lnSpc>
                <a:spcPct val="150000"/>
              </a:lnSpc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ru-RU" sz="1800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Цена за единицу</a:t>
            </a:r>
            <a:endParaRPr lang="en-US" sz="16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342900" lvl="0" indent="-342900" algn="just">
              <a:lnSpc>
                <a:spcPct val="150000"/>
              </a:lnSpc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ru-RU" sz="1800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Ссылка на чек</a:t>
            </a:r>
            <a:endParaRPr lang="en-US" sz="16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B21A0CC-CDC8-6F9A-2EB2-33415B510208}"/>
              </a:ext>
            </a:extLst>
          </p:cNvPr>
          <p:cNvSpPr txBox="1"/>
          <p:nvPr/>
        </p:nvSpPr>
        <p:spPr>
          <a:xfrm>
            <a:off x="7438103" y="4088854"/>
            <a:ext cx="5284839" cy="213391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algn="ctr">
              <a:spcBef>
                <a:spcPts val="1200"/>
              </a:spcBef>
              <a:spcAft>
                <a:spcPts val="800"/>
              </a:spcAft>
            </a:pPr>
            <a:r>
              <a:rPr lang="ru-RU" sz="1800" b="1" u="sng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Связи:</a:t>
            </a:r>
            <a:endParaRPr lang="en-US" sz="1400" u="sng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lvl="0" indent="-342900" algn="just"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ru-RU" sz="1800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Один чек может содержать одну или несколько позиций (связь </a:t>
            </a:r>
            <a:r>
              <a:rPr lang="ru-RU" sz="1800" b="1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1: N</a:t>
            </a:r>
            <a:r>
              <a:rPr lang="ru-RU" sz="1800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).</a:t>
            </a:r>
            <a:endParaRPr lang="en-US" sz="16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342900" lvl="0" indent="-342900" algn="just"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ru-RU" sz="1800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Один продавец может выдавать много чеков (связь </a:t>
            </a:r>
            <a:r>
              <a:rPr lang="ru-RU" sz="1800" b="1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1: N</a:t>
            </a:r>
            <a:r>
              <a:rPr lang="ru-RU" sz="1800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).</a:t>
            </a:r>
            <a:endParaRPr lang="en-US" sz="16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342900" lvl="0" indent="-342900" algn="just"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ru-RU" sz="1800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Один кассир может оформлять много чеков (связь </a:t>
            </a:r>
            <a:r>
              <a:rPr lang="ru-RU" sz="1800" b="1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1: N</a:t>
            </a:r>
            <a:r>
              <a:rPr lang="ru-RU" sz="1800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).</a:t>
            </a:r>
            <a:endParaRPr lang="en-US" sz="16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17" name="Прямоугольник: скругленные углы 16">
            <a:extLst>
              <a:ext uri="{FF2B5EF4-FFF2-40B4-BE49-F238E27FC236}">
                <a16:creationId xmlns:a16="http://schemas.microsoft.com/office/drawing/2014/main" id="{28455F66-1807-B622-BD3D-843F41C7EA18}"/>
              </a:ext>
            </a:extLst>
          </p:cNvPr>
          <p:cNvSpPr/>
          <p:nvPr/>
        </p:nvSpPr>
        <p:spPr>
          <a:xfrm>
            <a:off x="7423355" y="4090219"/>
            <a:ext cx="5407742" cy="2143433"/>
          </a:xfrm>
          <a:prstGeom prst="roundRect">
            <a:avLst/>
          </a:prstGeom>
          <a:noFill/>
          <a:ln w="19050" cap="flat">
            <a:solidFill>
              <a:schemeClr val="accent1"/>
            </a:solidFill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F073D41C-7FF3-4D55-9C75-E0C96D32CC63}"/>
              </a:ext>
            </a:extLst>
          </p:cNvPr>
          <p:cNvSpPr/>
          <p:nvPr/>
        </p:nvSpPr>
        <p:spPr>
          <a:xfrm>
            <a:off x="1047750" y="6410632"/>
            <a:ext cx="2743200" cy="285136"/>
          </a:xfrm>
          <a:prstGeom prst="rect">
            <a:avLst/>
          </a:prstGeom>
          <a:solidFill>
            <a:srgbClr val="FFFFFF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924840460"/>
      </p:ext>
    </p:extLst>
  </p:cSld>
  <p:clrMapOvr>
    <a:masterClrMapping/>
  </p:clrMapOvr>
  <p:transition spd="med"/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DC830BA0-522C-F045-30D9-6AA9F8291E9E}"/>
              </a:ext>
            </a:extLst>
          </p:cNvPr>
          <p:cNvSpPr/>
          <p:nvPr/>
        </p:nvSpPr>
        <p:spPr>
          <a:xfrm>
            <a:off x="609600" y="6410632"/>
            <a:ext cx="511277" cy="285136"/>
          </a:xfrm>
          <a:prstGeom prst="rect">
            <a:avLst/>
          </a:prstGeom>
          <a:solidFill>
            <a:srgbClr val="FFFFFF"/>
          </a:solidFill>
          <a:ln w="12700" cap="flat">
            <a:solidFill>
              <a:schemeClr val="bg1"/>
            </a:solidFill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959C283-2F3B-9343-D0E8-821A55D5CA6C}"/>
              </a:ext>
            </a:extLst>
          </p:cNvPr>
          <p:cNvSpPr txBox="1"/>
          <p:nvPr/>
        </p:nvSpPr>
        <p:spPr>
          <a:xfrm>
            <a:off x="953728" y="167609"/>
            <a:ext cx="10726994" cy="52321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ru-RU" sz="2800" b="1" i="0" u="none" strike="noStrike" cap="none" spc="0" normalizeH="0" baseline="0" dirty="0">
                <a:ln>
                  <a:noFill/>
                </a:ln>
                <a:solidFill>
                  <a:schemeClr val="accent1"/>
                </a:solidFill>
                <a:effectLst/>
                <a:uFillTx/>
                <a:latin typeface="+mn-lt"/>
                <a:ea typeface="Arial"/>
                <a:cs typeface="Arial"/>
                <a:sym typeface="Arial"/>
              </a:rPr>
              <a:t>ПРОЕКТИРОВАНИЕ БАЗЫ ДАННЫХ</a:t>
            </a:r>
            <a:endParaRPr kumimoji="0" lang="en-US" sz="2800" b="1" i="0" u="none" strike="noStrike" cap="none" spc="0" normalizeH="0" baseline="0" dirty="0">
              <a:ln>
                <a:noFill/>
              </a:ln>
              <a:solidFill>
                <a:schemeClr val="accent1"/>
              </a:solidFill>
              <a:effectLst/>
              <a:uFillTx/>
              <a:latin typeface="+mn-lt"/>
              <a:ea typeface="Arial"/>
              <a:cs typeface="Arial"/>
              <a:sym typeface="Arial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CDA34B9-382B-69CA-075A-BEB4EA2BC646}"/>
              </a:ext>
            </a:extLst>
          </p:cNvPr>
          <p:cNvSpPr txBox="1"/>
          <p:nvPr/>
        </p:nvSpPr>
        <p:spPr>
          <a:xfrm>
            <a:off x="309716" y="229164"/>
            <a:ext cx="511277" cy="40010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ru-RU" sz="2000" b="1" i="0" u="none" strike="noStrike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+mn-lt"/>
                <a:ea typeface="Arial"/>
                <a:cs typeface="Arial"/>
                <a:sym typeface="Arial"/>
              </a:rPr>
              <a:t>2</a:t>
            </a:r>
            <a:r>
              <a:rPr lang="ru-RU" sz="2000" b="1" dirty="0">
                <a:solidFill>
                  <a:schemeClr val="bg1"/>
                </a:solidFill>
                <a:latin typeface="+mn-lt"/>
              </a:rPr>
              <a:t>5</a:t>
            </a:r>
            <a:endParaRPr kumimoji="0" lang="en-US" sz="2000" b="1" i="0" u="none" strike="noStrike" cap="none" spc="0" normalizeH="0" baseline="0" dirty="0">
              <a:ln>
                <a:noFill/>
              </a:ln>
              <a:solidFill>
                <a:schemeClr val="bg1"/>
              </a:solidFill>
              <a:effectLst/>
              <a:uFillTx/>
              <a:latin typeface="+mn-lt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F6ED94F-EDE8-DEBF-6B3B-69F428CDFCD8}"/>
              </a:ext>
            </a:extLst>
          </p:cNvPr>
          <p:cNvSpPr txBox="1"/>
          <p:nvPr/>
        </p:nvSpPr>
        <p:spPr>
          <a:xfrm>
            <a:off x="1049593" y="1310435"/>
            <a:ext cx="10854813" cy="421173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algn="just">
              <a:lnSpc>
                <a:spcPct val="150000"/>
              </a:lnSpc>
              <a:spcBef>
                <a:spcPts val="1200"/>
              </a:spcBef>
            </a:pPr>
            <a:r>
              <a:rPr lang="ru-RU" sz="2400" b="1" dirty="0">
                <a:solidFill>
                  <a:srgbClr val="0F1115"/>
                </a:solidFill>
                <a:effectLst/>
                <a:latin typeface="+mn-lt"/>
                <a:ea typeface="Times New Roman" panose="02020603050405020304" pitchFamily="18" charset="0"/>
              </a:rPr>
              <a:t>2. Логическая модель (</a:t>
            </a:r>
            <a:r>
              <a:rPr lang="ru-RU" sz="2400" b="1" dirty="0" err="1">
                <a:solidFill>
                  <a:srgbClr val="0F1115"/>
                </a:solidFill>
                <a:effectLst/>
                <a:latin typeface="+mn-lt"/>
                <a:ea typeface="Times New Roman" panose="02020603050405020304" pitchFamily="18" charset="0"/>
              </a:rPr>
              <a:t>даталогическая</a:t>
            </a:r>
            <a:r>
              <a:rPr lang="ru-RU" sz="2400" b="1" dirty="0">
                <a:solidFill>
                  <a:srgbClr val="0F1115"/>
                </a:solidFill>
                <a:effectLst/>
                <a:latin typeface="+mn-lt"/>
                <a:ea typeface="Times New Roman" panose="02020603050405020304" pitchFamily="18" charset="0"/>
              </a:rPr>
              <a:t>)</a:t>
            </a:r>
            <a:endParaRPr lang="en-US" sz="2400" dirty="0">
              <a:effectLst/>
              <a:latin typeface="+mn-lt"/>
              <a:ea typeface="Times New Roman" panose="02020603050405020304" pitchFamily="18" charset="0"/>
            </a:endParaRPr>
          </a:p>
          <a:p>
            <a:pPr indent="449580" algn="just">
              <a:lnSpc>
                <a:spcPct val="150000"/>
              </a:lnSpc>
            </a:pPr>
            <a:r>
              <a:rPr lang="ru-RU" sz="2400" dirty="0">
                <a:solidFill>
                  <a:srgbClr val="0F1115"/>
                </a:solidFill>
                <a:effectLst/>
                <a:latin typeface="+mn-lt"/>
                <a:ea typeface="Times New Roman" panose="02020603050405020304" pitchFamily="18" charset="0"/>
              </a:rPr>
              <a:t>Логическая модель отвечает на вопрос </a:t>
            </a:r>
            <a:r>
              <a:rPr lang="ru-RU" sz="2400" b="1" dirty="0">
                <a:solidFill>
                  <a:srgbClr val="0F1115"/>
                </a:solidFill>
                <a:effectLst/>
                <a:latin typeface="+mn-lt"/>
                <a:ea typeface="Times New Roman" panose="02020603050405020304" pitchFamily="18" charset="0"/>
              </a:rPr>
              <a:t>«В виде каких таблиц храним?».</a:t>
            </a:r>
            <a:r>
              <a:rPr lang="ru-RU" sz="2400" dirty="0">
                <a:solidFill>
                  <a:srgbClr val="0F1115"/>
                </a:solidFill>
                <a:effectLst/>
                <a:latin typeface="+mn-lt"/>
                <a:ea typeface="Times New Roman" panose="02020603050405020304" pitchFamily="18" charset="0"/>
              </a:rPr>
              <a:t> Здесь мы определяем:</a:t>
            </a:r>
            <a:endParaRPr lang="en-US" sz="2400" dirty="0">
              <a:effectLst/>
              <a:latin typeface="+mn-lt"/>
              <a:ea typeface="Times New Roman" panose="02020603050405020304" pitchFamily="18" charset="0"/>
            </a:endParaRPr>
          </a:p>
          <a:p>
            <a:pPr marL="342900" lvl="0" indent="-342900" algn="just">
              <a:lnSpc>
                <a:spcPct val="150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ru-RU" sz="2400" dirty="0">
                <a:solidFill>
                  <a:srgbClr val="0F1115"/>
                </a:solidFill>
                <a:effectLst/>
                <a:latin typeface="+mn-lt"/>
                <a:ea typeface="Times New Roman" panose="02020603050405020304" pitchFamily="18" charset="0"/>
                <a:cs typeface="Times New Roman" panose="02020603050405020304" pitchFamily="18" charset="0"/>
              </a:rPr>
              <a:t>Названия таблиц и полей</a:t>
            </a:r>
            <a:endParaRPr lang="en-US" sz="2400" dirty="0">
              <a:solidFill>
                <a:srgbClr val="0F1115"/>
              </a:solidFill>
              <a:effectLst/>
              <a:latin typeface="+mn-lt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lvl="0" indent="-342900" algn="just">
              <a:lnSpc>
                <a:spcPct val="150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ru-RU" sz="2400" dirty="0">
                <a:solidFill>
                  <a:srgbClr val="0F1115"/>
                </a:solidFill>
                <a:effectLst/>
                <a:latin typeface="+mn-lt"/>
                <a:ea typeface="Times New Roman" panose="02020603050405020304" pitchFamily="18" charset="0"/>
                <a:cs typeface="Times New Roman" panose="02020603050405020304" pitchFamily="18" charset="0"/>
              </a:rPr>
              <a:t>Типы данных</a:t>
            </a:r>
            <a:endParaRPr lang="en-US" sz="2400" dirty="0">
              <a:solidFill>
                <a:srgbClr val="0F1115"/>
              </a:solidFill>
              <a:effectLst/>
              <a:latin typeface="+mn-lt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lvl="0" indent="-342900" algn="just">
              <a:lnSpc>
                <a:spcPct val="150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ru-RU" sz="2400" dirty="0">
                <a:solidFill>
                  <a:srgbClr val="0F1115"/>
                </a:solidFill>
                <a:effectLst/>
                <a:latin typeface="+mn-lt"/>
                <a:ea typeface="Times New Roman" panose="02020603050405020304" pitchFamily="18" charset="0"/>
                <a:cs typeface="Times New Roman" panose="02020603050405020304" pitchFamily="18" charset="0"/>
              </a:rPr>
              <a:t>Первичные ключи (PK — </a:t>
            </a:r>
            <a:r>
              <a:rPr lang="ru-RU" sz="2400" dirty="0" err="1">
                <a:solidFill>
                  <a:srgbClr val="0F1115"/>
                </a:solidFill>
                <a:effectLst/>
                <a:latin typeface="+mn-lt"/>
                <a:ea typeface="Times New Roman" panose="02020603050405020304" pitchFamily="18" charset="0"/>
                <a:cs typeface="Times New Roman" panose="02020603050405020304" pitchFamily="18" charset="0"/>
              </a:rPr>
              <a:t>Primary</a:t>
            </a:r>
            <a:r>
              <a:rPr lang="ru-RU" sz="2400" dirty="0">
                <a:solidFill>
                  <a:srgbClr val="0F1115"/>
                </a:solidFill>
                <a:effectLst/>
                <a:latin typeface="+mn-lt"/>
                <a:ea typeface="Times New Roman" panose="02020603050405020304" pitchFamily="18" charset="0"/>
                <a:cs typeface="Times New Roman" panose="02020603050405020304" pitchFamily="18" charset="0"/>
              </a:rPr>
              <a:t> Key)</a:t>
            </a:r>
            <a:endParaRPr lang="en-US" sz="2400" dirty="0">
              <a:solidFill>
                <a:srgbClr val="0F1115"/>
              </a:solidFill>
              <a:effectLst/>
              <a:latin typeface="+mn-lt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lvl="0" indent="-342900" algn="just">
              <a:lnSpc>
                <a:spcPct val="150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ru-RU" sz="2400" dirty="0">
                <a:solidFill>
                  <a:srgbClr val="0F1115"/>
                </a:solidFill>
                <a:effectLst/>
                <a:latin typeface="+mn-lt"/>
                <a:ea typeface="Times New Roman" panose="02020603050405020304" pitchFamily="18" charset="0"/>
                <a:cs typeface="Times New Roman" panose="02020603050405020304" pitchFamily="18" charset="0"/>
              </a:rPr>
              <a:t>Внешние ключи (FK — Foreign Key) для связей</a:t>
            </a:r>
            <a:endParaRPr lang="en-US" sz="2400" dirty="0">
              <a:solidFill>
                <a:srgbClr val="0F1115"/>
              </a:solidFill>
              <a:effectLst/>
              <a:latin typeface="+mn-lt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AB24F1FC-7302-442E-B6B3-62FD76E6502D}"/>
              </a:ext>
            </a:extLst>
          </p:cNvPr>
          <p:cNvSpPr/>
          <p:nvPr/>
        </p:nvSpPr>
        <p:spPr>
          <a:xfrm>
            <a:off x="1047750" y="6410632"/>
            <a:ext cx="2743200" cy="285136"/>
          </a:xfrm>
          <a:prstGeom prst="rect">
            <a:avLst/>
          </a:prstGeom>
          <a:solidFill>
            <a:srgbClr val="FFFFFF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216186787"/>
      </p:ext>
    </p:extLst>
  </p:cSld>
  <p:clrMapOvr>
    <a:masterClrMapping/>
  </p:clrMapOvr>
  <p:transition spd="med"/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DC830BA0-522C-F045-30D9-6AA9F8291E9E}"/>
              </a:ext>
            </a:extLst>
          </p:cNvPr>
          <p:cNvSpPr/>
          <p:nvPr/>
        </p:nvSpPr>
        <p:spPr>
          <a:xfrm>
            <a:off x="609600" y="6410632"/>
            <a:ext cx="511277" cy="285136"/>
          </a:xfrm>
          <a:prstGeom prst="rect">
            <a:avLst/>
          </a:prstGeom>
          <a:solidFill>
            <a:srgbClr val="FFFFFF"/>
          </a:solidFill>
          <a:ln w="12700" cap="flat">
            <a:solidFill>
              <a:schemeClr val="bg1"/>
            </a:solidFill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959C283-2F3B-9343-D0E8-821A55D5CA6C}"/>
              </a:ext>
            </a:extLst>
          </p:cNvPr>
          <p:cNvSpPr txBox="1"/>
          <p:nvPr/>
        </p:nvSpPr>
        <p:spPr>
          <a:xfrm>
            <a:off x="953728" y="167609"/>
            <a:ext cx="10726994" cy="52321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ru-RU" sz="2800" b="1" i="0" u="none" strike="noStrike" cap="none" spc="0" normalizeH="0" baseline="0" dirty="0">
                <a:ln>
                  <a:noFill/>
                </a:ln>
                <a:solidFill>
                  <a:schemeClr val="accent1"/>
                </a:solidFill>
                <a:effectLst/>
                <a:uFillTx/>
                <a:latin typeface="+mn-lt"/>
                <a:ea typeface="Arial"/>
                <a:cs typeface="Arial"/>
                <a:sym typeface="Arial"/>
              </a:rPr>
              <a:t>ПРОЕКТИРОВАНИЕ БАЗЫ ДАННЫХ</a:t>
            </a:r>
            <a:endParaRPr kumimoji="0" lang="en-US" sz="2800" b="1" i="0" u="none" strike="noStrike" cap="none" spc="0" normalizeH="0" baseline="0" dirty="0">
              <a:ln>
                <a:noFill/>
              </a:ln>
              <a:solidFill>
                <a:schemeClr val="accent1"/>
              </a:solidFill>
              <a:effectLst/>
              <a:uFillTx/>
              <a:latin typeface="+mn-lt"/>
              <a:ea typeface="Arial"/>
              <a:cs typeface="Arial"/>
              <a:sym typeface="Arial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CDA34B9-382B-69CA-075A-BEB4EA2BC646}"/>
              </a:ext>
            </a:extLst>
          </p:cNvPr>
          <p:cNvSpPr txBox="1"/>
          <p:nvPr/>
        </p:nvSpPr>
        <p:spPr>
          <a:xfrm>
            <a:off x="309716" y="229164"/>
            <a:ext cx="511277" cy="40010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ru-RU" sz="2000" b="1" i="0" u="none" strike="noStrike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+mn-lt"/>
                <a:ea typeface="Arial"/>
                <a:cs typeface="Arial"/>
                <a:sym typeface="Arial"/>
              </a:rPr>
              <a:t>2</a:t>
            </a:r>
            <a:r>
              <a:rPr lang="ru-RU" sz="2000" b="1" dirty="0">
                <a:solidFill>
                  <a:schemeClr val="bg1"/>
                </a:solidFill>
                <a:latin typeface="+mn-lt"/>
              </a:rPr>
              <a:t>6</a:t>
            </a:r>
            <a:endParaRPr kumimoji="0" lang="en-US" sz="2000" b="1" i="0" u="none" strike="noStrike" cap="none" spc="0" normalizeH="0" baseline="0" dirty="0">
              <a:ln>
                <a:noFill/>
              </a:ln>
              <a:solidFill>
                <a:schemeClr val="bg1"/>
              </a:solidFill>
              <a:effectLst/>
              <a:uFillTx/>
              <a:latin typeface="+mn-lt"/>
              <a:ea typeface="Arial"/>
              <a:cs typeface="Arial"/>
              <a:sym typeface="Arial"/>
            </a:endParaRPr>
          </a:p>
        </p:txBody>
      </p:sp>
      <p:graphicFrame>
        <p:nvGraphicFramePr>
          <p:cNvPr id="3" name="Таблица 2">
            <a:extLst>
              <a:ext uri="{FF2B5EF4-FFF2-40B4-BE49-F238E27FC236}">
                <a16:creationId xmlns:a16="http://schemas.microsoft.com/office/drawing/2014/main" id="{F2EC783C-FF26-387F-D6FB-49D1BD7FD2B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96276703"/>
              </p:ext>
            </p:extLst>
          </p:nvPr>
        </p:nvGraphicFramePr>
        <p:xfrm>
          <a:off x="487925" y="1490833"/>
          <a:ext cx="11658600" cy="4181348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2914650">
                  <a:extLst>
                    <a:ext uri="{9D8B030D-6E8A-4147-A177-3AD203B41FA5}">
                      <a16:colId xmlns:a16="http://schemas.microsoft.com/office/drawing/2014/main" val="4065202846"/>
                    </a:ext>
                  </a:extLst>
                </a:gridCol>
                <a:gridCol w="2914650">
                  <a:extLst>
                    <a:ext uri="{9D8B030D-6E8A-4147-A177-3AD203B41FA5}">
                      <a16:colId xmlns:a16="http://schemas.microsoft.com/office/drawing/2014/main" val="171838971"/>
                    </a:ext>
                  </a:extLst>
                </a:gridCol>
                <a:gridCol w="2914650">
                  <a:extLst>
                    <a:ext uri="{9D8B030D-6E8A-4147-A177-3AD203B41FA5}">
                      <a16:colId xmlns:a16="http://schemas.microsoft.com/office/drawing/2014/main" val="660638487"/>
                    </a:ext>
                  </a:extLst>
                </a:gridCol>
                <a:gridCol w="2914650">
                  <a:extLst>
                    <a:ext uri="{9D8B030D-6E8A-4147-A177-3AD203B41FA5}">
                      <a16:colId xmlns:a16="http://schemas.microsoft.com/office/drawing/2014/main" val="259847246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ru-RU" sz="1800" b="1" dirty="0">
                          <a:effectLst/>
                          <a:latin typeface="+mn-lt"/>
                        </a:rPr>
                        <a:t>Поле</a:t>
                      </a:r>
                      <a:endParaRPr lang="en-US" sz="1800" b="1" dirty="0">
                        <a:effectLst/>
                        <a:latin typeface="+mn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ru-RU" sz="1800" b="1" dirty="0">
                          <a:effectLst/>
                          <a:latin typeface="+mn-lt"/>
                        </a:rPr>
                        <a:t>Тип данных</a:t>
                      </a:r>
                      <a:endParaRPr lang="en-US" sz="1800" b="1" dirty="0">
                        <a:effectLst/>
                        <a:latin typeface="+mn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ru-RU" sz="1800" b="1" dirty="0">
                          <a:effectLst/>
                          <a:latin typeface="+mn-lt"/>
                        </a:rPr>
                        <a:t>Описание</a:t>
                      </a:r>
                      <a:endParaRPr lang="en-US" sz="1800" b="1" dirty="0">
                        <a:effectLst/>
                        <a:latin typeface="+mn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ru-RU" sz="1800" b="1" dirty="0">
                          <a:effectLst/>
                          <a:latin typeface="+mn-lt"/>
                        </a:rPr>
                        <a:t>Ограничения</a:t>
                      </a:r>
                      <a:endParaRPr lang="en-US" sz="1800" b="1" dirty="0">
                        <a:effectLst/>
                        <a:latin typeface="+mn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7461714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ru-RU" sz="1800" dirty="0" err="1">
                          <a:effectLst/>
                          <a:latin typeface="+mn-lt"/>
                        </a:rPr>
                        <a:t>seller_id</a:t>
                      </a:r>
                      <a:endParaRPr lang="en-US" sz="1800" dirty="0">
                        <a:effectLst/>
                        <a:latin typeface="+mn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ru-RU" sz="1800" dirty="0">
                          <a:effectLst/>
                          <a:latin typeface="+mn-lt"/>
                        </a:rPr>
                        <a:t>INT</a:t>
                      </a:r>
                      <a:endParaRPr lang="en-US" sz="1800" dirty="0">
                        <a:effectLst/>
                        <a:latin typeface="+mn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ru-RU" sz="1800">
                          <a:effectLst/>
                          <a:latin typeface="+mn-lt"/>
                        </a:rPr>
                        <a:t>Идентификатор продавца</a:t>
                      </a:r>
                      <a:endParaRPr lang="en-US" sz="1800">
                        <a:effectLst/>
                        <a:latin typeface="+mn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ru-RU" sz="1800">
                          <a:effectLst/>
                          <a:latin typeface="+mn-lt"/>
                        </a:rPr>
                        <a:t>PRIMARY KEY, AUTO_INCREMENT</a:t>
                      </a:r>
                      <a:endParaRPr lang="en-US" sz="1800">
                        <a:effectLst/>
                        <a:latin typeface="+mn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22242992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ru-RU" sz="1800">
                          <a:effectLst/>
                          <a:latin typeface="+mn-lt"/>
                        </a:rPr>
                        <a:t>name</a:t>
                      </a:r>
                      <a:endParaRPr lang="en-US" sz="1800">
                        <a:effectLst/>
                        <a:latin typeface="+mn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ru-RU" sz="1800">
                          <a:effectLst/>
                          <a:latin typeface="+mn-lt"/>
                        </a:rPr>
                        <a:t>VARCHAR(255)</a:t>
                      </a:r>
                      <a:endParaRPr lang="en-US" sz="1800">
                        <a:effectLst/>
                        <a:latin typeface="+mn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ru-RU" sz="1800">
                          <a:effectLst/>
                          <a:latin typeface="+mn-lt"/>
                        </a:rPr>
                        <a:t>Наименование организации</a:t>
                      </a:r>
                      <a:endParaRPr lang="en-US" sz="1800">
                        <a:effectLst/>
                        <a:latin typeface="+mn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ru-RU" sz="1800">
                          <a:effectLst/>
                          <a:latin typeface="+mn-lt"/>
                        </a:rPr>
                        <a:t>NOT NULL</a:t>
                      </a:r>
                      <a:endParaRPr lang="en-US" sz="1800">
                        <a:effectLst/>
                        <a:latin typeface="+mn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98216075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ru-RU" sz="1800">
                          <a:effectLst/>
                          <a:latin typeface="+mn-lt"/>
                        </a:rPr>
                        <a:t>inn</a:t>
                      </a:r>
                      <a:endParaRPr lang="en-US" sz="1800">
                        <a:effectLst/>
                        <a:latin typeface="+mn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ru-RU" sz="1800" dirty="0">
                          <a:effectLst/>
                          <a:latin typeface="+mn-lt"/>
                        </a:rPr>
                        <a:t>VARCHAR(12)</a:t>
                      </a:r>
                      <a:endParaRPr lang="en-US" sz="1800" dirty="0">
                        <a:effectLst/>
                        <a:latin typeface="+mn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ru-RU" sz="1800" dirty="0">
                          <a:effectLst/>
                          <a:latin typeface="+mn-lt"/>
                        </a:rPr>
                        <a:t>ИНН (12 символов для юрлиц)</a:t>
                      </a:r>
                      <a:endParaRPr lang="en-US" sz="1800" dirty="0">
                        <a:effectLst/>
                        <a:latin typeface="+mn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ru-RU" sz="1800">
                          <a:effectLst/>
                          <a:latin typeface="+mn-lt"/>
                        </a:rPr>
                        <a:t>NOT NULL, UNIQUE</a:t>
                      </a:r>
                      <a:endParaRPr lang="en-US" sz="1800">
                        <a:effectLst/>
                        <a:latin typeface="+mn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47785039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ru-RU" sz="1800">
                          <a:effectLst/>
                          <a:latin typeface="+mn-lt"/>
                        </a:rPr>
                        <a:t>address</a:t>
                      </a:r>
                      <a:endParaRPr lang="en-US" sz="1800">
                        <a:effectLst/>
                        <a:latin typeface="+mn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ru-RU" sz="1800" dirty="0">
                          <a:effectLst/>
                          <a:latin typeface="+mn-lt"/>
                        </a:rPr>
                        <a:t>TEXT</a:t>
                      </a:r>
                      <a:endParaRPr lang="en-US" sz="1800" dirty="0">
                        <a:effectLst/>
                        <a:latin typeface="+mn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ru-RU" sz="1800" dirty="0">
                          <a:effectLst/>
                          <a:latin typeface="+mn-lt"/>
                        </a:rPr>
                        <a:t>Юридический адрес</a:t>
                      </a:r>
                      <a:endParaRPr lang="en-US" sz="1800" dirty="0">
                        <a:effectLst/>
                        <a:latin typeface="+mn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endParaRPr lang="en-US" sz="1800">
                        <a:effectLst/>
                        <a:latin typeface="+mn-lt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415239083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ru-RU" sz="1800">
                          <a:effectLst/>
                          <a:latin typeface="+mn-lt"/>
                        </a:rPr>
                        <a:t>tax_system</a:t>
                      </a:r>
                      <a:endParaRPr lang="en-US" sz="1800">
                        <a:effectLst/>
                        <a:latin typeface="+mn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ru-RU" sz="1800" dirty="0">
                          <a:effectLst/>
                          <a:latin typeface="+mn-lt"/>
                        </a:rPr>
                        <a:t>VARCHAR(50)</a:t>
                      </a:r>
                      <a:endParaRPr lang="en-US" sz="1800" dirty="0">
                        <a:effectLst/>
                        <a:latin typeface="+mn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ru-RU" sz="1800" dirty="0">
                          <a:effectLst/>
                          <a:latin typeface="+mn-lt"/>
                        </a:rPr>
                        <a:t>Система налогообложения (ОСН, УСН и т.д.)</a:t>
                      </a:r>
                      <a:endParaRPr lang="en-US" sz="1800" dirty="0">
                        <a:effectLst/>
                        <a:latin typeface="+mn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endParaRPr lang="en-US" sz="1800">
                        <a:effectLst/>
                        <a:latin typeface="+mn-lt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27587173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ru-RU" sz="1800">
                          <a:effectLst/>
                          <a:latin typeface="+mn-lt"/>
                        </a:rPr>
                        <a:t>kkt_reg_number</a:t>
                      </a:r>
                      <a:endParaRPr lang="en-US" sz="1800">
                        <a:effectLst/>
                        <a:latin typeface="+mn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ru-RU" sz="1800">
                          <a:effectLst/>
                          <a:latin typeface="+mn-lt"/>
                        </a:rPr>
                        <a:t>VARCHAR(20)</a:t>
                      </a:r>
                      <a:endParaRPr lang="en-US" sz="1800">
                        <a:effectLst/>
                        <a:latin typeface="+mn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ru-RU" sz="1800" dirty="0">
                          <a:effectLst/>
                          <a:latin typeface="+mn-lt"/>
                        </a:rPr>
                        <a:t>Регистрационный номер ККТ</a:t>
                      </a:r>
                      <a:endParaRPr lang="en-US" sz="1800" dirty="0">
                        <a:effectLst/>
                        <a:latin typeface="+mn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endParaRPr lang="en-US" sz="1800" dirty="0">
                        <a:effectLst/>
                        <a:latin typeface="+mn-lt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588991660"/>
                  </a:ext>
                </a:extLst>
              </a:tr>
            </a:tbl>
          </a:graphicData>
        </a:graphic>
      </p:graphicFrame>
      <p:sp>
        <p:nvSpPr>
          <p:cNvPr id="4" name="Rectangle 1">
            <a:extLst>
              <a:ext uri="{FF2B5EF4-FFF2-40B4-BE49-F238E27FC236}">
                <a16:creationId xmlns:a16="http://schemas.microsoft.com/office/drawing/2014/main" id="{CD1E862D-66B2-93C9-63B1-FD5A3AF1D053}"/>
              </a:ext>
            </a:extLst>
          </p:cNvPr>
          <p:cNvSpPr>
            <a:spLocks noChangeArrowheads="1"/>
          </p:cNvSpPr>
          <p:nvPr/>
        </p:nvSpPr>
        <p:spPr bwMode="auto">
          <a:xfrm>
            <a:off x="865238" y="780639"/>
            <a:ext cx="4068743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lt"/>
                <a:ea typeface="Calibri" panose="020F0502020204030204" pitchFamily="34" charset="0"/>
                <a:cs typeface="Times New Roman" panose="02020603050405020304" pitchFamily="18" charset="0"/>
              </a:rPr>
              <a:t>Таблица </a:t>
            </a:r>
            <a:r>
              <a:rPr kumimoji="0" lang="ru-RU" altLang="en-US" sz="24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+mn-lt"/>
                <a:ea typeface="Calibri" panose="020F0502020204030204" pitchFamily="34" charset="0"/>
                <a:cs typeface="Times New Roman" panose="02020603050405020304" pitchFamily="18" charset="0"/>
              </a:rPr>
              <a:t>Sellers</a:t>
            </a:r>
            <a:r>
              <a:rPr kumimoji="0" lang="ru-RU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lt"/>
                <a:ea typeface="Calibri" panose="020F0502020204030204" pitchFamily="34" charset="0"/>
                <a:cs typeface="Times New Roman" panose="02020603050405020304" pitchFamily="18" charset="0"/>
              </a:rPr>
              <a:t> (Продавцы)</a:t>
            </a:r>
            <a:endParaRPr kumimoji="0" lang="ru-RU" altLang="en-US" sz="3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n-lt"/>
            </a:endParaRP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BA5433DA-6C03-40F3-9B38-D37566090615}"/>
              </a:ext>
            </a:extLst>
          </p:cNvPr>
          <p:cNvSpPr/>
          <p:nvPr/>
        </p:nvSpPr>
        <p:spPr>
          <a:xfrm>
            <a:off x="1047750" y="6410632"/>
            <a:ext cx="2743200" cy="285136"/>
          </a:xfrm>
          <a:prstGeom prst="rect">
            <a:avLst/>
          </a:prstGeom>
          <a:solidFill>
            <a:srgbClr val="FFFFFF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475875773"/>
      </p:ext>
    </p:extLst>
  </p:cSld>
  <p:clrMapOvr>
    <a:masterClrMapping/>
  </p:clrMapOvr>
  <p:transition spd="med"/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DC830BA0-522C-F045-30D9-6AA9F8291E9E}"/>
              </a:ext>
            </a:extLst>
          </p:cNvPr>
          <p:cNvSpPr/>
          <p:nvPr/>
        </p:nvSpPr>
        <p:spPr>
          <a:xfrm>
            <a:off x="609600" y="6410632"/>
            <a:ext cx="511277" cy="285136"/>
          </a:xfrm>
          <a:prstGeom prst="rect">
            <a:avLst/>
          </a:prstGeom>
          <a:solidFill>
            <a:srgbClr val="FFFFFF"/>
          </a:solidFill>
          <a:ln w="12700" cap="flat">
            <a:solidFill>
              <a:schemeClr val="bg1"/>
            </a:solidFill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959C283-2F3B-9343-D0E8-821A55D5CA6C}"/>
              </a:ext>
            </a:extLst>
          </p:cNvPr>
          <p:cNvSpPr txBox="1"/>
          <p:nvPr/>
        </p:nvSpPr>
        <p:spPr>
          <a:xfrm>
            <a:off x="953728" y="167609"/>
            <a:ext cx="10726994" cy="52321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ru-RU" sz="2800" b="1" i="0" u="none" strike="noStrike" cap="none" spc="0" normalizeH="0" baseline="0" dirty="0">
                <a:ln>
                  <a:noFill/>
                </a:ln>
                <a:solidFill>
                  <a:schemeClr val="accent1"/>
                </a:solidFill>
                <a:effectLst/>
                <a:uFillTx/>
                <a:latin typeface="+mn-lt"/>
                <a:ea typeface="Arial"/>
                <a:cs typeface="Arial"/>
                <a:sym typeface="Arial"/>
              </a:rPr>
              <a:t>ПРОЕКТИРОВАНИЕ БАЗЫ ДАННЫХ</a:t>
            </a:r>
            <a:endParaRPr kumimoji="0" lang="en-US" sz="2800" b="1" i="0" u="none" strike="noStrike" cap="none" spc="0" normalizeH="0" baseline="0" dirty="0">
              <a:ln>
                <a:noFill/>
              </a:ln>
              <a:solidFill>
                <a:schemeClr val="accent1"/>
              </a:solidFill>
              <a:effectLst/>
              <a:uFillTx/>
              <a:latin typeface="+mn-lt"/>
              <a:ea typeface="Arial"/>
              <a:cs typeface="Arial"/>
              <a:sym typeface="Arial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CDA34B9-382B-69CA-075A-BEB4EA2BC646}"/>
              </a:ext>
            </a:extLst>
          </p:cNvPr>
          <p:cNvSpPr txBox="1"/>
          <p:nvPr/>
        </p:nvSpPr>
        <p:spPr>
          <a:xfrm>
            <a:off x="309716" y="229164"/>
            <a:ext cx="511277" cy="40010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ru-RU" sz="2000" b="1" i="0" u="none" strike="noStrike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+mn-lt"/>
                <a:ea typeface="Arial"/>
                <a:cs typeface="Arial"/>
                <a:sym typeface="Arial"/>
              </a:rPr>
              <a:t>2</a:t>
            </a:r>
            <a:r>
              <a:rPr lang="ru-RU" sz="2000" b="1" dirty="0">
                <a:solidFill>
                  <a:schemeClr val="bg1"/>
                </a:solidFill>
                <a:latin typeface="+mn-lt"/>
              </a:rPr>
              <a:t>7</a:t>
            </a:r>
            <a:endParaRPr kumimoji="0" lang="en-US" sz="2000" b="1" i="0" u="none" strike="noStrike" cap="none" spc="0" normalizeH="0" baseline="0" dirty="0">
              <a:ln>
                <a:noFill/>
              </a:ln>
              <a:solidFill>
                <a:schemeClr val="bg1"/>
              </a:solidFill>
              <a:effectLst/>
              <a:uFillTx/>
              <a:latin typeface="+mn-lt"/>
              <a:ea typeface="Arial"/>
              <a:cs typeface="Arial"/>
              <a:sym typeface="Arial"/>
            </a:endParaRPr>
          </a:p>
        </p:txBody>
      </p:sp>
      <p:graphicFrame>
        <p:nvGraphicFramePr>
          <p:cNvPr id="8" name="Таблица 7">
            <a:extLst>
              <a:ext uri="{FF2B5EF4-FFF2-40B4-BE49-F238E27FC236}">
                <a16:creationId xmlns:a16="http://schemas.microsoft.com/office/drawing/2014/main" id="{DE615C70-2FCE-A557-0789-34234182F27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34839375"/>
              </p:ext>
            </p:extLst>
          </p:nvPr>
        </p:nvGraphicFramePr>
        <p:xfrm>
          <a:off x="2344891" y="2126656"/>
          <a:ext cx="8264218" cy="2848146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1461282">
                  <a:extLst>
                    <a:ext uri="{9D8B030D-6E8A-4147-A177-3AD203B41FA5}">
                      <a16:colId xmlns:a16="http://schemas.microsoft.com/office/drawing/2014/main" val="2828476652"/>
                    </a:ext>
                  </a:extLst>
                </a:gridCol>
                <a:gridCol w="1827813">
                  <a:extLst>
                    <a:ext uri="{9D8B030D-6E8A-4147-A177-3AD203B41FA5}">
                      <a16:colId xmlns:a16="http://schemas.microsoft.com/office/drawing/2014/main" val="3003752330"/>
                    </a:ext>
                  </a:extLst>
                </a:gridCol>
                <a:gridCol w="2172929">
                  <a:extLst>
                    <a:ext uri="{9D8B030D-6E8A-4147-A177-3AD203B41FA5}">
                      <a16:colId xmlns:a16="http://schemas.microsoft.com/office/drawing/2014/main" val="3227784591"/>
                    </a:ext>
                  </a:extLst>
                </a:gridCol>
                <a:gridCol w="2802194">
                  <a:extLst>
                    <a:ext uri="{9D8B030D-6E8A-4147-A177-3AD203B41FA5}">
                      <a16:colId xmlns:a16="http://schemas.microsoft.com/office/drawing/2014/main" val="3898306725"/>
                    </a:ext>
                  </a:extLst>
                </a:gridCol>
              </a:tblGrid>
              <a:tr h="558003"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800" b="1" u="none" strike="noStrike" dirty="0">
                          <a:effectLst/>
                        </a:rPr>
                        <a:t>Поле</a:t>
                      </a:r>
                      <a:endParaRPr lang="en-US" sz="1800" b="1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620" marR="7620" marT="7620" marB="0" anchor="ctr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800" b="1" u="none" strike="noStrike" dirty="0">
                          <a:effectLst/>
                        </a:rPr>
                        <a:t>Тип данных</a:t>
                      </a:r>
                      <a:endParaRPr lang="en-US" sz="1800" b="1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620" marR="7620" marT="7620" marB="0" anchor="ctr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800" b="1" u="none" strike="noStrike">
                          <a:effectLst/>
                        </a:rPr>
                        <a:t>Описание</a:t>
                      </a:r>
                      <a:endParaRPr lang="en-US" sz="1800" b="1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620" marR="7620" marT="7620" marB="0" anchor="ctr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800" b="1" u="none" strike="noStrike" dirty="0">
                          <a:effectLst/>
                        </a:rPr>
                        <a:t>Ограничения</a:t>
                      </a:r>
                      <a:endParaRPr lang="en-US" sz="1800" b="1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620" marR="7620" marT="7620" marB="0" anchor="ctr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16252664"/>
                  </a:ext>
                </a:extLst>
              </a:tr>
              <a:tr h="1331900"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800" u="none" strike="noStrike" dirty="0" err="1">
                          <a:effectLst/>
                        </a:rPr>
                        <a:t>cashier_id</a:t>
                      </a:r>
                      <a:endParaRPr lang="en-US" sz="18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800" u="none" strike="noStrike" dirty="0">
                          <a:effectLst/>
                        </a:rPr>
                        <a:t>INT</a:t>
                      </a:r>
                      <a:endParaRPr lang="en-US" sz="18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800" u="none" strike="noStrike" dirty="0">
                          <a:effectLst/>
                        </a:rPr>
                        <a:t>Идентификатор кассира</a:t>
                      </a:r>
                      <a:endParaRPr lang="en-US" sz="18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800" u="none" strike="noStrike" dirty="0">
                          <a:effectLst/>
                        </a:rPr>
                        <a:t>PRIMARY KEY, AUTO_INCREMENT</a:t>
                      </a:r>
                      <a:endParaRPr lang="en-US" sz="18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2774685143"/>
                  </a:ext>
                </a:extLst>
              </a:tr>
              <a:tr h="958243"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800" u="none" strike="noStrike">
                          <a:effectLst/>
                        </a:rPr>
                        <a:t>full_name</a:t>
                      </a:r>
                      <a:endParaRPr lang="en-US" sz="18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800" u="none" strike="noStrike">
                          <a:effectLst/>
                        </a:rPr>
                        <a:t>VARCHAR(255)</a:t>
                      </a:r>
                      <a:endParaRPr lang="en-US" sz="18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800" u="none" strike="noStrike" dirty="0">
                          <a:effectLst/>
                        </a:rPr>
                        <a:t>ФИО кассира</a:t>
                      </a:r>
                      <a:endParaRPr lang="en-US" sz="18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800" u="none" strike="noStrike" dirty="0">
                          <a:effectLst/>
                        </a:rPr>
                        <a:t>NOT NULL</a:t>
                      </a:r>
                      <a:endParaRPr lang="en-US" sz="18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826307680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B92FE45F-7981-DBAA-BCDC-813F25887706}"/>
              </a:ext>
            </a:extLst>
          </p:cNvPr>
          <p:cNvSpPr txBox="1"/>
          <p:nvPr/>
        </p:nvSpPr>
        <p:spPr>
          <a:xfrm>
            <a:off x="953728" y="940664"/>
            <a:ext cx="6479458" cy="468077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algn="just">
              <a:lnSpc>
                <a:spcPct val="107000"/>
              </a:lnSpc>
              <a:spcBef>
                <a:spcPts val="1200"/>
              </a:spcBef>
              <a:spcAft>
                <a:spcPts val="800"/>
              </a:spcAft>
            </a:pPr>
            <a:r>
              <a:rPr lang="ru-RU" sz="2400" b="1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Таблица </a:t>
            </a:r>
            <a:r>
              <a:rPr lang="ru-RU" sz="2400" b="1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Cashiers</a:t>
            </a:r>
            <a:r>
              <a:rPr lang="ru-RU" sz="2400" b="1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 (Кассиры)</a:t>
            </a:r>
            <a:endParaRPr lang="en-US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07F53600-356B-43F7-ADE9-B7F0E5FE25EB}"/>
              </a:ext>
            </a:extLst>
          </p:cNvPr>
          <p:cNvSpPr/>
          <p:nvPr/>
        </p:nvSpPr>
        <p:spPr>
          <a:xfrm>
            <a:off x="1047750" y="6410632"/>
            <a:ext cx="2743200" cy="285136"/>
          </a:xfrm>
          <a:prstGeom prst="rect">
            <a:avLst/>
          </a:prstGeom>
          <a:solidFill>
            <a:srgbClr val="FFFFFF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168558113"/>
      </p:ext>
    </p:extLst>
  </p:cSld>
  <p:clrMapOvr>
    <a:masterClrMapping/>
  </p:clrMapOvr>
  <p:transition spd="med"/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DC830BA0-522C-F045-30D9-6AA9F8291E9E}"/>
              </a:ext>
            </a:extLst>
          </p:cNvPr>
          <p:cNvSpPr/>
          <p:nvPr/>
        </p:nvSpPr>
        <p:spPr>
          <a:xfrm>
            <a:off x="609600" y="6410632"/>
            <a:ext cx="511277" cy="285136"/>
          </a:xfrm>
          <a:prstGeom prst="rect">
            <a:avLst/>
          </a:prstGeom>
          <a:solidFill>
            <a:srgbClr val="FFFFFF"/>
          </a:solidFill>
          <a:ln w="12700" cap="flat">
            <a:solidFill>
              <a:schemeClr val="bg1"/>
            </a:solidFill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959C283-2F3B-9343-D0E8-821A55D5CA6C}"/>
              </a:ext>
            </a:extLst>
          </p:cNvPr>
          <p:cNvSpPr txBox="1"/>
          <p:nvPr/>
        </p:nvSpPr>
        <p:spPr>
          <a:xfrm>
            <a:off x="953728" y="167609"/>
            <a:ext cx="10726994" cy="52321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ru-RU" sz="2800" b="1" i="0" u="none" strike="noStrike" cap="none" spc="0" normalizeH="0" baseline="0" dirty="0">
                <a:ln>
                  <a:noFill/>
                </a:ln>
                <a:solidFill>
                  <a:schemeClr val="accent1"/>
                </a:solidFill>
                <a:effectLst/>
                <a:uFillTx/>
                <a:latin typeface="+mn-lt"/>
                <a:ea typeface="Arial"/>
                <a:cs typeface="Arial"/>
                <a:sym typeface="Arial"/>
              </a:rPr>
              <a:t>ПРОЕКТИРОВАНИЕ БАЗЫ ДАННЫХ</a:t>
            </a:r>
            <a:endParaRPr kumimoji="0" lang="en-US" sz="2800" b="1" i="0" u="none" strike="noStrike" cap="none" spc="0" normalizeH="0" baseline="0" dirty="0">
              <a:ln>
                <a:noFill/>
              </a:ln>
              <a:solidFill>
                <a:schemeClr val="accent1"/>
              </a:solidFill>
              <a:effectLst/>
              <a:uFillTx/>
              <a:latin typeface="+mn-lt"/>
              <a:ea typeface="Arial"/>
              <a:cs typeface="Arial"/>
              <a:sym typeface="Arial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CDA34B9-382B-69CA-075A-BEB4EA2BC646}"/>
              </a:ext>
            </a:extLst>
          </p:cNvPr>
          <p:cNvSpPr txBox="1"/>
          <p:nvPr/>
        </p:nvSpPr>
        <p:spPr>
          <a:xfrm>
            <a:off x="309716" y="229164"/>
            <a:ext cx="511277" cy="40010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ru-RU" sz="2000" b="1" i="0" u="none" strike="noStrike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+mn-lt"/>
                <a:ea typeface="Arial"/>
                <a:cs typeface="Arial"/>
                <a:sym typeface="Arial"/>
              </a:rPr>
              <a:t>2</a:t>
            </a:r>
            <a:r>
              <a:rPr lang="ru-RU" sz="2000" b="1" dirty="0">
                <a:solidFill>
                  <a:schemeClr val="bg1"/>
                </a:solidFill>
                <a:latin typeface="+mn-lt"/>
              </a:rPr>
              <a:t>8</a:t>
            </a:r>
            <a:endParaRPr kumimoji="0" lang="en-US" sz="2000" b="1" i="0" u="none" strike="noStrike" cap="none" spc="0" normalizeH="0" baseline="0" dirty="0">
              <a:ln>
                <a:noFill/>
              </a:ln>
              <a:solidFill>
                <a:schemeClr val="bg1"/>
              </a:solidFill>
              <a:effectLst/>
              <a:uFillTx/>
              <a:latin typeface="+mn-lt"/>
              <a:ea typeface="Arial"/>
              <a:cs typeface="Arial"/>
              <a:sym typeface="Arial"/>
            </a:endParaRPr>
          </a:p>
        </p:txBody>
      </p:sp>
      <p:graphicFrame>
        <p:nvGraphicFramePr>
          <p:cNvPr id="3" name="Таблица 2">
            <a:extLst>
              <a:ext uri="{FF2B5EF4-FFF2-40B4-BE49-F238E27FC236}">
                <a16:creationId xmlns:a16="http://schemas.microsoft.com/office/drawing/2014/main" id="{7421CE01-A494-8BA5-53EF-C6EDF2F637E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3533865"/>
              </p:ext>
            </p:extLst>
          </p:nvPr>
        </p:nvGraphicFramePr>
        <p:xfrm>
          <a:off x="2133600" y="1171884"/>
          <a:ext cx="8111613" cy="5238748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1465006">
                  <a:extLst>
                    <a:ext uri="{9D8B030D-6E8A-4147-A177-3AD203B41FA5}">
                      <a16:colId xmlns:a16="http://schemas.microsoft.com/office/drawing/2014/main" val="3695719809"/>
                    </a:ext>
                  </a:extLst>
                </a:gridCol>
                <a:gridCol w="1691148">
                  <a:extLst>
                    <a:ext uri="{9D8B030D-6E8A-4147-A177-3AD203B41FA5}">
                      <a16:colId xmlns:a16="http://schemas.microsoft.com/office/drawing/2014/main" val="2645117551"/>
                    </a:ext>
                  </a:extLst>
                </a:gridCol>
                <a:gridCol w="2104104">
                  <a:extLst>
                    <a:ext uri="{9D8B030D-6E8A-4147-A177-3AD203B41FA5}">
                      <a16:colId xmlns:a16="http://schemas.microsoft.com/office/drawing/2014/main" val="271822791"/>
                    </a:ext>
                  </a:extLst>
                </a:gridCol>
                <a:gridCol w="2851355">
                  <a:extLst>
                    <a:ext uri="{9D8B030D-6E8A-4147-A177-3AD203B41FA5}">
                      <a16:colId xmlns:a16="http://schemas.microsoft.com/office/drawing/2014/main" val="3889545924"/>
                    </a:ext>
                  </a:extLst>
                </a:gridCol>
              </a:tblGrid>
              <a:tr h="312337"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600" b="1" u="none" strike="noStrike" dirty="0">
                          <a:effectLst/>
                        </a:rPr>
                        <a:t>Поле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3549" marR="3549" marT="3549" marB="0" anchor="ctr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600" b="1" u="none" strike="noStrike">
                          <a:effectLst/>
                        </a:rPr>
                        <a:t>Тип данных</a:t>
                      </a:r>
                      <a:endParaRPr lang="en-US" sz="1600" b="1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3549" marR="3549" marT="3549" marB="0" anchor="ctr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600" b="1" u="none" strike="noStrike">
                          <a:effectLst/>
                        </a:rPr>
                        <a:t>Описание</a:t>
                      </a:r>
                      <a:endParaRPr lang="en-US" sz="1600" b="1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3549" marR="3549" marT="3549" marB="0" anchor="ctr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600" b="1" u="none" strike="noStrike" dirty="0">
                          <a:effectLst/>
                        </a:rPr>
                        <a:t>Ограничения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3549" marR="3549" marT="3549" marB="0" anchor="ctr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44126684"/>
                  </a:ext>
                </a:extLst>
              </a:tr>
              <a:tr h="748900"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600" u="none" strike="noStrike" dirty="0" err="1">
                          <a:effectLst/>
                        </a:rPr>
                        <a:t>receipt_id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3549" marR="3549" marT="3549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600" u="none" strike="noStrike" dirty="0">
                          <a:effectLst/>
                        </a:rPr>
                        <a:t>INT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3549" marR="3549" marT="3549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600" u="none" strike="noStrike" dirty="0">
                          <a:effectLst/>
                        </a:rPr>
                        <a:t>Идентификатор чека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3549" marR="3549" marT="3549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600" u="none" strike="noStrike" dirty="0">
                          <a:effectLst/>
                        </a:rPr>
                        <a:t>PRIMARY KEY, AUTO_INCREMENT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3549" marR="3549" marT="3549" marB="0" anchor="ctr"/>
                </a:tc>
                <a:extLst>
                  <a:ext uri="{0D108BD9-81ED-4DB2-BD59-A6C34878D82A}">
                    <a16:rowId xmlns:a16="http://schemas.microsoft.com/office/drawing/2014/main" val="2268768106"/>
                  </a:ext>
                </a:extLst>
              </a:tr>
              <a:tr h="429464"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600" u="none" strike="noStrike">
                          <a:effectLst/>
                        </a:rPr>
                        <a:t>datetime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3549" marR="3549" marT="3549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600" u="none" strike="noStrike" dirty="0">
                          <a:effectLst/>
                        </a:rPr>
                        <a:t>DATETIME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3549" marR="3549" marT="3549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600" u="none" strike="noStrike">
                          <a:effectLst/>
                        </a:rPr>
                        <a:t>Дата и время операции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3549" marR="3549" marT="3549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600" u="none" strike="noStrike">
                          <a:effectLst/>
                        </a:rPr>
                        <a:t>NOT NULL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3549" marR="3549" marT="3549" marB="0" anchor="ctr"/>
                </a:tc>
                <a:extLst>
                  <a:ext uri="{0D108BD9-81ED-4DB2-BD59-A6C34878D82A}">
                    <a16:rowId xmlns:a16="http://schemas.microsoft.com/office/drawing/2014/main" val="1986312594"/>
                  </a:ext>
                </a:extLst>
              </a:tr>
              <a:tr h="322985"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600" u="none" strike="noStrike">
                          <a:effectLst/>
                        </a:rPr>
                        <a:t>total_amount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3549" marR="3549" marT="3549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600" u="none" strike="noStrike">
                          <a:effectLst/>
                        </a:rPr>
                        <a:t>DECIMAL(10,2)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3549" marR="3549" marT="3549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600" u="none" strike="noStrike">
                          <a:effectLst/>
                        </a:rPr>
                        <a:t>Итоговая сумма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3549" marR="3549" marT="3549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600" u="none" strike="noStrike">
                          <a:effectLst/>
                        </a:rPr>
                        <a:t>NOT NULL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3549" marR="3549" marT="3549" marB="0" anchor="ctr"/>
                </a:tc>
                <a:extLst>
                  <a:ext uri="{0D108BD9-81ED-4DB2-BD59-A6C34878D82A}">
                    <a16:rowId xmlns:a16="http://schemas.microsoft.com/office/drawing/2014/main" val="2499302606"/>
                  </a:ext>
                </a:extLst>
              </a:tr>
              <a:tr h="322985"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600" u="none" strike="noStrike">
                          <a:effectLst/>
                        </a:rPr>
                        <a:t>vat_amount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3549" marR="3549" marT="3549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600" u="none" strike="noStrike">
                          <a:effectLst/>
                        </a:rPr>
                        <a:t>DECIMAL(10,2)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3549" marR="3549" marT="3549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600" u="none" strike="noStrike">
                          <a:effectLst/>
                        </a:rPr>
                        <a:t>Сумма НДС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3549" marR="3549" marT="3549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600" u="none" strike="noStrike" dirty="0">
                          <a:effectLst/>
                        </a:rPr>
                        <a:t> 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49" marR="3549" marT="3549" marB="0" anchor="ctr"/>
                </a:tc>
                <a:extLst>
                  <a:ext uri="{0D108BD9-81ED-4DB2-BD59-A6C34878D82A}">
                    <a16:rowId xmlns:a16="http://schemas.microsoft.com/office/drawing/2014/main" val="1069808605"/>
                  </a:ext>
                </a:extLst>
              </a:tr>
              <a:tr h="855378"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600" u="none" strike="noStrike">
                          <a:effectLst/>
                        </a:rPr>
                        <a:t>payment_form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3549" marR="3549" marT="3549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600" u="none" strike="noStrike">
                          <a:effectLst/>
                        </a:rPr>
                        <a:t>VARCHAR(50)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3549" marR="3549" marT="3549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600" u="none" strike="noStrike" dirty="0">
                          <a:effectLst/>
                        </a:rPr>
                        <a:t>Форма оплаты (НАЛИЧНЫМИ, БЕЗНАЛ и т.д.)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3549" marR="3549" marT="3549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600" u="none" strike="noStrike" dirty="0">
                          <a:effectLst/>
                        </a:rPr>
                        <a:t> 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49" marR="3549" marT="3549" marB="0" anchor="ctr"/>
                </a:tc>
                <a:extLst>
                  <a:ext uri="{0D108BD9-81ED-4DB2-BD59-A6C34878D82A}">
                    <a16:rowId xmlns:a16="http://schemas.microsoft.com/office/drawing/2014/main" val="583096744"/>
                  </a:ext>
                </a:extLst>
              </a:tr>
              <a:tr h="535943"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600" u="none" strike="noStrike">
                          <a:effectLst/>
                        </a:rPr>
                        <a:t>fiscal_attribute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3549" marR="3549" marT="3549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600" u="none" strike="noStrike">
                          <a:effectLst/>
                        </a:rPr>
                        <a:t>VARCHAR(50)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3549" marR="3549" marT="3549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600" u="none" strike="noStrike">
                          <a:effectLst/>
                        </a:rPr>
                        <a:t>Фискальный признак (ФПД)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3549" marR="3549" marT="3549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600" u="none" strike="noStrike" dirty="0">
                          <a:effectLst/>
                        </a:rPr>
                        <a:t>UNIQUE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3549" marR="3549" marT="3549" marB="0" anchor="ctr"/>
                </a:tc>
                <a:extLst>
                  <a:ext uri="{0D108BD9-81ED-4DB2-BD59-A6C34878D82A}">
                    <a16:rowId xmlns:a16="http://schemas.microsoft.com/office/drawing/2014/main" val="526056863"/>
                  </a:ext>
                </a:extLst>
              </a:tr>
              <a:tr h="855378"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600" u="none" strike="noStrike">
                          <a:effectLst/>
                        </a:rPr>
                        <a:t>seller_id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3549" marR="3549" marT="3549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600" u="none" strike="noStrike">
                          <a:effectLst/>
                        </a:rPr>
                        <a:t>INT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3549" marR="3549" marT="3549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600" u="none" strike="noStrike">
                          <a:effectLst/>
                        </a:rPr>
                        <a:t>ID продавца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3549" marR="3549" marT="3549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600" u="none" strike="noStrike" dirty="0">
                          <a:effectLst/>
                        </a:rPr>
                        <a:t>FOREIGN KEY REFERENCES Sellers(</a:t>
                      </a:r>
                      <a:r>
                        <a:rPr lang="en-US" sz="1600" u="none" strike="noStrike" dirty="0" err="1">
                          <a:effectLst/>
                        </a:rPr>
                        <a:t>seller_id</a:t>
                      </a:r>
                      <a:r>
                        <a:rPr lang="en-US" sz="1600" u="none" strike="noStrike" dirty="0">
                          <a:effectLst/>
                        </a:rPr>
                        <a:t>)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3549" marR="3549" marT="3549" marB="0" anchor="ctr"/>
                </a:tc>
                <a:extLst>
                  <a:ext uri="{0D108BD9-81ED-4DB2-BD59-A6C34878D82A}">
                    <a16:rowId xmlns:a16="http://schemas.microsoft.com/office/drawing/2014/main" val="3310186634"/>
                  </a:ext>
                </a:extLst>
              </a:tr>
              <a:tr h="855378"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600" u="none" strike="noStrike">
                          <a:effectLst/>
                        </a:rPr>
                        <a:t>cashier_id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3549" marR="3549" marT="3549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600" u="none" strike="noStrike">
                          <a:effectLst/>
                        </a:rPr>
                        <a:t>INT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3549" marR="3549" marT="3549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600" u="none" strike="noStrike">
                          <a:effectLst/>
                        </a:rPr>
                        <a:t>ID кассира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3549" marR="3549" marT="3549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600" u="none" strike="noStrike" dirty="0">
                          <a:effectLst/>
                        </a:rPr>
                        <a:t>FOREIGN KEY REFERENCES Cashiers(</a:t>
                      </a:r>
                      <a:r>
                        <a:rPr lang="en-US" sz="1600" u="none" strike="noStrike" dirty="0" err="1">
                          <a:effectLst/>
                        </a:rPr>
                        <a:t>cashier_id</a:t>
                      </a:r>
                      <a:r>
                        <a:rPr lang="en-US" sz="1600" u="none" strike="noStrike" dirty="0">
                          <a:effectLst/>
                        </a:rPr>
                        <a:t>)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3549" marR="3549" marT="3549" marB="0" anchor="ctr"/>
                </a:tc>
                <a:extLst>
                  <a:ext uri="{0D108BD9-81ED-4DB2-BD59-A6C34878D82A}">
                    <a16:rowId xmlns:a16="http://schemas.microsoft.com/office/drawing/2014/main" val="3165609039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C8EB3E8F-7208-E336-9015-B16E0456BFEE}"/>
              </a:ext>
            </a:extLst>
          </p:cNvPr>
          <p:cNvSpPr txBox="1"/>
          <p:nvPr/>
        </p:nvSpPr>
        <p:spPr>
          <a:xfrm>
            <a:off x="953728" y="629272"/>
            <a:ext cx="6479458" cy="405367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algn="just">
              <a:lnSpc>
                <a:spcPct val="107000"/>
              </a:lnSpc>
              <a:spcBef>
                <a:spcPts val="1200"/>
              </a:spcBef>
              <a:spcAft>
                <a:spcPts val="800"/>
              </a:spcAft>
            </a:pPr>
            <a:r>
              <a:rPr lang="ru-RU" sz="2000" b="1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Таблица </a:t>
            </a:r>
            <a:r>
              <a:rPr lang="ru-RU" sz="2000" b="1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Receipts</a:t>
            </a:r>
            <a:r>
              <a:rPr lang="ru-RU" sz="2000" b="1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 (Чеки)</a:t>
            </a:r>
            <a:endParaRPr lang="en-US" sz="16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52581573-B5FA-42C2-AF07-2C690490DFEA}"/>
              </a:ext>
            </a:extLst>
          </p:cNvPr>
          <p:cNvSpPr/>
          <p:nvPr/>
        </p:nvSpPr>
        <p:spPr>
          <a:xfrm>
            <a:off x="1047750" y="6448732"/>
            <a:ext cx="2743200" cy="285136"/>
          </a:xfrm>
          <a:prstGeom prst="rect">
            <a:avLst/>
          </a:prstGeom>
          <a:solidFill>
            <a:srgbClr val="FFFFFF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572810302"/>
      </p:ext>
    </p:extLst>
  </p:cSld>
  <p:clrMapOvr>
    <a:masterClrMapping/>
  </p:clrMapOvr>
  <p:transition spd="med"/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3CBFB36D-74D2-4A7F-A4C8-CD3CFFB6EAEF}"/>
              </a:ext>
            </a:extLst>
          </p:cNvPr>
          <p:cNvSpPr/>
          <p:nvPr/>
        </p:nvSpPr>
        <p:spPr>
          <a:xfrm>
            <a:off x="1047750" y="6410632"/>
            <a:ext cx="2743200" cy="285136"/>
          </a:xfrm>
          <a:prstGeom prst="rect">
            <a:avLst/>
          </a:prstGeom>
          <a:solidFill>
            <a:srgbClr val="FFFFFF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DC830BA0-522C-F045-30D9-6AA9F8291E9E}"/>
              </a:ext>
            </a:extLst>
          </p:cNvPr>
          <p:cNvSpPr/>
          <p:nvPr/>
        </p:nvSpPr>
        <p:spPr>
          <a:xfrm>
            <a:off x="609600" y="6410632"/>
            <a:ext cx="511277" cy="285136"/>
          </a:xfrm>
          <a:prstGeom prst="rect">
            <a:avLst/>
          </a:prstGeom>
          <a:solidFill>
            <a:srgbClr val="FFFFFF"/>
          </a:solidFill>
          <a:ln w="12700" cap="flat">
            <a:solidFill>
              <a:schemeClr val="bg1"/>
            </a:solidFill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959C283-2F3B-9343-D0E8-821A55D5CA6C}"/>
              </a:ext>
            </a:extLst>
          </p:cNvPr>
          <p:cNvSpPr txBox="1"/>
          <p:nvPr/>
        </p:nvSpPr>
        <p:spPr>
          <a:xfrm>
            <a:off x="953728" y="167609"/>
            <a:ext cx="10726994" cy="52321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ru-RU" sz="2800" b="1" i="0" u="none" strike="noStrike" cap="none" spc="0" normalizeH="0" baseline="0" dirty="0">
                <a:ln>
                  <a:noFill/>
                </a:ln>
                <a:solidFill>
                  <a:schemeClr val="accent1"/>
                </a:solidFill>
                <a:effectLst/>
                <a:uFillTx/>
                <a:latin typeface="+mn-lt"/>
                <a:ea typeface="Arial"/>
                <a:cs typeface="Arial"/>
                <a:sym typeface="Arial"/>
              </a:rPr>
              <a:t>ПРОЕКТИРОВАНИЕ БАЗЫ ДАННЫХ</a:t>
            </a:r>
            <a:endParaRPr kumimoji="0" lang="en-US" sz="2800" b="1" i="0" u="none" strike="noStrike" cap="none" spc="0" normalizeH="0" baseline="0" dirty="0">
              <a:ln>
                <a:noFill/>
              </a:ln>
              <a:solidFill>
                <a:schemeClr val="accent1"/>
              </a:solidFill>
              <a:effectLst/>
              <a:uFillTx/>
              <a:latin typeface="+mn-lt"/>
              <a:ea typeface="Arial"/>
              <a:cs typeface="Arial"/>
              <a:sym typeface="Arial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CDA34B9-382B-69CA-075A-BEB4EA2BC646}"/>
              </a:ext>
            </a:extLst>
          </p:cNvPr>
          <p:cNvSpPr txBox="1"/>
          <p:nvPr/>
        </p:nvSpPr>
        <p:spPr>
          <a:xfrm>
            <a:off x="309716" y="229164"/>
            <a:ext cx="511277" cy="40010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ru-RU" sz="2000" b="1" dirty="0">
                <a:solidFill>
                  <a:schemeClr val="bg1"/>
                </a:solidFill>
                <a:latin typeface="+mn-lt"/>
              </a:rPr>
              <a:t>29</a:t>
            </a:r>
            <a:endParaRPr kumimoji="0" lang="en-US" sz="2000" b="1" i="0" u="none" strike="noStrike" cap="none" spc="0" normalizeH="0" baseline="0" dirty="0">
              <a:ln>
                <a:noFill/>
              </a:ln>
              <a:solidFill>
                <a:schemeClr val="bg1"/>
              </a:solidFill>
              <a:effectLst/>
              <a:uFillTx/>
              <a:latin typeface="+mn-lt"/>
              <a:ea typeface="Arial"/>
              <a:cs typeface="Arial"/>
              <a:sym typeface="Arial"/>
            </a:endParaRPr>
          </a:p>
        </p:txBody>
      </p:sp>
      <p:graphicFrame>
        <p:nvGraphicFramePr>
          <p:cNvPr id="3" name="Таблица 2">
            <a:extLst>
              <a:ext uri="{FF2B5EF4-FFF2-40B4-BE49-F238E27FC236}">
                <a16:creationId xmlns:a16="http://schemas.microsoft.com/office/drawing/2014/main" id="{BA214333-7468-BB9B-BA99-57667BABDE4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84726732"/>
              </p:ext>
            </p:extLst>
          </p:nvPr>
        </p:nvGraphicFramePr>
        <p:xfrm>
          <a:off x="309716" y="1403255"/>
          <a:ext cx="8522110" cy="3740711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1986116">
                  <a:extLst>
                    <a:ext uri="{9D8B030D-6E8A-4147-A177-3AD203B41FA5}">
                      <a16:colId xmlns:a16="http://schemas.microsoft.com/office/drawing/2014/main" val="2395131668"/>
                    </a:ext>
                  </a:extLst>
                </a:gridCol>
                <a:gridCol w="1934292">
                  <a:extLst>
                    <a:ext uri="{9D8B030D-6E8A-4147-A177-3AD203B41FA5}">
                      <a16:colId xmlns:a16="http://schemas.microsoft.com/office/drawing/2014/main" val="3700019282"/>
                    </a:ext>
                  </a:extLst>
                </a:gridCol>
                <a:gridCol w="1762637">
                  <a:extLst>
                    <a:ext uri="{9D8B030D-6E8A-4147-A177-3AD203B41FA5}">
                      <a16:colId xmlns:a16="http://schemas.microsoft.com/office/drawing/2014/main" val="585142783"/>
                    </a:ext>
                  </a:extLst>
                </a:gridCol>
                <a:gridCol w="2839065">
                  <a:extLst>
                    <a:ext uri="{9D8B030D-6E8A-4147-A177-3AD203B41FA5}">
                      <a16:colId xmlns:a16="http://schemas.microsoft.com/office/drawing/2014/main" val="4001601149"/>
                    </a:ext>
                  </a:extLst>
                </a:gridCol>
              </a:tblGrid>
              <a:tr h="502418"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800" b="1" u="none" strike="noStrike" dirty="0">
                          <a:effectLst/>
                        </a:rPr>
                        <a:t>Поле</a:t>
                      </a:r>
                      <a:endParaRPr lang="en-US" sz="1800" b="1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620" marR="7620" marT="7620" marB="0" anchor="ctr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800" b="1" u="none" strike="noStrike" dirty="0">
                          <a:effectLst/>
                        </a:rPr>
                        <a:t>Тип данных</a:t>
                      </a:r>
                      <a:endParaRPr lang="en-US" sz="1800" b="1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620" marR="7620" marT="7620" marB="0" anchor="ctr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800" b="1" u="none" strike="noStrike" dirty="0">
                          <a:effectLst/>
                        </a:rPr>
                        <a:t>Описание</a:t>
                      </a:r>
                      <a:endParaRPr lang="en-US" sz="1800" b="1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620" marR="7620" marT="7620" marB="0" anchor="ctr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800" b="1" u="none" strike="noStrike" dirty="0">
                          <a:effectLst/>
                        </a:rPr>
                        <a:t>Ограничения</a:t>
                      </a:r>
                      <a:endParaRPr lang="en-US" sz="1800" b="1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620" marR="7620" marT="7620" marB="0" anchor="ctr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72369245"/>
                  </a:ext>
                </a:extLst>
              </a:tr>
              <a:tr h="1111045"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800" u="none" strike="noStrike" dirty="0" err="1">
                          <a:effectLst/>
                        </a:rPr>
                        <a:t>item_id</a:t>
                      </a:r>
                      <a:endParaRPr lang="en-US" sz="18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800" u="none" strike="noStrike" dirty="0">
                          <a:effectLst/>
                        </a:rPr>
                        <a:t>INT</a:t>
                      </a:r>
                      <a:endParaRPr lang="en-US" sz="18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800" u="none" strike="noStrike" dirty="0">
                          <a:effectLst/>
                        </a:rPr>
                        <a:t>Идентификатор позиции</a:t>
                      </a:r>
                      <a:endParaRPr lang="en-US" sz="18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800" u="none" strike="noStrike">
                          <a:effectLst/>
                        </a:rPr>
                        <a:t>PRIMARY KEY, AUTO_INCREMENT</a:t>
                      </a:r>
                      <a:endParaRPr lang="en-US" sz="18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3159758897"/>
                  </a:ext>
                </a:extLst>
              </a:tr>
              <a:tr h="904568"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800" u="none" strike="noStrike">
                          <a:effectLst/>
                        </a:rPr>
                        <a:t>product_name</a:t>
                      </a:r>
                      <a:endParaRPr lang="en-US" sz="18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800" u="none" strike="noStrike">
                          <a:effectLst/>
                        </a:rPr>
                        <a:t>VARCHAR(255)</a:t>
                      </a:r>
                      <a:endParaRPr lang="en-US" sz="18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800" u="none" strike="noStrike" dirty="0">
                          <a:effectLst/>
                        </a:rPr>
                        <a:t>Наименование товара/услуги</a:t>
                      </a:r>
                      <a:endParaRPr lang="en-US" sz="18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800" u="none" strike="noStrike">
                          <a:effectLst/>
                        </a:rPr>
                        <a:t>NOT NULL</a:t>
                      </a:r>
                      <a:endParaRPr lang="en-US" sz="18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2582784486"/>
                  </a:ext>
                </a:extLst>
              </a:tr>
              <a:tr h="570271"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800" u="none" strike="noStrike">
                          <a:effectLst/>
                        </a:rPr>
                        <a:t>quantity</a:t>
                      </a:r>
                      <a:endParaRPr lang="en-US" sz="18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800" u="none" strike="noStrike">
                          <a:effectLst/>
                        </a:rPr>
                        <a:t>DECIMAL(10,3)</a:t>
                      </a:r>
                      <a:endParaRPr lang="en-US" sz="18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800" u="none" strike="noStrike" dirty="0">
                          <a:effectLst/>
                        </a:rPr>
                        <a:t>Количество</a:t>
                      </a:r>
                      <a:endParaRPr lang="en-US" sz="18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800" u="none" strike="noStrike" dirty="0">
                          <a:effectLst/>
                        </a:rPr>
                        <a:t>NOT NULL</a:t>
                      </a:r>
                      <a:endParaRPr lang="en-US" sz="18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3804879771"/>
                  </a:ext>
                </a:extLst>
              </a:tr>
              <a:tr h="652409"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800" u="none" strike="noStrike">
                          <a:effectLst/>
                        </a:rPr>
                        <a:t>price_per_unit</a:t>
                      </a:r>
                      <a:endParaRPr lang="en-US" sz="18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800" u="none" strike="noStrike">
                          <a:effectLst/>
                        </a:rPr>
                        <a:t>DECIMAL(10,2)</a:t>
                      </a:r>
                      <a:endParaRPr lang="en-US" sz="18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800" u="none" strike="noStrike">
                          <a:effectLst/>
                        </a:rPr>
                        <a:t>Цена за единицу</a:t>
                      </a:r>
                      <a:endParaRPr lang="en-US" sz="18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800" u="none" strike="noStrike" dirty="0">
                          <a:effectLst/>
                        </a:rPr>
                        <a:t>NOT NULL</a:t>
                      </a:r>
                      <a:endParaRPr lang="en-US" sz="18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596321781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5336151A-39E3-CE29-E684-C2EA0A7C9B3C}"/>
              </a:ext>
            </a:extLst>
          </p:cNvPr>
          <p:cNvSpPr txBox="1"/>
          <p:nvPr/>
        </p:nvSpPr>
        <p:spPr>
          <a:xfrm>
            <a:off x="953728" y="758367"/>
            <a:ext cx="6479458" cy="436786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algn="just">
              <a:lnSpc>
                <a:spcPct val="107000"/>
              </a:lnSpc>
              <a:spcBef>
                <a:spcPts val="1200"/>
              </a:spcBef>
              <a:spcAft>
                <a:spcPts val="800"/>
              </a:spcAft>
            </a:pPr>
            <a:r>
              <a:rPr lang="ru-RU" sz="2200" b="1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Таблица </a:t>
            </a:r>
            <a:r>
              <a:rPr lang="ru-RU" sz="2200" b="1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Receipt_Items</a:t>
            </a:r>
            <a:r>
              <a:rPr lang="ru-RU" sz="2200" b="1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 (Позиции чека)</a:t>
            </a:r>
            <a:endParaRPr lang="en-US" sz="22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graphicFrame>
        <p:nvGraphicFramePr>
          <p:cNvPr id="9" name="Таблица 8">
            <a:extLst>
              <a:ext uri="{FF2B5EF4-FFF2-40B4-BE49-F238E27FC236}">
                <a16:creationId xmlns:a16="http://schemas.microsoft.com/office/drawing/2014/main" id="{293FB9A8-AE17-DE66-5192-815D6814B0B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18208555"/>
              </p:ext>
            </p:extLst>
          </p:nvPr>
        </p:nvGraphicFramePr>
        <p:xfrm>
          <a:off x="309716" y="5146237"/>
          <a:ext cx="8519652" cy="1512951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1982511">
                  <a:extLst>
                    <a:ext uri="{9D8B030D-6E8A-4147-A177-3AD203B41FA5}">
                      <a16:colId xmlns:a16="http://schemas.microsoft.com/office/drawing/2014/main" val="1482710128"/>
                    </a:ext>
                  </a:extLst>
                </a:gridCol>
                <a:gridCol w="1935480">
                  <a:extLst>
                    <a:ext uri="{9D8B030D-6E8A-4147-A177-3AD203B41FA5}">
                      <a16:colId xmlns:a16="http://schemas.microsoft.com/office/drawing/2014/main" val="2688310951"/>
                    </a:ext>
                  </a:extLst>
                </a:gridCol>
                <a:gridCol w="1762596">
                  <a:extLst>
                    <a:ext uri="{9D8B030D-6E8A-4147-A177-3AD203B41FA5}">
                      <a16:colId xmlns:a16="http://schemas.microsoft.com/office/drawing/2014/main" val="2416104361"/>
                    </a:ext>
                  </a:extLst>
                </a:gridCol>
                <a:gridCol w="2839065">
                  <a:extLst>
                    <a:ext uri="{9D8B030D-6E8A-4147-A177-3AD203B41FA5}">
                      <a16:colId xmlns:a16="http://schemas.microsoft.com/office/drawing/2014/main" val="137690009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ru-RU" sz="1700" dirty="0" err="1">
                          <a:effectLst/>
                        </a:rPr>
                        <a:t>receipt_id</a:t>
                      </a:r>
                      <a:endParaRPr lang="en-US" sz="17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ru-RU" sz="1700" dirty="0">
                          <a:effectLst/>
                        </a:rPr>
                        <a:t>INT</a:t>
                      </a:r>
                      <a:endParaRPr lang="en-US" sz="17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ru-RU" sz="1700" dirty="0">
                          <a:effectLst/>
                        </a:rPr>
                        <a:t>ID чека</a:t>
                      </a:r>
                      <a:endParaRPr lang="en-US" sz="17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n-US" sz="1700" dirty="0">
                          <a:effectLst/>
                        </a:rPr>
                        <a:t>FOREIGN KEY REFERENCES Receipts(</a:t>
                      </a:r>
                      <a:r>
                        <a:rPr lang="en-US" sz="1700" dirty="0" err="1">
                          <a:effectLst/>
                        </a:rPr>
                        <a:t>receipt_id</a:t>
                      </a:r>
                      <a:r>
                        <a:rPr lang="en-US" sz="1700" dirty="0">
                          <a:effectLst/>
                        </a:rPr>
                        <a:t>) ON DELETE CASCADE</a:t>
                      </a:r>
                      <a:endParaRPr lang="en-US" sz="17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456818767"/>
                  </a:ext>
                </a:extLst>
              </a:tr>
            </a:tbl>
          </a:graphicData>
        </a:graphic>
      </p:graphicFrame>
      <p:sp>
        <p:nvSpPr>
          <p:cNvPr id="11" name="TextBox 10">
            <a:extLst>
              <a:ext uri="{FF2B5EF4-FFF2-40B4-BE49-F238E27FC236}">
                <a16:creationId xmlns:a16="http://schemas.microsoft.com/office/drawing/2014/main" id="{0F3585E7-6A23-57A3-4947-9733658BC1DA}"/>
              </a:ext>
            </a:extLst>
          </p:cNvPr>
          <p:cNvSpPr txBox="1"/>
          <p:nvPr/>
        </p:nvSpPr>
        <p:spPr>
          <a:xfrm>
            <a:off x="8937523" y="2148517"/>
            <a:ext cx="4016477" cy="1704569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indent="449580">
              <a:lnSpc>
                <a:spcPct val="150000"/>
              </a:lnSpc>
              <a:spcBef>
                <a:spcPts val="1200"/>
              </a:spcBef>
            </a:pPr>
            <a:r>
              <a:rPr lang="ru-RU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ru-RU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DELETE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ru-RU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CASCADE</a:t>
            </a:r>
            <a:r>
              <a:rPr lang="ru-RU" sz="1800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 означает, что если удалить чек, все связанные с ним позиции тоже удалятся автоматически.</a:t>
            </a:r>
            <a:endParaRPr lang="en-US" sz="16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60742463"/>
      </p:ext>
    </p:extLst>
  </p:cSld>
  <p:clrMapOvr>
    <a:masterClrMapping/>
  </p:clrMapOvr>
  <p:transition spd="med"/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DC830BA0-522C-F045-30D9-6AA9F8291E9E}"/>
              </a:ext>
            </a:extLst>
          </p:cNvPr>
          <p:cNvSpPr/>
          <p:nvPr/>
        </p:nvSpPr>
        <p:spPr>
          <a:xfrm>
            <a:off x="609600" y="6410632"/>
            <a:ext cx="511277" cy="285136"/>
          </a:xfrm>
          <a:prstGeom prst="rect">
            <a:avLst/>
          </a:prstGeom>
          <a:solidFill>
            <a:srgbClr val="FFFFFF"/>
          </a:solidFill>
          <a:ln w="12700" cap="flat">
            <a:solidFill>
              <a:schemeClr val="bg1"/>
            </a:solidFill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959C283-2F3B-9343-D0E8-821A55D5CA6C}"/>
              </a:ext>
            </a:extLst>
          </p:cNvPr>
          <p:cNvSpPr txBox="1"/>
          <p:nvPr/>
        </p:nvSpPr>
        <p:spPr>
          <a:xfrm>
            <a:off x="953728" y="167609"/>
            <a:ext cx="10726994" cy="52321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ru-RU" sz="2800" b="1" i="0" u="none" strike="noStrike" cap="none" spc="0" normalizeH="0" baseline="0" dirty="0">
                <a:ln>
                  <a:noFill/>
                </a:ln>
                <a:solidFill>
                  <a:schemeClr val="accent1"/>
                </a:solidFill>
                <a:effectLst/>
                <a:uFillTx/>
                <a:latin typeface="+mn-lt"/>
                <a:ea typeface="Arial"/>
                <a:cs typeface="Arial"/>
                <a:sym typeface="Arial"/>
              </a:rPr>
              <a:t>ПРОЕКТИРОВАНИЕ БАЗЫ ДАННЫХ</a:t>
            </a:r>
            <a:endParaRPr kumimoji="0" lang="en-US" sz="2800" b="1" i="0" u="none" strike="noStrike" cap="none" spc="0" normalizeH="0" baseline="0" dirty="0">
              <a:ln>
                <a:noFill/>
              </a:ln>
              <a:solidFill>
                <a:schemeClr val="accent1"/>
              </a:solidFill>
              <a:effectLst/>
              <a:uFillTx/>
              <a:latin typeface="+mn-lt"/>
              <a:ea typeface="Arial"/>
              <a:cs typeface="Arial"/>
              <a:sym typeface="Arial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CDA34B9-382B-69CA-075A-BEB4EA2BC646}"/>
              </a:ext>
            </a:extLst>
          </p:cNvPr>
          <p:cNvSpPr txBox="1"/>
          <p:nvPr/>
        </p:nvSpPr>
        <p:spPr>
          <a:xfrm>
            <a:off x="309716" y="229164"/>
            <a:ext cx="511277" cy="40010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ru-RU" sz="2000" b="1" dirty="0">
                <a:solidFill>
                  <a:schemeClr val="bg1"/>
                </a:solidFill>
                <a:latin typeface="+mn-lt"/>
              </a:rPr>
              <a:t>30</a:t>
            </a:r>
            <a:endParaRPr kumimoji="0" lang="en-US" sz="2000" b="1" i="0" u="none" strike="noStrike" cap="none" spc="0" normalizeH="0" baseline="0" dirty="0">
              <a:ln>
                <a:noFill/>
              </a:ln>
              <a:solidFill>
                <a:schemeClr val="bg1"/>
              </a:solidFill>
              <a:effectLst/>
              <a:uFillTx/>
              <a:latin typeface="+mn-lt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2698BEE-DCD0-493B-F9A1-5524DFA8A7A4}"/>
              </a:ext>
            </a:extLst>
          </p:cNvPr>
          <p:cNvSpPr txBox="1"/>
          <p:nvPr/>
        </p:nvSpPr>
        <p:spPr>
          <a:xfrm>
            <a:off x="211393" y="549216"/>
            <a:ext cx="11243188" cy="96032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000" b="1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3. Физическая модель</a:t>
            </a:r>
            <a:endParaRPr lang="en-US" sz="20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indent="449580" algn="just">
              <a:lnSpc>
                <a:spcPct val="150000"/>
              </a:lnSpc>
            </a:pPr>
            <a:r>
              <a:rPr lang="ru-RU" sz="2000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Физическая модель отвечает на вопрос </a:t>
            </a:r>
            <a:r>
              <a:rPr lang="ru-RU" sz="2000" b="1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«Как именно создать таблицы в конкретной СУБД?»</a:t>
            </a:r>
            <a:r>
              <a:rPr lang="ru-RU" sz="2000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.</a:t>
            </a:r>
            <a:endParaRPr lang="en-US" sz="20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9" name="Rectangle 1">
            <a:extLst>
              <a:ext uri="{FF2B5EF4-FFF2-40B4-BE49-F238E27FC236}">
                <a16:creationId xmlns:a16="http://schemas.microsoft.com/office/drawing/2014/main" id="{14B132A8-E37C-C084-43E7-8211573316F2}"/>
              </a:ext>
            </a:extLst>
          </p:cNvPr>
          <p:cNvSpPr>
            <a:spLocks noChangeArrowheads="1"/>
          </p:cNvSpPr>
          <p:nvPr/>
        </p:nvSpPr>
        <p:spPr bwMode="auto">
          <a:xfrm>
            <a:off x="7203939" y="1090935"/>
            <a:ext cx="5440345" cy="4498603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101568" rIns="0" bIns="101568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endParaRPr lang="en-US" altLang="en-US" dirty="0"/>
          </a:p>
          <a:p>
            <a:pPr marL="342900" marR="0" lvl="0" indent="-342900" algn="just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lang="en-US" altLang="en-US" dirty="0" err="1">
                <a:latin typeface="+mn-lt"/>
              </a:rPr>
              <a:t>Создаём</a:t>
            </a:r>
            <a:r>
              <a:rPr lang="en-US" altLang="en-US" dirty="0">
                <a:latin typeface="+mn-lt"/>
              </a:rPr>
              <a:t> </a:t>
            </a:r>
            <a:r>
              <a:rPr lang="en-US" altLang="en-US" dirty="0" err="1">
                <a:latin typeface="+mn-lt"/>
              </a:rPr>
              <a:t>таблицу</a:t>
            </a:r>
            <a:r>
              <a:rPr lang="en-US" altLang="en-US" dirty="0">
                <a:latin typeface="+mn-lt"/>
              </a:rPr>
              <a:t> </a:t>
            </a:r>
            <a:r>
              <a:rPr lang="en-US" altLang="en-US" b="1" dirty="0">
                <a:latin typeface="+mn-lt"/>
              </a:rPr>
              <a:t>Sellers</a:t>
            </a:r>
            <a:r>
              <a:rPr lang="en-US" altLang="en-US" dirty="0">
                <a:latin typeface="+mn-lt"/>
              </a:rPr>
              <a:t> (</a:t>
            </a:r>
            <a:r>
              <a:rPr lang="en-US" altLang="en-US" dirty="0" err="1">
                <a:latin typeface="+mn-lt"/>
              </a:rPr>
              <a:t>продавцы</a:t>
            </a:r>
            <a:r>
              <a:rPr lang="en-US" altLang="en-US" dirty="0">
                <a:latin typeface="+mn-lt"/>
              </a:rPr>
              <a:t>) с </a:t>
            </a:r>
            <a:r>
              <a:rPr lang="en-US" altLang="en-US" dirty="0" err="1">
                <a:latin typeface="+mn-lt"/>
              </a:rPr>
              <a:t>реквизитами</a:t>
            </a:r>
            <a:r>
              <a:rPr lang="en-US" altLang="en-US" dirty="0">
                <a:latin typeface="+mn-lt"/>
              </a:rPr>
              <a:t> </a:t>
            </a:r>
            <a:r>
              <a:rPr lang="en-US" altLang="en-US" dirty="0" err="1">
                <a:latin typeface="+mn-lt"/>
              </a:rPr>
              <a:t>организации</a:t>
            </a:r>
            <a:endParaRPr lang="en-US" altLang="en-US" dirty="0">
              <a:latin typeface="+mn-lt"/>
            </a:endParaRPr>
          </a:p>
          <a:p>
            <a:pPr marL="342900" marR="0" lvl="0" indent="-342900" algn="just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lang="en-US" altLang="en-US" dirty="0" err="1">
                <a:latin typeface="+mn-lt"/>
              </a:rPr>
              <a:t>Создаём</a:t>
            </a:r>
            <a:r>
              <a:rPr lang="en-US" altLang="en-US" dirty="0">
                <a:latin typeface="+mn-lt"/>
              </a:rPr>
              <a:t> </a:t>
            </a:r>
            <a:r>
              <a:rPr lang="en-US" altLang="en-US" dirty="0" err="1">
                <a:latin typeface="+mn-lt"/>
              </a:rPr>
              <a:t>таблицу</a:t>
            </a:r>
            <a:r>
              <a:rPr lang="en-US" altLang="en-US" dirty="0">
                <a:latin typeface="+mn-lt"/>
              </a:rPr>
              <a:t> </a:t>
            </a:r>
            <a:r>
              <a:rPr lang="en-US" altLang="en-US" b="1" dirty="0">
                <a:latin typeface="+mn-lt"/>
              </a:rPr>
              <a:t>Cashiers</a:t>
            </a:r>
            <a:r>
              <a:rPr lang="en-US" altLang="en-US" dirty="0">
                <a:latin typeface="+mn-lt"/>
              </a:rPr>
              <a:t> (</a:t>
            </a:r>
            <a:r>
              <a:rPr lang="en-US" altLang="en-US" dirty="0" err="1">
                <a:latin typeface="+mn-lt"/>
              </a:rPr>
              <a:t>кассиры</a:t>
            </a:r>
            <a:r>
              <a:rPr lang="en-US" altLang="en-US" dirty="0">
                <a:latin typeface="+mn-lt"/>
              </a:rPr>
              <a:t>) с ФИО </a:t>
            </a:r>
            <a:r>
              <a:rPr lang="en-US" altLang="en-US" dirty="0" err="1">
                <a:latin typeface="+mn-lt"/>
              </a:rPr>
              <a:t>сотрудников</a:t>
            </a:r>
            <a:endParaRPr lang="en-US" altLang="en-US" dirty="0">
              <a:latin typeface="+mn-lt"/>
            </a:endParaRPr>
          </a:p>
          <a:p>
            <a:pPr marL="342900" marR="0" lvl="0" indent="-342900" algn="just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lang="en-US" altLang="en-US" dirty="0" err="1">
                <a:latin typeface="+mn-lt"/>
              </a:rPr>
              <a:t>Создаём</a:t>
            </a:r>
            <a:r>
              <a:rPr lang="en-US" altLang="en-US" dirty="0">
                <a:latin typeface="+mn-lt"/>
              </a:rPr>
              <a:t> </a:t>
            </a:r>
            <a:r>
              <a:rPr lang="en-US" altLang="en-US" dirty="0" err="1">
                <a:latin typeface="+mn-lt"/>
              </a:rPr>
              <a:t>таблицу</a:t>
            </a:r>
            <a:r>
              <a:rPr lang="en-US" altLang="en-US" dirty="0">
                <a:latin typeface="+mn-lt"/>
              </a:rPr>
              <a:t> </a:t>
            </a:r>
            <a:r>
              <a:rPr lang="en-US" altLang="en-US" b="1" dirty="0">
                <a:latin typeface="+mn-lt"/>
              </a:rPr>
              <a:t>Receipts</a:t>
            </a:r>
            <a:r>
              <a:rPr lang="en-US" altLang="en-US" dirty="0">
                <a:latin typeface="+mn-lt"/>
              </a:rPr>
              <a:t> (</a:t>
            </a:r>
            <a:r>
              <a:rPr lang="en-US" altLang="en-US" dirty="0" err="1">
                <a:latin typeface="+mn-lt"/>
              </a:rPr>
              <a:t>чеки</a:t>
            </a:r>
            <a:r>
              <a:rPr lang="en-US" altLang="en-US" dirty="0">
                <a:latin typeface="+mn-lt"/>
              </a:rPr>
              <a:t>) с </a:t>
            </a:r>
            <a:r>
              <a:rPr lang="en-US" altLang="en-US" dirty="0" err="1">
                <a:latin typeface="+mn-lt"/>
              </a:rPr>
              <a:t>финансовыми</a:t>
            </a:r>
            <a:r>
              <a:rPr lang="en-US" altLang="en-US" dirty="0">
                <a:latin typeface="+mn-lt"/>
              </a:rPr>
              <a:t> </a:t>
            </a:r>
            <a:r>
              <a:rPr lang="en-US" altLang="en-US" dirty="0" err="1">
                <a:latin typeface="+mn-lt"/>
              </a:rPr>
              <a:t>данными</a:t>
            </a:r>
            <a:r>
              <a:rPr lang="en-US" altLang="en-US" dirty="0">
                <a:latin typeface="+mn-lt"/>
              </a:rPr>
              <a:t> и </a:t>
            </a:r>
            <a:r>
              <a:rPr lang="en-US" altLang="en-US" dirty="0" err="1">
                <a:latin typeface="+mn-lt"/>
              </a:rPr>
              <a:t>фискальными</a:t>
            </a:r>
            <a:r>
              <a:rPr lang="en-US" altLang="en-US" dirty="0">
                <a:latin typeface="+mn-lt"/>
              </a:rPr>
              <a:t> </a:t>
            </a:r>
            <a:r>
              <a:rPr lang="en-US" altLang="en-US" dirty="0" err="1">
                <a:latin typeface="+mn-lt"/>
              </a:rPr>
              <a:t>признаками</a:t>
            </a:r>
            <a:endParaRPr lang="ru-RU" altLang="en-US" dirty="0">
              <a:latin typeface="+mn-lt"/>
            </a:endParaRPr>
          </a:p>
          <a:p>
            <a:pPr marL="342900" marR="0" lvl="0" indent="-342900" algn="just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lang="ru-RU" altLang="en-US" dirty="0">
                <a:latin typeface="+mn-lt"/>
              </a:rPr>
              <a:t>Создаём таблицу </a:t>
            </a:r>
            <a:r>
              <a:rPr lang="ru-RU" altLang="en-US" b="1" dirty="0" err="1">
                <a:latin typeface="+mn-lt"/>
              </a:rPr>
              <a:t>Receipt_Items</a:t>
            </a:r>
            <a:r>
              <a:rPr lang="ru-RU" altLang="en-US" b="1" dirty="0">
                <a:latin typeface="+mn-lt"/>
              </a:rPr>
              <a:t> </a:t>
            </a:r>
            <a:r>
              <a:rPr lang="ru-RU" altLang="en-US" dirty="0">
                <a:latin typeface="+mn-lt"/>
              </a:rPr>
              <a:t>(позиции чека), которая хранит информацию о каждом купленном товаре в чеке.</a:t>
            </a:r>
            <a:endParaRPr lang="en-US" altLang="en-US" dirty="0">
              <a:latin typeface="+mn-l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78251628-D3D4-A3F5-95F1-5336E87AF1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9716" y="1727231"/>
            <a:ext cx="5920740" cy="4937760"/>
          </a:xfrm>
          <a:prstGeom prst="rect">
            <a:avLst/>
          </a:prstGeom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C85CF267-8C9A-8456-0785-D0243557D9F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0340" y="5265420"/>
            <a:ext cx="5940425" cy="12877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5289311"/>
      </p:ext>
    </p:extLst>
  </p:cSld>
  <p:clrMapOvr>
    <a:masterClrMapping/>
  </p:clrMapOvr>
  <p:transition spd="med"/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DC830BA0-522C-F045-30D9-6AA9F8291E9E}"/>
              </a:ext>
            </a:extLst>
          </p:cNvPr>
          <p:cNvSpPr/>
          <p:nvPr/>
        </p:nvSpPr>
        <p:spPr>
          <a:xfrm>
            <a:off x="609600" y="6410632"/>
            <a:ext cx="511277" cy="285136"/>
          </a:xfrm>
          <a:prstGeom prst="rect">
            <a:avLst/>
          </a:prstGeom>
          <a:solidFill>
            <a:srgbClr val="FFFFFF"/>
          </a:solidFill>
          <a:ln w="12700" cap="flat">
            <a:solidFill>
              <a:schemeClr val="bg1"/>
            </a:solidFill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959C283-2F3B-9343-D0E8-821A55D5CA6C}"/>
              </a:ext>
            </a:extLst>
          </p:cNvPr>
          <p:cNvSpPr txBox="1"/>
          <p:nvPr/>
        </p:nvSpPr>
        <p:spPr>
          <a:xfrm>
            <a:off x="953728" y="167609"/>
            <a:ext cx="10726994" cy="52321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ru-RU" sz="2800" b="1" i="0" u="none" strike="noStrike" cap="none" spc="0" normalizeH="0" baseline="0" dirty="0">
                <a:ln>
                  <a:noFill/>
                </a:ln>
                <a:solidFill>
                  <a:schemeClr val="accent1"/>
                </a:solidFill>
                <a:effectLst/>
                <a:uFillTx/>
                <a:latin typeface="+mn-lt"/>
                <a:ea typeface="Arial"/>
                <a:cs typeface="Arial"/>
                <a:sym typeface="Arial"/>
              </a:rPr>
              <a:t>ПРОЕКТИРОВАНИЕ БАЗЫ ДАННЫХ</a:t>
            </a:r>
            <a:endParaRPr kumimoji="0" lang="en-US" sz="2800" b="1" i="0" u="none" strike="noStrike" cap="none" spc="0" normalizeH="0" baseline="0" dirty="0">
              <a:ln>
                <a:noFill/>
              </a:ln>
              <a:solidFill>
                <a:schemeClr val="accent1"/>
              </a:solidFill>
              <a:effectLst/>
              <a:uFillTx/>
              <a:latin typeface="+mn-lt"/>
              <a:ea typeface="Arial"/>
              <a:cs typeface="Arial"/>
              <a:sym typeface="Arial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CDA34B9-382B-69CA-075A-BEB4EA2BC646}"/>
              </a:ext>
            </a:extLst>
          </p:cNvPr>
          <p:cNvSpPr txBox="1"/>
          <p:nvPr/>
        </p:nvSpPr>
        <p:spPr>
          <a:xfrm>
            <a:off x="309716" y="229164"/>
            <a:ext cx="511277" cy="40010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ru-RU" sz="2000" b="1" dirty="0">
                <a:solidFill>
                  <a:schemeClr val="bg1"/>
                </a:solidFill>
                <a:latin typeface="+mn-lt"/>
              </a:rPr>
              <a:t>31</a:t>
            </a:r>
            <a:endParaRPr kumimoji="0" lang="en-US" sz="2000" b="1" i="0" u="none" strike="noStrike" cap="none" spc="0" normalizeH="0" baseline="0" dirty="0">
              <a:ln>
                <a:noFill/>
              </a:ln>
              <a:solidFill>
                <a:schemeClr val="bg1"/>
              </a:solidFill>
              <a:effectLst/>
              <a:uFillTx/>
              <a:latin typeface="+mn-lt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941F348-0B9F-0708-509C-0EF9CA85F433}"/>
              </a:ext>
            </a:extLst>
          </p:cNvPr>
          <p:cNvSpPr txBox="1"/>
          <p:nvPr/>
        </p:nvSpPr>
        <p:spPr>
          <a:xfrm>
            <a:off x="457200" y="1146757"/>
            <a:ext cx="6479458" cy="830997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r>
              <a:rPr lang="ru-RU" sz="2400" b="0" i="0" dirty="0">
                <a:solidFill>
                  <a:schemeClr val="tx1"/>
                </a:solidFill>
                <a:effectLst/>
                <a:latin typeface="+mn-lt"/>
              </a:rPr>
              <a:t>Заполняем созданные таблицы </a:t>
            </a:r>
            <a:r>
              <a:rPr lang="ru-RU" sz="2400" i="0" dirty="0">
                <a:solidFill>
                  <a:schemeClr val="tx1"/>
                </a:solidFill>
                <a:effectLst/>
                <a:latin typeface="+mn-lt"/>
              </a:rPr>
              <a:t>тестовыми данными </a:t>
            </a:r>
            <a:r>
              <a:rPr lang="ru-RU" sz="2400" b="0" i="0" dirty="0">
                <a:solidFill>
                  <a:schemeClr val="tx1"/>
                </a:solidFill>
                <a:effectLst/>
                <a:latin typeface="+mn-lt"/>
              </a:rPr>
              <a:t>из выбранного нами кассового чека</a:t>
            </a:r>
            <a:endParaRPr lang="en-US" sz="2400" dirty="0">
              <a:solidFill>
                <a:schemeClr val="tx1"/>
              </a:solidFill>
              <a:latin typeface="+mn-lt"/>
            </a:endParaRP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2EF2DC7B-6DF5-9A59-7B23-04BCB11F6B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5354" y="2211305"/>
            <a:ext cx="10176568" cy="3353753"/>
          </a:xfrm>
          <a:prstGeom prst="rect">
            <a:avLst/>
          </a:prstGeom>
        </p:spPr>
      </p:pic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5C0E542D-F9F0-4013-AF5E-A2B3FA0B24C0}"/>
              </a:ext>
            </a:extLst>
          </p:cNvPr>
          <p:cNvSpPr/>
          <p:nvPr/>
        </p:nvSpPr>
        <p:spPr>
          <a:xfrm>
            <a:off x="1047750" y="6410632"/>
            <a:ext cx="2743200" cy="285136"/>
          </a:xfrm>
          <a:prstGeom prst="rect">
            <a:avLst/>
          </a:prstGeom>
          <a:solidFill>
            <a:srgbClr val="FFFFFF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069432618"/>
      </p:ext>
    </p:extLst>
  </p:cSld>
  <p:clrMapOvr>
    <a:masterClrMapping/>
  </p:clrMapOvr>
  <p:transition spd="med"/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AB9CFF62-20E8-4601-BBC2-C911889796EE}"/>
              </a:ext>
            </a:extLst>
          </p:cNvPr>
          <p:cNvSpPr/>
          <p:nvPr/>
        </p:nvSpPr>
        <p:spPr>
          <a:xfrm>
            <a:off x="1047750" y="6410632"/>
            <a:ext cx="2743200" cy="285136"/>
          </a:xfrm>
          <a:prstGeom prst="rect">
            <a:avLst/>
          </a:prstGeom>
          <a:solidFill>
            <a:srgbClr val="FFFFFF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DC830BA0-522C-F045-30D9-6AA9F8291E9E}"/>
              </a:ext>
            </a:extLst>
          </p:cNvPr>
          <p:cNvSpPr/>
          <p:nvPr/>
        </p:nvSpPr>
        <p:spPr>
          <a:xfrm>
            <a:off x="609600" y="6410632"/>
            <a:ext cx="511277" cy="285136"/>
          </a:xfrm>
          <a:prstGeom prst="rect">
            <a:avLst/>
          </a:prstGeom>
          <a:solidFill>
            <a:srgbClr val="FFFFFF"/>
          </a:solidFill>
          <a:ln w="12700" cap="flat">
            <a:solidFill>
              <a:schemeClr val="bg1"/>
            </a:solidFill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959C283-2F3B-9343-D0E8-821A55D5CA6C}"/>
              </a:ext>
            </a:extLst>
          </p:cNvPr>
          <p:cNvSpPr txBox="1"/>
          <p:nvPr/>
        </p:nvSpPr>
        <p:spPr>
          <a:xfrm>
            <a:off x="953728" y="167609"/>
            <a:ext cx="10726994" cy="52321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ru-RU" sz="2800" b="1" i="0" u="none" strike="noStrike" cap="none" spc="0" normalizeH="0" baseline="0" dirty="0">
                <a:ln>
                  <a:noFill/>
                </a:ln>
                <a:solidFill>
                  <a:schemeClr val="accent1"/>
                </a:solidFill>
                <a:effectLst/>
                <a:uFillTx/>
                <a:latin typeface="+mn-lt"/>
                <a:ea typeface="Arial"/>
                <a:cs typeface="Arial"/>
                <a:sym typeface="Arial"/>
              </a:rPr>
              <a:t>ПРОЕКТИРОВАНИЕ БАЗЫ ДАННЫХ</a:t>
            </a:r>
            <a:endParaRPr kumimoji="0" lang="en-US" sz="2800" b="1" i="0" u="none" strike="noStrike" cap="none" spc="0" normalizeH="0" baseline="0" dirty="0">
              <a:ln>
                <a:noFill/>
              </a:ln>
              <a:solidFill>
                <a:schemeClr val="accent1"/>
              </a:solidFill>
              <a:effectLst/>
              <a:uFillTx/>
              <a:latin typeface="+mn-lt"/>
              <a:ea typeface="Arial"/>
              <a:cs typeface="Arial"/>
              <a:sym typeface="Arial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CDA34B9-382B-69CA-075A-BEB4EA2BC646}"/>
              </a:ext>
            </a:extLst>
          </p:cNvPr>
          <p:cNvSpPr txBox="1"/>
          <p:nvPr/>
        </p:nvSpPr>
        <p:spPr>
          <a:xfrm>
            <a:off x="309716" y="229164"/>
            <a:ext cx="511277" cy="40010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ru-RU" sz="2000" b="1" dirty="0">
                <a:solidFill>
                  <a:schemeClr val="bg1"/>
                </a:solidFill>
                <a:latin typeface="+mn-lt"/>
              </a:rPr>
              <a:t>32</a:t>
            </a:r>
            <a:endParaRPr kumimoji="0" lang="en-US" sz="2000" b="1" i="0" u="none" strike="noStrike" cap="none" spc="0" normalizeH="0" baseline="0" dirty="0">
              <a:ln>
                <a:noFill/>
              </a:ln>
              <a:solidFill>
                <a:schemeClr val="bg1"/>
              </a:solidFill>
              <a:effectLst/>
              <a:uFillTx/>
              <a:latin typeface="+mn-lt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941F348-0B9F-0708-509C-0EF9CA85F433}"/>
              </a:ext>
            </a:extLst>
          </p:cNvPr>
          <p:cNvSpPr txBox="1"/>
          <p:nvPr/>
        </p:nvSpPr>
        <p:spPr>
          <a:xfrm>
            <a:off x="292817" y="688249"/>
            <a:ext cx="6479458" cy="461665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r>
              <a:rPr lang="ru-RU" sz="2400" b="0" i="0" dirty="0">
                <a:solidFill>
                  <a:schemeClr val="tx1"/>
                </a:solidFill>
                <a:effectLst/>
                <a:latin typeface="+mn-lt"/>
              </a:rPr>
              <a:t>Связи между таблицами</a:t>
            </a:r>
            <a:endParaRPr lang="en-US" sz="2400" dirty="0">
              <a:solidFill>
                <a:schemeClr val="tx1"/>
              </a:solidFill>
              <a:latin typeface="+mn-lt"/>
            </a:endParaRPr>
          </a:p>
        </p:txBody>
      </p:sp>
      <p:sp>
        <p:nvSpPr>
          <p:cNvPr id="3" name="AutoShape 2">
            <a:extLst>
              <a:ext uri="{FF2B5EF4-FFF2-40B4-BE49-F238E27FC236}">
                <a16:creationId xmlns:a16="http://schemas.microsoft.com/office/drawing/2014/main" id="{396F49F5-A75B-218E-6865-9724D40772C3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324600" y="32639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EBFC0360-048B-5B5A-A5D0-C2D1821DF13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26537" y="1149914"/>
            <a:ext cx="8596125" cy="5515077"/>
          </a:xfrm>
          <a:prstGeom prst="rect">
            <a:avLst/>
          </a:prstGeom>
        </p:spPr>
      </p:pic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3F66EE77-5CB8-65FD-2497-FD3D6A62D569}"/>
              </a:ext>
            </a:extLst>
          </p:cNvPr>
          <p:cNvSpPr/>
          <p:nvPr/>
        </p:nvSpPr>
        <p:spPr>
          <a:xfrm>
            <a:off x="2875014" y="1594354"/>
            <a:ext cx="1740310" cy="393290"/>
          </a:xfrm>
          <a:prstGeom prst="rect">
            <a:avLst/>
          </a:prstGeom>
          <a:solidFill>
            <a:schemeClr val="accent1"/>
          </a:solidFill>
          <a:ln w="12700" cap="flat">
            <a:solidFill>
              <a:schemeClr val="accent1"/>
            </a:solidFill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FA6D8B3D-FDCD-8042-122B-2835C518586A}"/>
              </a:ext>
            </a:extLst>
          </p:cNvPr>
          <p:cNvSpPr/>
          <p:nvPr/>
        </p:nvSpPr>
        <p:spPr>
          <a:xfrm>
            <a:off x="5879690" y="913679"/>
            <a:ext cx="2108749" cy="393290"/>
          </a:xfrm>
          <a:prstGeom prst="rect">
            <a:avLst/>
          </a:prstGeom>
          <a:solidFill>
            <a:schemeClr val="accent1"/>
          </a:solidFill>
          <a:ln w="12700" cap="flat">
            <a:solidFill>
              <a:schemeClr val="accent1"/>
            </a:solidFill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E93EBCCA-95CB-7B5E-B1CE-6AB0B8426C5F}"/>
              </a:ext>
            </a:extLst>
          </p:cNvPr>
          <p:cNvSpPr/>
          <p:nvPr/>
        </p:nvSpPr>
        <p:spPr>
          <a:xfrm>
            <a:off x="8673345" y="1754356"/>
            <a:ext cx="1995949" cy="393290"/>
          </a:xfrm>
          <a:prstGeom prst="rect">
            <a:avLst/>
          </a:prstGeom>
          <a:solidFill>
            <a:schemeClr val="accent1"/>
          </a:solidFill>
          <a:ln w="12700" cap="flat">
            <a:solidFill>
              <a:schemeClr val="accent1"/>
            </a:solidFill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9932D11B-FB96-473D-3EEA-FD7E4CA8D4B5}"/>
              </a:ext>
            </a:extLst>
          </p:cNvPr>
          <p:cNvSpPr/>
          <p:nvPr/>
        </p:nvSpPr>
        <p:spPr>
          <a:xfrm>
            <a:off x="6330491" y="4582265"/>
            <a:ext cx="1646903" cy="393290"/>
          </a:xfrm>
          <a:prstGeom prst="rect">
            <a:avLst/>
          </a:prstGeom>
          <a:solidFill>
            <a:schemeClr val="accent1"/>
          </a:solidFill>
          <a:ln w="12700" cap="flat">
            <a:solidFill>
              <a:schemeClr val="accent1"/>
            </a:solidFill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CE6E958-7962-5696-029F-1AF210AA2774}"/>
              </a:ext>
            </a:extLst>
          </p:cNvPr>
          <p:cNvSpPr txBox="1"/>
          <p:nvPr/>
        </p:nvSpPr>
        <p:spPr>
          <a:xfrm>
            <a:off x="3374000" y="1542326"/>
            <a:ext cx="993059" cy="461663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ru-RU" sz="2400" b="1" i="0" u="none" strike="noStrike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+mn-lt"/>
                <a:ea typeface="Arial"/>
                <a:cs typeface="Arial"/>
                <a:sym typeface="Arial"/>
              </a:rPr>
              <a:t>Чек</a:t>
            </a:r>
            <a:endParaRPr kumimoji="0" lang="en-US" sz="2400" b="1" i="0" u="none" strike="noStrike" cap="none" spc="0" normalizeH="0" baseline="0" dirty="0">
              <a:ln>
                <a:noFill/>
              </a:ln>
              <a:solidFill>
                <a:schemeClr val="bg1"/>
              </a:solidFill>
              <a:effectLst/>
              <a:uFillTx/>
              <a:latin typeface="+mn-lt"/>
              <a:ea typeface="Arial"/>
              <a:cs typeface="Arial"/>
              <a:sym typeface="Arial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3C6DE81-0239-6BFE-CC2B-E7F9067813FE}"/>
              </a:ext>
            </a:extLst>
          </p:cNvPr>
          <p:cNvSpPr txBox="1"/>
          <p:nvPr/>
        </p:nvSpPr>
        <p:spPr>
          <a:xfrm>
            <a:off x="5879690" y="883004"/>
            <a:ext cx="2450867" cy="461665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r>
              <a:rPr kumimoji="0" lang="ru-RU" sz="2400" b="1" i="0" u="none" strike="noStrike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+mn-lt"/>
                <a:ea typeface="Arial"/>
                <a:cs typeface="Arial"/>
                <a:sym typeface="Arial"/>
              </a:rPr>
              <a:t>Позиция чека</a:t>
            </a:r>
            <a:endParaRPr lang="en-US" sz="24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55ED489-546B-2AD9-43D2-1562B61B7ECB}"/>
              </a:ext>
            </a:extLst>
          </p:cNvPr>
          <p:cNvSpPr txBox="1"/>
          <p:nvPr/>
        </p:nvSpPr>
        <p:spPr>
          <a:xfrm>
            <a:off x="8848164" y="1692803"/>
            <a:ext cx="2235435" cy="461665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r>
              <a:rPr lang="ru-RU" sz="2400" b="1" dirty="0">
                <a:solidFill>
                  <a:schemeClr val="bg1"/>
                </a:solidFill>
                <a:latin typeface="+mn-lt"/>
              </a:rPr>
              <a:t>Продавец</a:t>
            </a:r>
            <a:endParaRPr lang="en-US" sz="24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6999061-745B-374F-45F9-8769E2067EA3}"/>
              </a:ext>
            </a:extLst>
          </p:cNvPr>
          <p:cNvSpPr txBox="1"/>
          <p:nvPr/>
        </p:nvSpPr>
        <p:spPr>
          <a:xfrm>
            <a:off x="6477000" y="4525559"/>
            <a:ext cx="1500394" cy="461665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r>
              <a:rPr kumimoji="0" lang="ru-RU" sz="2400" b="1" i="0" u="none" strike="noStrike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+mn-lt"/>
                <a:ea typeface="Arial"/>
                <a:cs typeface="Arial"/>
                <a:sym typeface="Arial"/>
              </a:rPr>
              <a:t>Кассир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763430621"/>
      </p:ext>
    </p:extLst>
  </p:cSld>
  <p:clrMapOvr>
    <a:masterClrMapping/>
  </p:clrMapOvr>
  <p:transition spd="med"/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EEC70FE0-5DC5-472D-BFDC-5162CF3C6B83}"/>
              </a:ext>
            </a:extLst>
          </p:cNvPr>
          <p:cNvSpPr/>
          <p:nvPr/>
        </p:nvSpPr>
        <p:spPr>
          <a:xfrm>
            <a:off x="1047750" y="6410632"/>
            <a:ext cx="2743200" cy="285136"/>
          </a:xfrm>
          <a:prstGeom prst="rect">
            <a:avLst/>
          </a:prstGeom>
          <a:solidFill>
            <a:srgbClr val="FFFFFF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DC830BA0-522C-F045-30D9-6AA9F8291E9E}"/>
              </a:ext>
            </a:extLst>
          </p:cNvPr>
          <p:cNvSpPr/>
          <p:nvPr/>
        </p:nvSpPr>
        <p:spPr>
          <a:xfrm>
            <a:off x="609600" y="6410632"/>
            <a:ext cx="511277" cy="285136"/>
          </a:xfrm>
          <a:prstGeom prst="rect">
            <a:avLst/>
          </a:prstGeom>
          <a:solidFill>
            <a:srgbClr val="FFFFFF"/>
          </a:solidFill>
          <a:ln w="12700" cap="flat">
            <a:solidFill>
              <a:schemeClr val="bg1"/>
            </a:solidFill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959C283-2F3B-9343-D0E8-821A55D5CA6C}"/>
              </a:ext>
            </a:extLst>
          </p:cNvPr>
          <p:cNvSpPr txBox="1"/>
          <p:nvPr/>
        </p:nvSpPr>
        <p:spPr>
          <a:xfrm>
            <a:off x="953728" y="167609"/>
            <a:ext cx="10726994" cy="52321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ru-RU" sz="2800" b="1" i="0" u="none" strike="noStrike" cap="none" spc="0" normalizeH="0" baseline="0" dirty="0">
                <a:ln>
                  <a:noFill/>
                </a:ln>
                <a:solidFill>
                  <a:schemeClr val="accent1"/>
                </a:solidFill>
                <a:effectLst/>
                <a:uFillTx/>
                <a:latin typeface="+mn-lt"/>
                <a:ea typeface="Arial"/>
                <a:cs typeface="Arial"/>
                <a:sym typeface="Arial"/>
              </a:rPr>
              <a:t>ПРОЕКТИРОВАНИЕ БАЗЫ ДАННЫХ</a:t>
            </a:r>
            <a:endParaRPr kumimoji="0" lang="en-US" sz="2800" b="1" i="0" u="none" strike="noStrike" cap="none" spc="0" normalizeH="0" baseline="0" dirty="0">
              <a:ln>
                <a:noFill/>
              </a:ln>
              <a:solidFill>
                <a:schemeClr val="accent1"/>
              </a:solidFill>
              <a:effectLst/>
              <a:uFillTx/>
              <a:latin typeface="+mn-lt"/>
              <a:ea typeface="Arial"/>
              <a:cs typeface="Arial"/>
              <a:sym typeface="Arial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CDA34B9-382B-69CA-075A-BEB4EA2BC646}"/>
              </a:ext>
            </a:extLst>
          </p:cNvPr>
          <p:cNvSpPr txBox="1"/>
          <p:nvPr/>
        </p:nvSpPr>
        <p:spPr>
          <a:xfrm>
            <a:off x="309716" y="229164"/>
            <a:ext cx="511277" cy="40010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ru-RU" sz="2000" b="1" i="0" u="none" strike="noStrike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+mn-lt"/>
                <a:ea typeface="Arial"/>
                <a:cs typeface="Arial"/>
                <a:sym typeface="Arial"/>
              </a:rPr>
              <a:t>33</a:t>
            </a:r>
            <a:endParaRPr kumimoji="0" lang="en-US" sz="2000" b="1" i="0" u="none" strike="noStrike" cap="none" spc="0" normalizeH="0" baseline="0" dirty="0">
              <a:ln>
                <a:noFill/>
              </a:ln>
              <a:solidFill>
                <a:schemeClr val="bg1"/>
              </a:solidFill>
              <a:effectLst/>
              <a:uFillTx/>
              <a:latin typeface="+mn-lt"/>
              <a:ea typeface="Arial"/>
              <a:cs typeface="Arial"/>
              <a:sym typeface="Arial"/>
            </a:endParaRP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1C6C3B74-D852-821B-8C4B-4025B07E385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7386" y="1140716"/>
            <a:ext cx="10952426" cy="1451738"/>
          </a:xfrm>
          <a:prstGeom prst="rect">
            <a:avLst/>
          </a:prstGeom>
        </p:spPr>
      </p:pic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C0E4D59C-6709-0BC3-8E43-D3BFD4A781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9716" y="2761039"/>
            <a:ext cx="4734814" cy="1990999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C23197CA-E0D7-EB30-FB03-7B58B0733D5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386" y="4828365"/>
            <a:ext cx="10892696" cy="1698818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101CDE36-41E6-A3C4-1E14-2A8BAC29918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44530" y="2685327"/>
            <a:ext cx="7722139" cy="1858101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E341FB71-2112-F8C8-0CAA-F7A2091B12A6}"/>
              </a:ext>
            </a:extLst>
          </p:cNvPr>
          <p:cNvSpPr txBox="1"/>
          <p:nvPr/>
        </p:nvSpPr>
        <p:spPr>
          <a:xfrm>
            <a:off x="536575" y="690393"/>
            <a:ext cx="3077497" cy="461663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ru-RU" sz="2400" b="0" i="0" u="none" strike="noStrike" cap="none" spc="0" normalizeH="0" baseline="0" dirty="0">
                <a:ln>
                  <a:noFill/>
                </a:ln>
                <a:solidFill>
                  <a:schemeClr val="tx1"/>
                </a:solidFill>
                <a:effectLst/>
                <a:uFillTx/>
                <a:latin typeface="+mn-lt"/>
                <a:ea typeface="Arial"/>
                <a:cs typeface="Arial"/>
                <a:sym typeface="Arial"/>
              </a:rPr>
              <a:t>Проверяем данные</a:t>
            </a:r>
            <a:endParaRPr kumimoji="0" lang="en-US" sz="2400" b="0" i="0" u="none" strike="noStrike" cap="none" spc="0" normalizeH="0" baseline="0" dirty="0">
              <a:ln>
                <a:noFill/>
              </a:ln>
              <a:solidFill>
                <a:schemeClr val="tx1"/>
              </a:solidFill>
              <a:effectLst/>
              <a:uFillTx/>
              <a:latin typeface="+mn-lt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984714413"/>
      </p:ext>
    </p:extLst>
  </p:cSld>
  <p:clrMapOvr>
    <a:masterClrMapping/>
  </p:clrMapOvr>
  <p:transition spd="med"/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3B663D4C-B3AE-4236-92BA-155C2F86E928}"/>
              </a:ext>
            </a:extLst>
          </p:cNvPr>
          <p:cNvSpPr/>
          <p:nvPr/>
        </p:nvSpPr>
        <p:spPr>
          <a:xfrm>
            <a:off x="1047750" y="6410632"/>
            <a:ext cx="2743200" cy="285136"/>
          </a:xfrm>
          <a:prstGeom prst="rect">
            <a:avLst/>
          </a:prstGeom>
          <a:solidFill>
            <a:srgbClr val="FFFFFF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DC830BA0-522C-F045-30D9-6AA9F8291E9E}"/>
              </a:ext>
            </a:extLst>
          </p:cNvPr>
          <p:cNvSpPr/>
          <p:nvPr/>
        </p:nvSpPr>
        <p:spPr>
          <a:xfrm>
            <a:off x="609600" y="6410632"/>
            <a:ext cx="511277" cy="285136"/>
          </a:xfrm>
          <a:prstGeom prst="rect">
            <a:avLst/>
          </a:prstGeom>
          <a:solidFill>
            <a:srgbClr val="FFFFFF"/>
          </a:solidFill>
          <a:ln w="12700" cap="flat">
            <a:solidFill>
              <a:schemeClr val="bg1"/>
            </a:solidFill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959C283-2F3B-9343-D0E8-821A55D5CA6C}"/>
              </a:ext>
            </a:extLst>
          </p:cNvPr>
          <p:cNvSpPr txBox="1"/>
          <p:nvPr/>
        </p:nvSpPr>
        <p:spPr>
          <a:xfrm>
            <a:off x="1022554" y="167609"/>
            <a:ext cx="10726994" cy="52321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ru-RU" sz="2800" b="1" i="0" u="none" strike="noStrike" cap="none" spc="0" normalizeH="0" baseline="0" dirty="0">
                <a:ln>
                  <a:noFill/>
                </a:ln>
                <a:solidFill>
                  <a:schemeClr val="accent1"/>
                </a:solidFill>
                <a:effectLst/>
                <a:uFillTx/>
                <a:latin typeface="+mn-lt"/>
                <a:ea typeface="Arial"/>
                <a:cs typeface="Arial"/>
                <a:sym typeface="Arial"/>
              </a:rPr>
              <a:t>ПРОЕКТИРОВАНИЕ БАЗЫ ДАННЫХ</a:t>
            </a:r>
            <a:endParaRPr kumimoji="0" lang="en-US" sz="2800" b="1" i="0" u="none" strike="noStrike" cap="none" spc="0" normalizeH="0" baseline="0" dirty="0">
              <a:ln>
                <a:noFill/>
              </a:ln>
              <a:solidFill>
                <a:schemeClr val="accent1"/>
              </a:solidFill>
              <a:effectLst/>
              <a:uFillTx/>
              <a:latin typeface="+mn-lt"/>
              <a:ea typeface="Arial"/>
              <a:cs typeface="Arial"/>
              <a:sym typeface="Arial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CDA34B9-382B-69CA-075A-BEB4EA2BC646}"/>
              </a:ext>
            </a:extLst>
          </p:cNvPr>
          <p:cNvSpPr txBox="1"/>
          <p:nvPr/>
        </p:nvSpPr>
        <p:spPr>
          <a:xfrm>
            <a:off x="309716" y="229164"/>
            <a:ext cx="511277" cy="40010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ru-RU" sz="2000" b="1" dirty="0">
                <a:solidFill>
                  <a:schemeClr val="bg1"/>
                </a:solidFill>
                <a:latin typeface="+mn-lt"/>
              </a:rPr>
              <a:t>34</a:t>
            </a:r>
            <a:endParaRPr kumimoji="0" lang="en-US" sz="2000" b="1" i="0" u="none" strike="noStrike" cap="none" spc="0" normalizeH="0" baseline="0" dirty="0">
              <a:ln>
                <a:noFill/>
              </a:ln>
              <a:solidFill>
                <a:schemeClr val="bg1"/>
              </a:solidFill>
              <a:effectLst/>
              <a:uFillTx/>
              <a:latin typeface="+mn-lt"/>
              <a:ea typeface="Arial"/>
              <a:cs typeface="Arial"/>
              <a:sym typeface="Arial"/>
            </a:endParaRP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5A108DF7-A812-90C4-62D0-A34FE4E668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3728" y="2354273"/>
            <a:ext cx="10353443" cy="4198927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D1B7E40E-FCAD-ED8E-7724-53D727DE2BC3}"/>
              </a:ext>
            </a:extLst>
          </p:cNvPr>
          <p:cNvSpPr txBox="1"/>
          <p:nvPr/>
        </p:nvSpPr>
        <p:spPr>
          <a:xfrm>
            <a:off x="865238" y="703228"/>
            <a:ext cx="10977716" cy="156966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algn="just"/>
            <a:r>
              <a:rPr lang="en-US" sz="2400" dirty="0" err="1">
                <a:latin typeface="+mn-lt"/>
              </a:rPr>
              <a:t>Выполняем</a:t>
            </a:r>
            <a:r>
              <a:rPr lang="en-US" sz="2400" dirty="0">
                <a:latin typeface="+mn-lt"/>
              </a:rPr>
              <a:t> </a:t>
            </a:r>
            <a:r>
              <a:rPr lang="en-US" sz="2400" dirty="0" err="1">
                <a:latin typeface="+mn-lt"/>
              </a:rPr>
              <a:t>проверку</a:t>
            </a:r>
            <a:r>
              <a:rPr lang="en-US" sz="2400" dirty="0">
                <a:latin typeface="+mn-lt"/>
              </a:rPr>
              <a:t> </a:t>
            </a:r>
            <a:r>
              <a:rPr lang="en-US" sz="2400" dirty="0" err="1">
                <a:latin typeface="+mn-lt"/>
              </a:rPr>
              <a:t>созданной</a:t>
            </a:r>
            <a:r>
              <a:rPr lang="en-US" sz="2400" dirty="0">
                <a:latin typeface="+mn-lt"/>
              </a:rPr>
              <a:t> </a:t>
            </a:r>
            <a:r>
              <a:rPr lang="en-US" sz="2400" dirty="0" err="1">
                <a:latin typeface="+mn-lt"/>
              </a:rPr>
              <a:t>базы</a:t>
            </a:r>
            <a:r>
              <a:rPr lang="en-US" sz="2400" dirty="0">
                <a:latin typeface="+mn-lt"/>
              </a:rPr>
              <a:t> </a:t>
            </a:r>
            <a:r>
              <a:rPr lang="en-US" sz="2400" dirty="0" err="1">
                <a:latin typeface="+mn-lt"/>
              </a:rPr>
              <a:t>данных</a:t>
            </a:r>
            <a:r>
              <a:rPr lang="en-US" sz="2400" dirty="0">
                <a:latin typeface="+mn-lt"/>
              </a:rPr>
              <a:t> в </a:t>
            </a:r>
            <a:r>
              <a:rPr lang="en-US" sz="2400" dirty="0" err="1">
                <a:latin typeface="+mn-lt"/>
              </a:rPr>
              <a:t>среде</a:t>
            </a:r>
            <a:r>
              <a:rPr lang="en-US" sz="2400" dirty="0">
                <a:latin typeface="+mn-lt"/>
              </a:rPr>
              <a:t> PostgreSQL. </a:t>
            </a:r>
            <a:r>
              <a:rPr lang="en-US" sz="2400" dirty="0" err="1">
                <a:latin typeface="+mn-lt"/>
              </a:rPr>
              <a:t>Видим</a:t>
            </a:r>
            <a:r>
              <a:rPr lang="en-US" sz="2400" dirty="0">
                <a:latin typeface="+mn-lt"/>
              </a:rPr>
              <a:t>, </a:t>
            </a:r>
            <a:r>
              <a:rPr lang="en-US" sz="2400" dirty="0" err="1">
                <a:latin typeface="+mn-lt"/>
              </a:rPr>
              <a:t>что</a:t>
            </a:r>
            <a:r>
              <a:rPr lang="en-US" sz="2400" dirty="0">
                <a:latin typeface="+mn-lt"/>
              </a:rPr>
              <a:t> </a:t>
            </a:r>
            <a:r>
              <a:rPr lang="en-US" sz="2400" dirty="0" err="1">
                <a:latin typeface="+mn-lt"/>
              </a:rPr>
              <a:t>все</a:t>
            </a:r>
            <a:r>
              <a:rPr lang="en-US" sz="2400" dirty="0">
                <a:latin typeface="+mn-lt"/>
              </a:rPr>
              <a:t> 4 </a:t>
            </a:r>
            <a:r>
              <a:rPr lang="en-US" sz="2400" dirty="0" err="1">
                <a:latin typeface="+mn-lt"/>
              </a:rPr>
              <a:t>спроектированные</a:t>
            </a:r>
            <a:r>
              <a:rPr lang="en-US" sz="2400" dirty="0">
                <a:latin typeface="+mn-lt"/>
              </a:rPr>
              <a:t> </a:t>
            </a:r>
            <a:r>
              <a:rPr lang="en-US" sz="2400" dirty="0" err="1">
                <a:latin typeface="+mn-lt"/>
              </a:rPr>
              <a:t>таблицы</a:t>
            </a:r>
            <a:r>
              <a:rPr lang="en-US" sz="2400" dirty="0">
                <a:latin typeface="+mn-lt"/>
              </a:rPr>
              <a:t> (sellers, cashiers, receipts, </a:t>
            </a:r>
            <a:r>
              <a:rPr lang="en-US" sz="2400" dirty="0" err="1">
                <a:latin typeface="+mn-lt"/>
              </a:rPr>
              <a:t>receipt_items</a:t>
            </a:r>
            <a:r>
              <a:rPr lang="en-US" sz="2400" dirty="0">
                <a:latin typeface="+mn-lt"/>
              </a:rPr>
              <a:t>) </a:t>
            </a:r>
            <a:r>
              <a:rPr lang="en-US" sz="2400" dirty="0" err="1">
                <a:latin typeface="+mn-lt"/>
              </a:rPr>
              <a:t>успешно</a:t>
            </a:r>
            <a:r>
              <a:rPr lang="en-US" sz="2400" dirty="0">
                <a:latin typeface="+mn-lt"/>
              </a:rPr>
              <a:t> </a:t>
            </a:r>
            <a:r>
              <a:rPr lang="en-US" sz="2400" dirty="0" err="1">
                <a:latin typeface="+mn-lt"/>
              </a:rPr>
              <a:t>созданы</a:t>
            </a:r>
            <a:r>
              <a:rPr lang="en-US" sz="2400" dirty="0">
                <a:latin typeface="+mn-lt"/>
              </a:rPr>
              <a:t> в </a:t>
            </a:r>
            <a:r>
              <a:rPr lang="en-US" sz="2400" dirty="0" err="1">
                <a:latin typeface="+mn-lt"/>
              </a:rPr>
              <a:t>базе</a:t>
            </a:r>
            <a:r>
              <a:rPr lang="en-US" sz="2400" dirty="0">
                <a:latin typeface="+mn-lt"/>
              </a:rPr>
              <a:t>. </a:t>
            </a:r>
            <a:r>
              <a:rPr lang="en-US" sz="2400" dirty="0" err="1">
                <a:latin typeface="+mn-lt"/>
              </a:rPr>
              <a:t>Физическая</a:t>
            </a:r>
            <a:r>
              <a:rPr lang="en-US" sz="2400" dirty="0">
                <a:latin typeface="+mn-lt"/>
              </a:rPr>
              <a:t> </a:t>
            </a:r>
            <a:r>
              <a:rPr lang="en-US" sz="2400" dirty="0" err="1">
                <a:latin typeface="+mn-lt"/>
              </a:rPr>
              <a:t>модель</a:t>
            </a:r>
            <a:r>
              <a:rPr lang="en-US" sz="2400" dirty="0">
                <a:latin typeface="+mn-lt"/>
              </a:rPr>
              <a:t> БД </a:t>
            </a:r>
            <a:r>
              <a:rPr lang="en-US" sz="2400" dirty="0" err="1">
                <a:latin typeface="+mn-lt"/>
              </a:rPr>
              <a:t>реализована</a:t>
            </a:r>
            <a:r>
              <a:rPr lang="en-US" sz="2400" dirty="0">
                <a:latin typeface="+mn-lt"/>
              </a:rPr>
              <a:t> </a:t>
            </a:r>
            <a:r>
              <a:rPr lang="en-US" sz="2400" dirty="0" err="1">
                <a:latin typeface="+mn-lt"/>
              </a:rPr>
              <a:t>правильно</a:t>
            </a:r>
            <a:r>
              <a:rPr lang="en-US" sz="2400" dirty="0">
                <a:latin typeface="+mn-lt"/>
              </a:rPr>
              <a:t> и </a:t>
            </a:r>
            <a:r>
              <a:rPr lang="en-US" sz="2400" dirty="0" err="1">
                <a:latin typeface="+mn-lt"/>
              </a:rPr>
              <a:t>все</a:t>
            </a:r>
            <a:r>
              <a:rPr lang="en-US" sz="2400" dirty="0">
                <a:latin typeface="+mn-lt"/>
              </a:rPr>
              <a:t> </a:t>
            </a:r>
            <a:r>
              <a:rPr lang="en-US" sz="2400" dirty="0" err="1">
                <a:latin typeface="+mn-lt"/>
              </a:rPr>
              <a:t>связи</a:t>
            </a:r>
            <a:r>
              <a:rPr lang="en-US" sz="2400" dirty="0">
                <a:latin typeface="+mn-lt"/>
              </a:rPr>
              <a:t> </a:t>
            </a:r>
            <a:r>
              <a:rPr lang="en-US" sz="2400" dirty="0" err="1">
                <a:latin typeface="+mn-lt"/>
              </a:rPr>
              <a:t>работают</a:t>
            </a:r>
            <a:r>
              <a:rPr lang="en-US" sz="2400" dirty="0">
                <a:latin typeface="+mn-lt"/>
              </a:rPr>
              <a:t> </a:t>
            </a:r>
            <a:r>
              <a:rPr lang="en-US" sz="2400" dirty="0" err="1">
                <a:latin typeface="+mn-lt"/>
              </a:rPr>
              <a:t>как</a:t>
            </a:r>
            <a:r>
              <a:rPr lang="en-US" sz="2400" dirty="0">
                <a:latin typeface="+mn-lt"/>
              </a:rPr>
              <a:t> </a:t>
            </a:r>
            <a:r>
              <a:rPr lang="en-US" sz="2400" dirty="0" err="1">
                <a:latin typeface="+mn-lt"/>
              </a:rPr>
              <a:t>задумано</a:t>
            </a:r>
            <a:r>
              <a:rPr lang="en-US" sz="2400" dirty="0">
                <a:latin typeface="+mn-lt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147543689"/>
      </p:ext>
    </p:extLst>
  </p:cSld>
  <p:clrMapOvr>
    <a:masterClrMapping/>
  </p:clrMapOvr>
  <p:transition spd="med"/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DC830BA0-522C-F045-30D9-6AA9F8291E9E}"/>
              </a:ext>
            </a:extLst>
          </p:cNvPr>
          <p:cNvSpPr/>
          <p:nvPr/>
        </p:nvSpPr>
        <p:spPr>
          <a:xfrm>
            <a:off x="609600" y="6410632"/>
            <a:ext cx="511277" cy="285136"/>
          </a:xfrm>
          <a:prstGeom prst="rect">
            <a:avLst/>
          </a:prstGeom>
          <a:solidFill>
            <a:srgbClr val="FFFFFF"/>
          </a:solidFill>
          <a:ln w="12700" cap="flat">
            <a:solidFill>
              <a:schemeClr val="bg1"/>
            </a:solidFill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959C283-2F3B-9343-D0E8-821A55D5CA6C}"/>
              </a:ext>
            </a:extLst>
          </p:cNvPr>
          <p:cNvSpPr txBox="1"/>
          <p:nvPr/>
        </p:nvSpPr>
        <p:spPr>
          <a:xfrm>
            <a:off x="953728" y="167609"/>
            <a:ext cx="10726994" cy="52321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ru-RU" sz="2800" b="1" i="0" u="none" strike="noStrike" cap="none" spc="0" normalizeH="0" baseline="0" dirty="0">
                <a:ln>
                  <a:noFill/>
                </a:ln>
                <a:solidFill>
                  <a:schemeClr val="accent1"/>
                </a:solidFill>
                <a:effectLst/>
                <a:uFillTx/>
                <a:latin typeface="+mn-lt"/>
                <a:ea typeface="Arial"/>
                <a:cs typeface="Arial"/>
                <a:sym typeface="Arial"/>
              </a:rPr>
              <a:t>ПРОЕКТИРОВАНИЕ БАЗЫ ДАННЫХ</a:t>
            </a:r>
            <a:endParaRPr kumimoji="0" lang="en-US" sz="2800" b="1" i="0" u="none" strike="noStrike" cap="none" spc="0" normalizeH="0" baseline="0" dirty="0">
              <a:ln>
                <a:noFill/>
              </a:ln>
              <a:solidFill>
                <a:schemeClr val="accent1"/>
              </a:solidFill>
              <a:effectLst/>
              <a:uFillTx/>
              <a:latin typeface="+mn-lt"/>
              <a:ea typeface="Arial"/>
              <a:cs typeface="Arial"/>
              <a:sym typeface="Arial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CDA34B9-382B-69CA-075A-BEB4EA2BC646}"/>
              </a:ext>
            </a:extLst>
          </p:cNvPr>
          <p:cNvSpPr txBox="1"/>
          <p:nvPr/>
        </p:nvSpPr>
        <p:spPr>
          <a:xfrm>
            <a:off x="309716" y="229164"/>
            <a:ext cx="511277" cy="40010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ru-RU" sz="2000" b="1" dirty="0">
                <a:solidFill>
                  <a:schemeClr val="bg1"/>
                </a:solidFill>
                <a:latin typeface="+mn-lt"/>
              </a:rPr>
              <a:t>35</a:t>
            </a:r>
            <a:endParaRPr kumimoji="0" lang="en-US" sz="2000" b="1" i="0" u="none" strike="noStrike" cap="none" spc="0" normalizeH="0" baseline="0" dirty="0">
              <a:ln>
                <a:noFill/>
              </a:ln>
              <a:solidFill>
                <a:schemeClr val="bg1"/>
              </a:solidFill>
              <a:effectLst/>
              <a:uFillTx/>
              <a:latin typeface="+mn-lt"/>
              <a:ea typeface="Arial"/>
              <a:cs typeface="Arial"/>
              <a:sym typeface="Arial"/>
            </a:endParaRP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1CB4EA4B-93B3-FC76-3258-CF56437106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9832" y="2188783"/>
            <a:ext cx="9315835" cy="403503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466BC300-4118-6964-DF58-93F7720B83C4}"/>
              </a:ext>
            </a:extLst>
          </p:cNvPr>
          <p:cNvSpPr txBox="1"/>
          <p:nvPr/>
        </p:nvSpPr>
        <p:spPr>
          <a:xfrm>
            <a:off x="953728" y="690827"/>
            <a:ext cx="9709355" cy="1200329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r>
              <a:rPr lang="en-US" sz="2400" dirty="0" err="1">
                <a:latin typeface="+mn-lt"/>
              </a:rPr>
              <a:t>Создаём</a:t>
            </a:r>
            <a:r>
              <a:rPr lang="en-US" sz="2400" dirty="0">
                <a:latin typeface="+mn-lt"/>
              </a:rPr>
              <a:t> </a:t>
            </a:r>
            <a:r>
              <a:rPr lang="en-US" sz="2400" dirty="0" err="1">
                <a:latin typeface="+mn-lt"/>
              </a:rPr>
              <a:t>представление</a:t>
            </a:r>
            <a:r>
              <a:rPr lang="en-US" sz="2400" dirty="0">
                <a:latin typeface="+mn-lt"/>
              </a:rPr>
              <a:t> (VIEW) </a:t>
            </a:r>
            <a:r>
              <a:rPr lang="en-US" sz="2400" dirty="0" err="1">
                <a:latin typeface="+mn-lt"/>
              </a:rPr>
              <a:t>для</a:t>
            </a:r>
            <a:r>
              <a:rPr lang="en-US" sz="2400" dirty="0">
                <a:latin typeface="+mn-lt"/>
              </a:rPr>
              <a:t> </a:t>
            </a:r>
            <a:r>
              <a:rPr lang="en-US" sz="2400" dirty="0" err="1">
                <a:latin typeface="+mn-lt"/>
              </a:rPr>
              <a:t>удобного</a:t>
            </a:r>
            <a:r>
              <a:rPr lang="en-US" sz="2400" dirty="0">
                <a:latin typeface="+mn-lt"/>
              </a:rPr>
              <a:t> </a:t>
            </a:r>
            <a:r>
              <a:rPr lang="en-US" sz="2400" dirty="0" err="1">
                <a:latin typeface="+mn-lt"/>
              </a:rPr>
              <a:t>просмотра</a:t>
            </a:r>
            <a:r>
              <a:rPr lang="en-US" sz="2400" dirty="0">
                <a:latin typeface="+mn-lt"/>
              </a:rPr>
              <a:t> </a:t>
            </a:r>
            <a:r>
              <a:rPr lang="en-US" sz="2400" dirty="0" err="1">
                <a:latin typeface="+mn-lt"/>
              </a:rPr>
              <a:t>полной</a:t>
            </a:r>
            <a:r>
              <a:rPr lang="en-US" sz="2400" dirty="0">
                <a:latin typeface="+mn-lt"/>
              </a:rPr>
              <a:t> </a:t>
            </a:r>
            <a:r>
              <a:rPr lang="en-US" sz="2400" dirty="0" err="1">
                <a:latin typeface="+mn-lt"/>
              </a:rPr>
              <a:t>информации</a:t>
            </a:r>
            <a:r>
              <a:rPr lang="en-US" sz="2400" dirty="0">
                <a:latin typeface="+mn-lt"/>
              </a:rPr>
              <a:t> о </a:t>
            </a:r>
            <a:r>
              <a:rPr lang="en-US" sz="2400" dirty="0" err="1">
                <a:latin typeface="+mn-lt"/>
              </a:rPr>
              <a:t>чеках</a:t>
            </a:r>
            <a:r>
              <a:rPr lang="en-US" sz="2400" dirty="0">
                <a:latin typeface="+mn-lt"/>
              </a:rPr>
              <a:t> и </a:t>
            </a:r>
            <a:r>
              <a:rPr lang="en-US" sz="2400" dirty="0" err="1">
                <a:latin typeface="+mn-lt"/>
              </a:rPr>
              <a:t>выполняем</a:t>
            </a:r>
            <a:r>
              <a:rPr lang="en-US" sz="2400" dirty="0">
                <a:latin typeface="+mn-lt"/>
              </a:rPr>
              <a:t> </a:t>
            </a:r>
            <a:r>
              <a:rPr lang="en-US" sz="2400" dirty="0" err="1">
                <a:latin typeface="+mn-lt"/>
              </a:rPr>
              <a:t>запрос</a:t>
            </a:r>
            <a:r>
              <a:rPr lang="en-US" sz="2400" dirty="0">
                <a:latin typeface="+mn-lt"/>
              </a:rPr>
              <a:t> к </a:t>
            </a:r>
            <a:r>
              <a:rPr lang="en-US" sz="2400" dirty="0" err="1">
                <a:latin typeface="+mn-lt"/>
              </a:rPr>
              <a:t>нему</a:t>
            </a:r>
            <a:r>
              <a:rPr lang="en-US" sz="2400" dirty="0">
                <a:latin typeface="+mn-lt"/>
              </a:rPr>
              <a:t> (</a:t>
            </a:r>
            <a:r>
              <a:rPr lang="en-US" sz="2400" dirty="0" err="1">
                <a:latin typeface="+mn-lt"/>
              </a:rPr>
              <a:t>получаем</a:t>
            </a:r>
            <a:r>
              <a:rPr lang="en-US" sz="2400" dirty="0">
                <a:latin typeface="+mn-lt"/>
              </a:rPr>
              <a:t> </a:t>
            </a:r>
            <a:r>
              <a:rPr lang="en-US" sz="2400" dirty="0" err="1">
                <a:latin typeface="+mn-lt"/>
              </a:rPr>
              <a:t>полную</a:t>
            </a:r>
            <a:r>
              <a:rPr lang="en-US" sz="2400" dirty="0">
                <a:latin typeface="+mn-lt"/>
              </a:rPr>
              <a:t> </a:t>
            </a:r>
            <a:r>
              <a:rPr lang="en-US" sz="2400" dirty="0" err="1">
                <a:latin typeface="+mn-lt"/>
              </a:rPr>
              <a:t>информацию</a:t>
            </a:r>
            <a:r>
              <a:rPr lang="en-US" sz="2400" dirty="0">
                <a:latin typeface="+mn-lt"/>
              </a:rPr>
              <a:t> о </a:t>
            </a:r>
            <a:r>
              <a:rPr lang="en-US" sz="2400" dirty="0" err="1">
                <a:latin typeface="+mn-lt"/>
              </a:rPr>
              <a:t>конкретном</a:t>
            </a:r>
            <a:r>
              <a:rPr lang="en-US" sz="2400" dirty="0">
                <a:latin typeface="+mn-lt"/>
              </a:rPr>
              <a:t> </a:t>
            </a:r>
            <a:r>
              <a:rPr lang="en-US" sz="2400" dirty="0" err="1">
                <a:latin typeface="+mn-lt"/>
              </a:rPr>
              <a:t>чеке</a:t>
            </a:r>
            <a:r>
              <a:rPr lang="en-US" sz="2400" dirty="0">
                <a:latin typeface="+mn-lt"/>
              </a:rPr>
              <a:t>).</a:t>
            </a: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9B6D0F46-F0B3-48D4-9944-9862A60EFC97}"/>
              </a:ext>
            </a:extLst>
          </p:cNvPr>
          <p:cNvSpPr/>
          <p:nvPr/>
        </p:nvSpPr>
        <p:spPr>
          <a:xfrm>
            <a:off x="1047750" y="6410632"/>
            <a:ext cx="2743200" cy="285136"/>
          </a:xfrm>
          <a:prstGeom prst="rect">
            <a:avLst/>
          </a:prstGeom>
          <a:solidFill>
            <a:srgbClr val="FFFFFF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437115615"/>
      </p:ext>
    </p:extLst>
  </p:cSld>
  <p:clrMapOvr>
    <a:masterClrMapping/>
  </p:clrMapOvr>
  <p:transition spd="med"/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DC830BA0-522C-F045-30D9-6AA9F8291E9E}"/>
              </a:ext>
            </a:extLst>
          </p:cNvPr>
          <p:cNvSpPr/>
          <p:nvPr/>
        </p:nvSpPr>
        <p:spPr>
          <a:xfrm>
            <a:off x="609600" y="6410632"/>
            <a:ext cx="511277" cy="285136"/>
          </a:xfrm>
          <a:prstGeom prst="rect">
            <a:avLst/>
          </a:prstGeom>
          <a:solidFill>
            <a:srgbClr val="FFFFFF"/>
          </a:solidFill>
          <a:ln w="12700" cap="flat">
            <a:solidFill>
              <a:schemeClr val="bg1"/>
            </a:solidFill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959C283-2F3B-9343-D0E8-821A55D5CA6C}"/>
              </a:ext>
            </a:extLst>
          </p:cNvPr>
          <p:cNvSpPr txBox="1"/>
          <p:nvPr/>
        </p:nvSpPr>
        <p:spPr>
          <a:xfrm>
            <a:off x="953728" y="167609"/>
            <a:ext cx="10726994" cy="52321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ru-RU" sz="2800" b="1" i="0" u="none" strike="noStrike" cap="none" spc="0" normalizeH="0" baseline="0" dirty="0">
                <a:ln>
                  <a:noFill/>
                </a:ln>
                <a:solidFill>
                  <a:schemeClr val="accent1"/>
                </a:solidFill>
                <a:effectLst/>
                <a:uFillTx/>
                <a:latin typeface="+mn-lt"/>
                <a:ea typeface="Arial"/>
                <a:cs typeface="Arial"/>
                <a:sym typeface="Arial"/>
              </a:rPr>
              <a:t>ВЫВОД</a:t>
            </a:r>
            <a:endParaRPr kumimoji="0" lang="en-US" sz="2800" b="1" i="0" u="none" strike="noStrike" cap="none" spc="0" normalizeH="0" baseline="0" dirty="0">
              <a:ln>
                <a:noFill/>
              </a:ln>
              <a:solidFill>
                <a:schemeClr val="accent1"/>
              </a:solidFill>
              <a:effectLst/>
              <a:uFillTx/>
              <a:latin typeface="+mn-lt"/>
              <a:ea typeface="Arial"/>
              <a:cs typeface="Arial"/>
              <a:sym typeface="Arial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CDA34B9-382B-69CA-075A-BEB4EA2BC646}"/>
              </a:ext>
            </a:extLst>
          </p:cNvPr>
          <p:cNvSpPr txBox="1"/>
          <p:nvPr/>
        </p:nvSpPr>
        <p:spPr>
          <a:xfrm>
            <a:off x="309716" y="229164"/>
            <a:ext cx="511277" cy="40010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ru-RU" sz="2000" b="1" dirty="0">
                <a:solidFill>
                  <a:schemeClr val="bg1"/>
                </a:solidFill>
                <a:latin typeface="+mn-lt"/>
              </a:rPr>
              <a:t>36</a:t>
            </a:r>
            <a:endParaRPr kumimoji="0" lang="en-US" sz="2000" b="1" i="0" u="none" strike="noStrike" cap="none" spc="0" normalizeH="0" baseline="0" dirty="0">
              <a:ln>
                <a:noFill/>
              </a:ln>
              <a:solidFill>
                <a:schemeClr val="bg1"/>
              </a:solidFill>
              <a:effectLst/>
              <a:uFillTx/>
              <a:latin typeface="+mn-lt"/>
              <a:ea typeface="Arial"/>
              <a:cs typeface="Arial"/>
              <a:sym typeface="Arial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A381688-6566-DA7D-555A-DF28DEC7A791}"/>
              </a:ext>
            </a:extLst>
          </p:cNvPr>
          <p:cNvSpPr txBox="1"/>
          <p:nvPr/>
        </p:nvSpPr>
        <p:spPr>
          <a:xfrm>
            <a:off x="565354" y="1073128"/>
            <a:ext cx="11724969" cy="4893647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algn="just"/>
            <a:r>
              <a:rPr lang="ru-RU" sz="2400" b="0" i="0" dirty="0">
                <a:solidFill>
                  <a:srgbClr val="0F1115"/>
                </a:solidFill>
                <a:effectLst/>
                <a:latin typeface="+mn-lt"/>
              </a:rPr>
              <a:t>	В ходе выполнения лабораторной работы был проведен полный цикл анализа и моделирования первичного учетного документа на примере кассового чека ООО «Альфа». Выполнен реквизитный анализ документа с классификацией реквизитов на постоянные и переменные, а также выделены ключевые финансовые и экономические показатели. Изучена нормативная база (ФЗ-54) и описан бизнес-процесс работы с кассовым чеком от инициации покупки до </a:t>
            </a:r>
            <a:r>
              <a:rPr lang="ru-RU" sz="2400" b="0" i="0" dirty="0" err="1">
                <a:solidFill>
                  <a:srgbClr val="0F1115"/>
                </a:solidFill>
                <a:effectLst/>
                <a:latin typeface="+mn-lt"/>
              </a:rPr>
              <a:t>фискализации</a:t>
            </a:r>
            <a:r>
              <a:rPr lang="ru-RU" sz="2400" b="0" i="0" dirty="0">
                <a:solidFill>
                  <a:srgbClr val="0F1115"/>
                </a:solidFill>
                <a:effectLst/>
                <a:latin typeface="+mn-lt"/>
              </a:rPr>
              <a:t> данных. Освоен стандарт BPMN 2.0 и инструмент </a:t>
            </a:r>
            <a:r>
              <a:rPr lang="ru-RU" sz="2400" b="0" i="0" dirty="0" err="1">
                <a:solidFill>
                  <a:srgbClr val="0F1115"/>
                </a:solidFill>
                <a:effectLst/>
                <a:latin typeface="+mn-lt"/>
              </a:rPr>
              <a:t>Stormbpmn</a:t>
            </a:r>
            <a:r>
              <a:rPr lang="ru-RU" sz="2400" b="0" i="0" dirty="0">
                <a:solidFill>
                  <a:srgbClr val="0F1115"/>
                </a:solidFill>
                <a:effectLst/>
                <a:latin typeface="+mn-lt"/>
              </a:rPr>
              <a:t>, разработана схема процесса, отражающая взаимодействие покупателя, кассира и ККТ. Спроектирована структура базы данных для хранения </a:t>
            </a:r>
            <a:r>
              <a:rPr lang="ru-RU" sz="2400" b="0" i="0" dirty="0" err="1">
                <a:solidFill>
                  <a:srgbClr val="0F1115"/>
                </a:solidFill>
                <a:effectLst/>
                <a:latin typeface="+mn-lt"/>
              </a:rPr>
              <a:t>внутримашинного</a:t>
            </a:r>
            <a:r>
              <a:rPr lang="ru-RU" sz="2400" b="0" i="0" dirty="0">
                <a:solidFill>
                  <a:srgbClr val="0F1115"/>
                </a:solidFill>
                <a:effectLst/>
                <a:latin typeface="+mn-lt"/>
              </a:rPr>
              <a:t> представления документа: на концептуальном уровне определены сущности «Продавец», «Кассир», «Чек», «Позиция чека» и связи между ними; на логическом уровне разработана реляционная схема с атрибутами, типами данных, первичными и внешними ключами; на физическом уровне подготовлена детализированная схема для реализации в СУБД с учетом каскадного удаления.</a:t>
            </a:r>
            <a:endParaRPr lang="en-US" sz="2400" dirty="0">
              <a:latin typeface="+mn-lt"/>
            </a:endParaRP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91EAFD35-1D28-46A9-AD8F-5374747C23E0}"/>
              </a:ext>
            </a:extLst>
          </p:cNvPr>
          <p:cNvSpPr/>
          <p:nvPr/>
        </p:nvSpPr>
        <p:spPr>
          <a:xfrm>
            <a:off x="1047750" y="6410632"/>
            <a:ext cx="2743200" cy="285136"/>
          </a:xfrm>
          <a:prstGeom prst="rect">
            <a:avLst/>
          </a:prstGeom>
          <a:solidFill>
            <a:srgbClr val="FFFFFF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410984258"/>
      </p:ext>
    </p:extLst>
  </p:cSld>
  <p:clrMapOvr>
    <a:masterClrMapping/>
  </p:clrMapOvr>
  <p:transition spd="med"/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2FCD03E4-71FE-4FDD-A6B2-34F0F90DC0E6}"/>
              </a:ext>
            </a:extLst>
          </p:cNvPr>
          <p:cNvSpPr/>
          <p:nvPr/>
        </p:nvSpPr>
        <p:spPr>
          <a:xfrm>
            <a:off x="1047750" y="6410632"/>
            <a:ext cx="2743200" cy="285136"/>
          </a:xfrm>
          <a:prstGeom prst="rect">
            <a:avLst/>
          </a:prstGeom>
          <a:solidFill>
            <a:srgbClr val="FFFFFF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DC830BA0-522C-F045-30D9-6AA9F8291E9E}"/>
              </a:ext>
            </a:extLst>
          </p:cNvPr>
          <p:cNvSpPr/>
          <p:nvPr/>
        </p:nvSpPr>
        <p:spPr>
          <a:xfrm>
            <a:off x="609600" y="6410632"/>
            <a:ext cx="511277" cy="285136"/>
          </a:xfrm>
          <a:prstGeom prst="rect">
            <a:avLst/>
          </a:prstGeom>
          <a:solidFill>
            <a:srgbClr val="FFFFFF"/>
          </a:solidFill>
          <a:ln w="12700" cap="flat">
            <a:solidFill>
              <a:schemeClr val="bg1"/>
            </a:solidFill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959C283-2F3B-9343-D0E8-821A55D5CA6C}"/>
              </a:ext>
            </a:extLst>
          </p:cNvPr>
          <p:cNvSpPr txBox="1"/>
          <p:nvPr/>
        </p:nvSpPr>
        <p:spPr>
          <a:xfrm>
            <a:off x="953728" y="167609"/>
            <a:ext cx="10726994" cy="52321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ru-RU" sz="2800" b="1" i="0" u="none" strike="noStrike" cap="none" spc="0" normalizeH="0" baseline="0" dirty="0">
                <a:ln>
                  <a:noFill/>
                </a:ln>
                <a:solidFill>
                  <a:schemeClr val="accent1"/>
                </a:solidFill>
                <a:effectLst/>
                <a:uFillTx/>
                <a:latin typeface="+mn-lt"/>
                <a:ea typeface="Arial"/>
                <a:cs typeface="Arial"/>
                <a:sym typeface="Arial"/>
              </a:rPr>
              <a:t>ИСПОЛЬЗУЕМЫЕ ИСТОЧНИКИ</a:t>
            </a:r>
            <a:endParaRPr kumimoji="0" lang="en-US" sz="2800" b="1" i="0" u="none" strike="noStrike" cap="none" spc="0" normalizeH="0" baseline="0" dirty="0">
              <a:ln>
                <a:noFill/>
              </a:ln>
              <a:solidFill>
                <a:schemeClr val="accent1"/>
              </a:solidFill>
              <a:effectLst/>
              <a:uFillTx/>
              <a:latin typeface="+mn-lt"/>
              <a:ea typeface="Arial"/>
              <a:cs typeface="Arial"/>
              <a:sym typeface="Arial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CDA34B9-382B-69CA-075A-BEB4EA2BC646}"/>
              </a:ext>
            </a:extLst>
          </p:cNvPr>
          <p:cNvSpPr txBox="1"/>
          <p:nvPr/>
        </p:nvSpPr>
        <p:spPr>
          <a:xfrm>
            <a:off x="309716" y="229164"/>
            <a:ext cx="511277" cy="40010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ru-RU" sz="2000" b="1" dirty="0">
                <a:solidFill>
                  <a:schemeClr val="bg1"/>
                </a:solidFill>
                <a:latin typeface="+mn-lt"/>
              </a:rPr>
              <a:t>37</a:t>
            </a:r>
            <a:endParaRPr kumimoji="0" lang="en-US" sz="2000" b="1" i="0" u="none" strike="noStrike" cap="none" spc="0" normalizeH="0" baseline="0" dirty="0">
              <a:ln>
                <a:noFill/>
              </a:ln>
              <a:solidFill>
                <a:schemeClr val="bg1"/>
              </a:solidFill>
              <a:effectLst/>
              <a:uFillTx/>
              <a:latin typeface="+mn-lt"/>
              <a:ea typeface="Arial"/>
              <a:cs typeface="Arial"/>
              <a:sym typeface="Arial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A381688-6566-DA7D-555A-DF28DEC7A791}"/>
              </a:ext>
            </a:extLst>
          </p:cNvPr>
          <p:cNvSpPr txBox="1"/>
          <p:nvPr/>
        </p:nvSpPr>
        <p:spPr>
          <a:xfrm>
            <a:off x="243041" y="808973"/>
            <a:ext cx="12403394" cy="6270947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marL="342900" lvl="0" indent="-342900" algn="just">
              <a:lnSpc>
                <a:spcPct val="150000"/>
              </a:lnSpc>
              <a:spcAft>
                <a:spcPts val="800"/>
              </a:spcAft>
              <a:buFont typeface="+mj-lt"/>
              <a:buAutoNum type="arabicPeriod"/>
              <a:tabLst>
                <a:tab pos="457200" algn="l"/>
              </a:tabLst>
            </a:pPr>
            <a:r>
              <a:rPr lang="ru-RU" sz="1500" dirty="0">
                <a:solidFill>
                  <a:schemeClr val="tx1"/>
                </a:solidFill>
                <a:effectLst/>
                <a:latin typeface="+mn-lt"/>
                <a:ea typeface="Times New Roman" panose="02020603050405020304" pitchFamily="18" charset="0"/>
                <a:cs typeface="Times New Roman" panose="02020603050405020304" pitchFamily="18" charset="0"/>
              </a:rPr>
              <a:t>Российская Федерация. Законы. О применении контрольно-кассовой техники при осуществлении расчетов в Российской Федерации : Федеральный закон № 54-ФЗ : [принят Государственной Думой 25 апреля 2003 года : одобрен Советом Федерации 14 мая 2003 года]. — Москва : Кремль, 2003. — Текст : электронный // КонсультантПлюс : [сайт]. — URL: </a:t>
            </a:r>
            <a:r>
              <a:rPr lang="ru-RU" sz="1500" u="none" strike="noStrike" dirty="0">
                <a:solidFill>
                  <a:schemeClr val="tx1"/>
                </a:solidFill>
                <a:effectLst/>
                <a:latin typeface="+mn-lt"/>
                <a:ea typeface="Times New Roman" panose="02020603050405020304" pitchFamily="18" charset="0"/>
                <a:cs typeface="Times New Roman" panose="02020603050405020304" pitchFamily="18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http://www.consultant.ru/document/cons_doc_LAW_42359/</a:t>
            </a:r>
            <a:r>
              <a:rPr lang="ru-RU" sz="1500" dirty="0">
                <a:solidFill>
                  <a:schemeClr val="tx1"/>
                </a:solidFill>
                <a:effectLst/>
                <a:latin typeface="+mn-lt"/>
                <a:ea typeface="Times New Roman" panose="02020603050405020304" pitchFamily="18" charset="0"/>
                <a:cs typeface="Times New Roman" panose="02020603050405020304" pitchFamily="18" charset="0"/>
              </a:rPr>
              <a:t> (дата обращения: 03.03.2026).</a:t>
            </a:r>
            <a:endParaRPr lang="en-US" sz="1500" dirty="0">
              <a:solidFill>
                <a:schemeClr val="tx1"/>
              </a:solidFill>
              <a:effectLst/>
              <a:latin typeface="+mn-lt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lvl="0" indent="-342900" algn="just">
              <a:lnSpc>
                <a:spcPct val="150000"/>
              </a:lnSpc>
              <a:spcAft>
                <a:spcPts val="800"/>
              </a:spcAft>
              <a:buFont typeface="+mj-lt"/>
              <a:buAutoNum type="arabicPeriod"/>
              <a:tabLst>
                <a:tab pos="457200" algn="l"/>
              </a:tabLst>
            </a:pPr>
            <a:r>
              <a:rPr lang="ru-RU" sz="1500" dirty="0">
                <a:solidFill>
                  <a:schemeClr val="tx1"/>
                </a:solidFill>
                <a:effectLst/>
                <a:latin typeface="+mn-lt"/>
                <a:ea typeface="Times New Roman" panose="02020603050405020304" pitchFamily="18" charset="0"/>
                <a:cs typeface="Times New Roman" panose="02020603050405020304" pitchFamily="18" charset="0"/>
              </a:rPr>
              <a:t>Как работать на кассе: инструкция для кассира : Как пробивать товары, закрывать смену и возвращать покупки. — Текст : электронный // Онлайн-касса : [сайт]. — 2024. — URL: </a:t>
            </a:r>
            <a:r>
              <a:rPr lang="ru-RU" sz="1500" u="none" strike="noStrike" dirty="0">
                <a:solidFill>
                  <a:schemeClr val="tx1"/>
                </a:solidFill>
                <a:effectLst/>
                <a:latin typeface="+mn-lt"/>
                <a:ea typeface="Times New Roman" panose="02020603050405020304" pitchFamily="18" charset="0"/>
                <a:cs typeface="Times New Roman" panose="02020603050405020304" pitchFamily="18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https://online-kassa.ru/blog/kak-rabotat-na-kasse-instruktsiya-dlya-kassira/</a:t>
            </a:r>
            <a:r>
              <a:rPr lang="ru-RU" sz="1500" dirty="0">
                <a:solidFill>
                  <a:schemeClr val="tx1"/>
                </a:solidFill>
                <a:effectLst/>
                <a:latin typeface="+mn-lt"/>
                <a:ea typeface="Times New Roman" panose="02020603050405020304" pitchFamily="18" charset="0"/>
                <a:cs typeface="Times New Roman" panose="02020603050405020304" pitchFamily="18" charset="0"/>
              </a:rPr>
              <a:t> (дата обращения: 03.03.2026).</a:t>
            </a:r>
            <a:endParaRPr lang="en-US" sz="1500" dirty="0">
              <a:solidFill>
                <a:schemeClr val="tx1"/>
              </a:solidFill>
              <a:effectLst/>
              <a:latin typeface="+mn-lt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lvl="0" indent="-342900" algn="just">
              <a:lnSpc>
                <a:spcPct val="150000"/>
              </a:lnSpc>
              <a:spcAft>
                <a:spcPts val="800"/>
              </a:spcAft>
              <a:buFont typeface="+mj-lt"/>
              <a:buAutoNum type="arabicPeriod"/>
              <a:tabLst>
                <a:tab pos="457200" algn="l"/>
              </a:tabLst>
            </a:pPr>
            <a:r>
              <a:rPr lang="ru-RU" sz="1500" dirty="0">
                <a:solidFill>
                  <a:schemeClr val="tx1"/>
                </a:solidFill>
                <a:effectLst/>
                <a:latin typeface="+mn-lt"/>
                <a:ea typeface="Times New Roman" panose="02020603050405020304" pitchFamily="18" charset="0"/>
                <a:cs typeface="Times New Roman" panose="02020603050405020304" pitchFamily="18" charset="0"/>
              </a:rPr>
              <a:t>Регламент порядка работы пользователей на контрольно-кассовой технике (ККТ) в приложениях "1С:Розница 8", "1С:Управление торговлей 8", "1С:Комплексная автоматизация 8", "1С:ERP Управление холдингом 8". — Текст : электронный // 1С:ИТС : [сайт]. — Москва : Фирма "1С", 2025. — URL: </a:t>
            </a:r>
            <a:r>
              <a:rPr lang="ru-RU" sz="1500" u="none" strike="noStrike" dirty="0">
                <a:solidFill>
                  <a:schemeClr val="tx1"/>
                </a:solidFill>
                <a:effectLst/>
                <a:latin typeface="+mn-lt"/>
                <a:ea typeface="Times New Roman" panose="02020603050405020304" pitchFamily="18" charset="0"/>
                <a:cs typeface="Times New Roman" panose="02020603050405020304" pitchFamily="18" charset="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https://torg.1c.ru/upload/iblock/5eb/5eb2d08927a7fe3ffebcf4a866836949.pdf</a:t>
            </a:r>
            <a:r>
              <a:rPr lang="ru-RU" sz="1500" dirty="0">
                <a:solidFill>
                  <a:schemeClr val="tx1"/>
                </a:solidFill>
                <a:effectLst/>
                <a:latin typeface="+mn-lt"/>
                <a:ea typeface="Times New Roman" panose="02020603050405020304" pitchFamily="18" charset="0"/>
                <a:cs typeface="Times New Roman" panose="02020603050405020304" pitchFamily="18" charset="0"/>
              </a:rPr>
              <a:t> (дата обращения: 03.03.2026).</a:t>
            </a:r>
            <a:endParaRPr lang="en-US" sz="1500" dirty="0">
              <a:solidFill>
                <a:schemeClr val="tx1"/>
              </a:solidFill>
              <a:effectLst/>
              <a:latin typeface="+mn-lt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lvl="0" indent="-342900" algn="just">
              <a:lnSpc>
                <a:spcPct val="150000"/>
              </a:lnSpc>
              <a:spcAft>
                <a:spcPts val="800"/>
              </a:spcAft>
              <a:buFont typeface="+mj-lt"/>
              <a:buAutoNum type="arabicPeriod"/>
              <a:tabLst>
                <a:tab pos="457200" algn="l"/>
              </a:tabLst>
            </a:pPr>
            <a:r>
              <a:rPr lang="ru-RU" sz="1500" dirty="0">
                <a:solidFill>
                  <a:schemeClr val="tx1"/>
                </a:solidFill>
                <a:effectLst/>
                <a:latin typeface="+mn-lt"/>
                <a:ea typeface="Times New Roman" panose="02020603050405020304" pitchFamily="18" charset="0"/>
                <a:cs typeface="Times New Roman" panose="02020603050405020304" pitchFamily="18" charset="0"/>
              </a:rPr>
              <a:t>Федеральная налоговая служба : официальный сайт. — Москва. — Обновляется в течение суток. — URL: </a:t>
            </a:r>
            <a:r>
              <a:rPr lang="ru-RU" sz="1500" u="none" strike="noStrike" dirty="0">
                <a:solidFill>
                  <a:schemeClr val="tx1"/>
                </a:solidFill>
                <a:effectLst/>
                <a:latin typeface="+mn-lt"/>
                <a:ea typeface="Times New Roman" panose="02020603050405020304" pitchFamily="18" charset="0"/>
                <a:cs typeface="Times New Roman" panose="02020603050405020304" pitchFamily="18" charset="0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https://www.nalog.gov.ru/</a:t>
            </a:r>
            <a:r>
              <a:rPr lang="ru-RU" sz="1500" dirty="0">
                <a:solidFill>
                  <a:schemeClr val="tx1"/>
                </a:solidFill>
                <a:effectLst/>
                <a:latin typeface="+mn-lt"/>
                <a:ea typeface="Times New Roman" panose="02020603050405020304" pitchFamily="18" charset="0"/>
                <a:cs typeface="Times New Roman" panose="02020603050405020304" pitchFamily="18" charset="0"/>
              </a:rPr>
              <a:t> (дата обращения: 03.03.2026). — Текст : электронный.</a:t>
            </a:r>
            <a:endParaRPr lang="en-US" sz="1500" dirty="0">
              <a:solidFill>
                <a:schemeClr val="tx1"/>
              </a:solidFill>
              <a:effectLst/>
              <a:latin typeface="+mn-lt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lvl="0" indent="-342900" algn="just">
              <a:lnSpc>
                <a:spcPct val="150000"/>
              </a:lnSpc>
              <a:spcAft>
                <a:spcPts val="800"/>
              </a:spcAft>
              <a:buFont typeface="+mj-lt"/>
              <a:buAutoNum type="arabicPeriod"/>
              <a:tabLst>
                <a:tab pos="457200" algn="l"/>
              </a:tabLst>
            </a:pPr>
            <a:r>
              <a:rPr lang="ru-RU" sz="1500" dirty="0">
                <a:solidFill>
                  <a:schemeClr val="tx1"/>
                </a:solidFill>
                <a:effectLst/>
                <a:latin typeface="+mn-lt"/>
                <a:ea typeface="Times New Roman" panose="02020603050405020304" pitchFamily="18" charset="0"/>
                <a:cs typeface="Times New Roman" panose="02020603050405020304" pitchFamily="18" charset="0"/>
              </a:rPr>
              <a:t>Официальная документация BPMN. — Текст : электронный // </a:t>
            </a:r>
            <a:r>
              <a:rPr lang="ru-RU" sz="1500" u="none" strike="noStrike" dirty="0">
                <a:solidFill>
                  <a:schemeClr val="tx1"/>
                </a:solidFill>
                <a:effectLst/>
                <a:latin typeface="+mn-lt"/>
                <a:ea typeface="Times New Roman" panose="02020603050405020304" pitchFamily="18" charset="0"/>
                <a:cs typeface="Times New Roman" panose="02020603050405020304" pitchFamily="18" charset="0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BPMN2.0.ru</a:t>
            </a:r>
            <a:r>
              <a:rPr lang="ru-RU" sz="1500" dirty="0">
                <a:solidFill>
                  <a:schemeClr val="tx1"/>
                </a:solidFill>
                <a:effectLst/>
                <a:latin typeface="+mn-lt"/>
                <a:ea typeface="Times New Roman" panose="02020603050405020304" pitchFamily="18" charset="0"/>
                <a:cs typeface="Times New Roman" panose="02020603050405020304" pitchFamily="18" charset="0"/>
              </a:rPr>
              <a:t> : Документация по нотации BPMN. — URL: </a:t>
            </a:r>
            <a:r>
              <a:rPr lang="ru-RU" sz="1500" u="none" strike="noStrike" dirty="0">
                <a:solidFill>
                  <a:schemeClr val="tx1"/>
                </a:solidFill>
                <a:effectLst/>
                <a:latin typeface="+mn-lt"/>
                <a:ea typeface="Times New Roman" panose="02020603050405020304" pitchFamily="18" charset="0"/>
                <a:cs typeface="Times New Roman" panose="02020603050405020304" pitchFamily="18" charset="0"/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https://bpmn20.ru/docs/docly-documentation/elements/oficzialnaya-dokumentacziya-bpmn/</a:t>
            </a:r>
            <a:r>
              <a:rPr lang="ru-RU" sz="1500" dirty="0">
                <a:solidFill>
                  <a:schemeClr val="tx1"/>
                </a:solidFill>
                <a:effectLst/>
                <a:latin typeface="+mn-lt"/>
                <a:ea typeface="Times New Roman" panose="02020603050405020304" pitchFamily="18" charset="0"/>
                <a:cs typeface="Times New Roman" panose="02020603050405020304" pitchFamily="18" charset="0"/>
              </a:rPr>
              <a:t> (дата обращения: 03.03.2026).</a:t>
            </a:r>
            <a:endParaRPr lang="en-US" sz="1500" dirty="0">
              <a:solidFill>
                <a:schemeClr val="tx1"/>
              </a:solidFill>
              <a:effectLst/>
              <a:latin typeface="+mn-lt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lvl="0" indent="-342900" algn="just">
              <a:lnSpc>
                <a:spcPct val="150000"/>
              </a:lnSpc>
              <a:spcAft>
                <a:spcPts val="800"/>
              </a:spcAft>
              <a:buFont typeface="+mj-lt"/>
              <a:buAutoNum type="arabicPeriod"/>
              <a:tabLst>
                <a:tab pos="457200" algn="l"/>
              </a:tabLst>
            </a:pPr>
            <a:r>
              <a:rPr lang="ru-RU" sz="1500" dirty="0" err="1">
                <a:solidFill>
                  <a:schemeClr val="tx1"/>
                </a:solidFill>
                <a:effectLst/>
                <a:latin typeface="+mn-lt"/>
                <a:ea typeface="Times New Roman" panose="02020603050405020304" pitchFamily="18" charset="0"/>
                <a:cs typeface="Times New Roman" panose="02020603050405020304" pitchFamily="18" charset="0"/>
              </a:rPr>
              <a:t>Stormbpmn</a:t>
            </a:r>
            <a:r>
              <a:rPr lang="ru-RU" sz="1500" dirty="0">
                <a:solidFill>
                  <a:schemeClr val="tx1"/>
                </a:solidFill>
                <a:effectLst/>
                <a:latin typeface="+mn-lt"/>
                <a:ea typeface="Times New Roman" panose="02020603050405020304" pitchFamily="18" charset="0"/>
                <a:cs typeface="Times New Roman" panose="02020603050405020304" pitchFamily="18" charset="0"/>
              </a:rPr>
              <a:t> : онлайн-сервис для моделирования бизнес-процессов. — URL: </a:t>
            </a:r>
            <a:r>
              <a:rPr lang="ru-RU" sz="1500" u="none" strike="noStrike" dirty="0">
                <a:solidFill>
                  <a:schemeClr val="tx1"/>
                </a:solidFill>
                <a:effectLst/>
                <a:latin typeface="+mn-lt"/>
                <a:ea typeface="Times New Roman" panose="02020603050405020304" pitchFamily="18" charset="0"/>
                <a:cs typeface="Times New Roman" panose="02020603050405020304" pitchFamily="18" charset="0"/>
                <a:hlinkClick r:id="rId8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https://stormbpmn.com/</a:t>
            </a:r>
            <a:r>
              <a:rPr lang="ru-RU" sz="1500" dirty="0">
                <a:solidFill>
                  <a:schemeClr val="tx1"/>
                </a:solidFill>
                <a:effectLst/>
                <a:latin typeface="+mn-lt"/>
                <a:ea typeface="Times New Roman" panose="02020603050405020304" pitchFamily="18" charset="0"/>
                <a:cs typeface="Times New Roman" panose="02020603050405020304" pitchFamily="18" charset="0"/>
              </a:rPr>
              <a:t> (дата обращения: 03.03.2026). — Текст : электронный.</a:t>
            </a:r>
            <a:endParaRPr lang="en-US" sz="1500" dirty="0">
              <a:solidFill>
                <a:schemeClr val="tx1"/>
              </a:solidFill>
              <a:effectLst/>
              <a:latin typeface="+mn-lt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algn="just"/>
            <a:endParaRPr lang="en-US" sz="2400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650143450"/>
      </p:ext>
    </p:extLst>
  </p:cSld>
  <p:clrMapOvr>
    <a:masterClrMapping/>
  </p:clrMapOvr>
  <p:transition spd="med"/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Title 1"/>
          <p:cNvSpPr txBox="1">
            <a:spLocks noGrp="1"/>
          </p:cNvSpPr>
          <p:nvPr>
            <p:ph type="title"/>
          </p:nvPr>
        </p:nvSpPr>
        <p:spPr>
          <a:xfrm>
            <a:off x="1065253" y="2235758"/>
            <a:ext cx="10423444" cy="2200944"/>
          </a:xfrm>
          <a:prstGeom prst="rect">
            <a:avLst/>
          </a:prstGeom>
        </p:spPr>
        <p:txBody>
          <a:bodyPr/>
          <a:lstStyle/>
          <a:p>
            <a:pPr algn="ctr"/>
            <a:r>
              <a:rPr dirty="0"/>
              <a:t>СПАСИБО ЗА ВНИМАНИЕ!</a:t>
            </a:r>
          </a:p>
        </p:txBody>
      </p:sp>
      <p:sp>
        <p:nvSpPr>
          <p:cNvPr id="237" name="TextBox 5"/>
          <p:cNvSpPr txBox="1"/>
          <p:nvPr/>
        </p:nvSpPr>
        <p:spPr>
          <a:xfrm>
            <a:off x="913800" y="6125934"/>
            <a:ext cx="2146926" cy="2154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>
              <a:defRPr sz="1400">
                <a:solidFill>
                  <a:srgbClr val="FFFFFF"/>
                </a:solidFill>
              </a:defRPr>
            </a:lvl1pPr>
          </a:lstStyle>
          <a:p>
            <a:r>
              <a:rPr dirty="0" err="1"/>
              <a:t>Нижний</a:t>
            </a:r>
            <a:r>
              <a:rPr dirty="0"/>
              <a:t> </a:t>
            </a:r>
            <a:r>
              <a:rPr dirty="0" err="1"/>
              <a:t>Новгород</a:t>
            </a:r>
            <a:r>
              <a:rPr dirty="0"/>
              <a:t>, 202</a:t>
            </a:r>
            <a:r>
              <a:rPr lang="ru-RU" dirty="0"/>
              <a:t>6</a:t>
            </a:r>
            <a:endParaRPr dirty="0"/>
          </a:p>
        </p:txBody>
      </p:sp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B98F47F0-4B51-6FA7-3818-E22E7BE1ED0F}"/>
              </a:ext>
            </a:extLst>
          </p:cNvPr>
          <p:cNvSpPr/>
          <p:nvPr/>
        </p:nvSpPr>
        <p:spPr>
          <a:xfrm>
            <a:off x="11956026" y="698090"/>
            <a:ext cx="353961" cy="589936"/>
          </a:xfrm>
          <a:prstGeom prst="rect">
            <a:avLst/>
          </a:prstGeom>
          <a:solidFill>
            <a:schemeClr val="accent1"/>
          </a:solidFill>
          <a:ln w="12700" cap="flat">
            <a:solidFill>
              <a:schemeClr val="accent1"/>
            </a:solidFill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ransition spd="med"/>
</p:sld>
</file>

<file path=ppt/theme/theme1.xml><?xml version="1.0" encoding="utf-8"?>
<a:theme xmlns:a="http://schemas.openxmlformats.org/drawingml/2006/main" name="Тема Office">
  <a:themeElements>
    <a:clrScheme name="Тема Offic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A30236"/>
      </a:accent1>
      <a:accent2>
        <a:srgbClr val="ED7D31"/>
      </a:accent2>
      <a:accent3>
        <a:srgbClr val="879DC1"/>
      </a:accent3>
      <a:accent4>
        <a:srgbClr val="FF5C36"/>
      </a:accent4>
      <a:accent5>
        <a:srgbClr val="3F5CBD"/>
      </a:accent5>
      <a:accent6>
        <a:srgbClr val="12A3AD"/>
      </a:accent6>
      <a:hlink>
        <a:srgbClr val="0000FF"/>
      </a:hlink>
      <a:folHlink>
        <a:srgbClr val="FF00FF"/>
      </a:folHlink>
    </a:clrScheme>
    <a:fontScheme name="Тема Office">
      <a:majorFont>
        <a:latin typeface="Calibri"/>
        <a:ea typeface="Calibri"/>
        <a:cs typeface="Calibri"/>
      </a:majorFont>
      <a:minorFont>
        <a:latin typeface="Times New Roman"/>
        <a:ea typeface="Times New Roman"/>
        <a:cs typeface="Times New Roman"/>
      </a:minorFont>
    </a:fontScheme>
    <a:fmtScheme name="Тема 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ctr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Arial"/>
            <a:ea typeface="Arial"/>
            <a:cs typeface="Arial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Arial"/>
            <a:ea typeface="Arial"/>
            <a:cs typeface="Arial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ppt/theme/theme2.xml><?xml version="1.0" encoding="utf-8"?>
<a:theme xmlns:a="http://schemas.openxmlformats.org/drawingml/2006/main" name="Тема Office">
  <a:themeElements>
    <a:clrScheme name="Тема Offic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A30236"/>
      </a:accent1>
      <a:accent2>
        <a:srgbClr val="ED7D31"/>
      </a:accent2>
      <a:accent3>
        <a:srgbClr val="879DC1"/>
      </a:accent3>
      <a:accent4>
        <a:srgbClr val="FF5C36"/>
      </a:accent4>
      <a:accent5>
        <a:srgbClr val="3F5CBD"/>
      </a:accent5>
      <a:accent6>
        <a:srgbClr val="12A3AD"/>
      </a:accent6>
      <a:hlink>
        <a:srgbClr val="0000FF"/>
      </a:hlink>
      <a:folHlink>
        <a:srgbClr val="FF00FF"/>
      </a:folHlink>
    </a:clrScheme>
    <a:fontScheme name="Тема Office">
      <a:majorFont>
        <a:latin typeface="Calibri"/>
        <a:ea typeface="Calibri"/>
        <a:cs typeface="Calibri"/>
      </a:majorFont>
      <a:minorFont>
        <a:latin typeface="Times New Roman"/>
        <a:ea typeface="Times New Roman"/>
        <a:cs typeface="Times New Roman"/>
      </a:minorFont>
    </a:fontScheme>
    <a:fmtScheme name="Тема 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ctr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Arial"/>
            <a:ea typeface="Arial"/>
            <a:cs typeface="Arial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Arial"/>
            <a:ea typeface="Arial"/>
            <a:cs typeface="Arial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340</TotalTime>
  <Words>3056</Words>
  <Application>Microsoft Office PowerPoint</Application>
  <PresentationFormat>Произвольный</PresentationFormat>
  <Paragraphs>375</Paragraphs>
  <Slides>38</Slides>
  <Notes>1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6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38</vt:i4>
      </vt:variant>
    </vt:vector>
  </HeadingPairs>
  <TitlesOfParts>
    <vt:vector size="45" baseType="lpstr">
      <vt:lpstr>Arial</vt:lpstr>
      <vt:lpstr>Calibri</vt:lpstr>
      <vt:lpstr>Courier New</vt:lpstr>
      <vt:lpstr>Helvetica Neue</vt:lpstr>
      <vt:lpstr>Symbol</vt:lpstr>
      <vt:lpstr>Times New Roman</vt:lpstr>
      <vt:lpstr>Тема Office</vt:lpstr>
      <vt:lpstr>Реквизитный анализ экономического документа и создание его внутримашинного представления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СПАСИБО ЗА ВНИМАНИЕ!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user</dc:creator>
  <cp:lastModifiedBy>Дарья Туманова</cp:lastModifiedBy>
  <cp:revision>9</cp:revision>
  <dcterms:modified xsi:type="dcterms:W3CDTF">2026-03-04T22:00:58Z</dcterms:modified>
</cp:coreProperties>
</file>