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media/image1.png" ContentType="image/png"/>
  <Override PartName="/ppt/media/image9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37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12954000" cy="68326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916920" y="3971160"/>
            <a:ext cx="10423080" cy="819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916920" y="3971160"/>
            <a:ext cx="10423080" cy="81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916920" y="3971160"/>
            <a:ext cx="5086440" cy="81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58240" y="3971160"/>
            <a:ext cx="5086440" cy="81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subTitle"/>
          </p:nvPr>
        </p:nvSpPr>
        <p:spPr>
          <a:xfrm>
            <a:off x="916920" y="1616760"/>
            <a:ext cx="10423080" cy="1020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916920" y="397116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58240" y="3971160"/>
            <a:ext cx="5086440" cy="81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916920" y="439920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916920" y="3971160"/>
            <a:ext cx="5086440" cy="81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58240" y="397116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258240" y="439920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916920" y="397116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58240" y="397116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916920" y="4399200"/>
            <a:ext cx="1042308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916920" y="3971160"/>
            <a:ext cx="1042308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916920" y="4399200"/>
            <a:ext cx="1042308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916920" y="397116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258240" y="397116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916920" y="439920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258240" y="439920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916920" y="3971160"/>
            <a:ext cx="3355920" cy="390600"/>
          </a:xfrm>
          <a:prstGeom prst="rect">
            <a:avLst/>
          </a:prstGeom>
        </p:spPr>
        <p:txBody>
          <a:bodyPr lIns="0" rIns="0" tIns="0" bIns="0">
            <a:normAutofit fontScale="80000"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440960" y="3971160"/>
            <a:ext cx="3355920" cy="390600"/>
          </a:xfrm>
          <a:prstGeom prst="rect">
            <a:avLst/>
          </a:prstGeom>
        </p:spPr>
        <p:txBody>
          <a:bodyPr lIns="0" rIns="0" tIns="0" bIns="0">
            <a:normAutofit fontScale="80000"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7965000" y="3971160"/>
            <a:ext cx="3355920" cy="390600"/>
          </a:xfrm>
          <a:prstGeom prst="rect">
            <a:avLst/>
          </a:prstGeom>
        </p:spPr>
        <p:txBody>
          <a:bodyPr lIns="0" rIns="0" tIns="0" bIns="0">
            <a:normAutofit fontScale="80000"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916920" y="4399200"/>
            <a:ext cx="3355920" cy="390600"/>
          </a:xfrm>
          <a:prstGeom prst="rect">
            <a:avLst/>
          </a:prstGeom>
        </p:spPr>
        <p:txBody>
          <a:bodyPr lIns="0" rIns="0" tIns="0" bIns="0">
            <a:normAutofit fontScale="80000"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body"/>
          </p:nvPr>
        </p:nvSpPr>
        <p:spPr>
          <a:xfrm>
            <a:off x="4440960" y="4399200"/>
            <a:ext cx="3355920" cy="390600"/>
          </a:xfrm>
          <a:prstGeom prst="rect">
            <a:avLst/>
          </a:prstGeom>
        </p:spPr>
        <p:txBody>
          <a:bodyPr lIns="0" rIns="0" tIns="0" bIns="0">
            <a:normAutofit fontScale="80000"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body"/>
          </p:nvPr>
        </p:nvSpPr>
        <p:spPr>
          <a:xfrm>
            <a:off x="7965000" y="4399200"/>
            <a:ext cx="3355920" cy="390600"/>
          </a:xfrm>
          <a:prstGeom prst="rect">
            <a:avLst/>
          </a:prstGeom>
        </p:spPr>
        <p:txBody>
          <a:bodyPr lIns="0" rIns="0" tIns="0" bIns="0">
            <a:normAutofit fontScale="80000"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916920" y="3971160"/>
            <a:ext cx="10423080" cy="819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916920" y="3971160"/>
            <a:ext cx="10423080" cy="81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916920" y="3971160"/>
            <a:ext cx="5086440" cy="81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58240" y="3971160"/>
            <a:ext cx="5086440" cy="81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ubTitle"/>
          </p:nvPr>
        </p:nvSpPr>
        <p:spPr>
          <a:xfrm>
            <a:off x="916920" y="1616760"/>
            <a:ext cx="10423080" cy="1020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916920" y="397116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58240" y="3971160"/>
            <a:ext cx="5086440" cy="81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916920" y="439920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916920" y="3971160"/>
            <a:ext cx="5086440" cy="81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6258240" y="397116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258240" y="439920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916920" y="397116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6258240" y="397116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916920" y="4399200"/>
            <a:ext cx="1042308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916920" y="3971160"/>
            <a:ext cx="1042308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916920" y="4399200"/>
            <a:ext cx="1042308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916920" y="397116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6258240" y="397116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916920" y="439920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body"/>
          </p:nvPr>
        </p:nvSpPr>
        <p:spPr>
          <a:xfrm>
            <a:off x="6258240" y="4399200"/>
            <a:ext cx="5086440" cy="390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916920" y="3971160"/>
            <a:ext cx="3355920" cy="390600"/>
          </a:xfrm>
          <a:prstGeom prst="rect">
            <a:avLst/>
          </a:prstGeom>
        </p:spPr>
        <p:txBody>
          <a:bodyPr lIns="0" rIns="0" tIns="0" bIns="0">
            <a:normAutofit fontScale="80000"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440960" y="3971160"/>
            <a:ext cx="3355920" cy="390600"/>
          </a:xfrm>
          <a:prstGeom prst="rect">
            <a:avLst/>
          </a:prstGeom>
        </p:spPr>
        <p:txBody>
          <a:bodyPr lIns="0" rIns="0" tIns="0" bIns="0">
            <a:normAutofit fontScale="80000"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7965000" y="3971160"/>
            <a:ext cx="3355920" cy="390600"/>
          </a:xfrm>
          <a:prstGeom prst="rect">
            <a:avLst/>
          </a:prstGeom>
        </p:spPr>
        <p:txBody>
          <a:bodyPr lIns="0" rIns="0" tIns="0" bIns="0">
            <a:normAutofit fontScale="80000"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body"/>
          </p:nvPr>
        </p:nvSpPr>
        <p:spPr>
          <a:xfrm>
            <a:off x="916920" y="4399200"/>
            <a:ext cx="3355920" cy="390600"/>
          </a:xfrm>
          <a:prstGeom prst="rect">
            <a:avLst/>
          </a:prstGeom>
        </p:spPr>
        <p:txBody>
          <a:bodyPr lIns="0" rIns="0" tIns="0" bIns="0">
            <a:normAutofit fontScale="80000"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body"/>
          </p:nvPr>
        </p:nvSpPr>
        <p:spPr>
          <a:xfrm>
            <a:off x="4440960" y="4399200"/>
            <a:ext cx="3355920" cy="390600"/>
          </a:xfrm>
          <a:prstGeom prst="rect">
            <a:avLst/>
          </a:prstGeom>
        </p:spPr>
        <p:txBody>
          <a:bodyPr lIns="0" rIns="0" tIns="0" bIns="0">
            <a:normAutofit fontScale="80000"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7"/>
          <p:cNvSpPr>
            <a:spLocks noGrp="1"/>
          </p:cNvSpPr>
          <p:nvPr>
            <p:ph type="body"/>
          </p:nvPr>
        </p:nvSpPr>
        <p:spPr>
          <a:xfrm>
            <a:off x="7965000" y="4399200"/>
            <a:ext cx="3355920" cy="390600"/>
          </a:xfrm>
          <a:prstGeom prst="rect">
            <a:avLst/>
          </a:prstGeom>
        </p:spPr>
        <p:txBody>
          <a:bodyPr lIns="0" rIns="0" tIns="0" bIns="0">
            <a:normAutofit fontScale="80000"/>
          </a:bodyPr>
          <a:p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Relationship Id="rId9" Type="http://schemas.openxmlformats.org/officeDocument/2006/relationships/slideLayout" Target="../slideLayouts/slideLayout4.xml"/><Relationship Id="rId10" Type="http://schemas.openxmlformats.org/officeDocument/2006/relationships/slideLayout" Target="../slideLayouts/slideLayout5.xml"/><Relationship Id="rId11" Type="http://schemas.openxmlformats.org/officeDocument/2006/relationships/slideLayout" Target="../slideLayouts/slideLayout6.xml"/><Relationship Id="rId12" Type="http://schemas.openxmlformats.org/officeDocument/2006/relationships/slideLayout" Target="../slideLayouts/slideLayout7.xml"/><Relationship Id="rId13" Type="http://schemas.openxmlformats.org/officeDocument/2006/relationships/slideLayout" Target="../slideLayouts/slideLayout8.xml"/><Relationship Id="rId14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30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Рисунок 9" descr="Рисунок 9"/>
          <p:cNvPicPr/>
          <p:nvPr/>
        </p:nvPicPr>
        <p:blipFill>
          <a:blip r:embed="rId2"/>
          <a:stretch/>
        </p:blipFill>
        <p:spPr>
          <a:xfrm>
            <a:off x="10856520" y="124560"/>
            <a:ext cx="1574280" cy="686880"/>
          </a:xfrm>
          <a:prstGeom prst="rect">
            <a:avLst/>
          </a:prstGeom>
          <a:ln w="12600">
            <a:noFill/>
          </a:ln>
        </p:spPr>
      </p:pic>
      <p:sp>
        <p:nvSpPr>
          <p:cNvPr id="1" name="CustomShape 1" hidden="1"/>
          <p:cNvSpPr/>
          <p:nvPr/>
        </p:nvSpPr>
        <p:spPr>
          <a:xfrm>
            <a:off x="-3240" y="288720"/>
            <a:ext cx="893880" cy="319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CustomShape 2" hidden="1"/>
          <p:cNvSpPr/>
          <p:nvPr/>
        </p:nvSpPr>
        <p:spPr>
          <a:xfrm>
            <a:off x="600120" y="6408000"/>
            <a:ext cx="523800" cy="3027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808080"/>
                </a:solidFill>
                <a:latin typeface="Arial"/>
                <a:ea typeface="Arial"/>
              </a:rPr>
              <a:t>2023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3" name="Line 3"/>
          <p:cNvSpPr/>
          <p:nvPr/>
        </p:nvSpPr>
        <p:spPr>
          <a:xfrm>
            <a:off x="1258200" y="6571440"/>
            <a:ext cx="2303640" cy="0"/>
          </a:xfrm>
          <a:prstGeom prst="line">
            <a:avLst/>
          </a:prstGeom>
          <a:ln w="1908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4" name="Рисунок 7" descr="Рисунок 7"/>
          <p:cNvPicPr/>
          <p:nvPr/>
        </p:nvPicPr>
        <p:blipFill>
          <a:blip r:embed="rId3"/>
          <a:stretch/>
        </p:blipFill>
        <p:spPr>
          <a:xfrm>
            <a:off x="11902320" y="0"/>
            <a:ext cx="1057680" cy="6840000"/>
          </a:xfrm>
          <a:prstGeom prst="rect">
            <a:avLst/>
          </a:prstGeom>
          <a:ln w="1260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916920" y="1616760"/>
            <a:ext cx="10423080" cy="2200680"/>
          </a:xfrm>
          <a:prstGeom prst="rect">
            <a:avLst/>
          </a:prstGeom>
        </p:spPr>
        <p:txBody>
          <a:bodyPr lIns="0" rIns="0" tIns="0" bIns="0" anchor="b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-RU" sz="6900" spc="-1" strike="noStrike">
                <a:solidFill>
                  <a:srgbClr val="ffffff"/>
                </a:solidFill>
                <a:latin typeface="Times New Roman"/>
                <a:ea typeface="Times New Roman"/>
              </a:rPr>
              <a:t>ОБРАЗЕЦ ЗАГОЛОВКА</a:t>
            </a:r>
            <a:endParaRPr b="0" lang="ru-RU" sz="6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916920" y="3971160"/>
            <a:ext cx="10423080" cy="819360"/>
          </a:xfrm>
          <a:prstGeom prst="rect">
            <a:avLst/>
          </a:prstGeom>
        </p:spPr>
        <p:txBody>
          <a:bodyPr lIns="0" rIns="0" tIns="0" bIns="0">
            <a:normAutofit fontScale="21000"/>
          </a:bodyPr>
          <a:p>
            <a:pPr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ru-RU" sz="2300" spc="-1" strike="noStrike">
                <a:solidFill>
                  <a:srgbClr val="ffffff"/>
                </a:solidFill>
                <a:latin typeface="Arial"/>
                <a:ea typeface="Arial"/>
              </a:rPr>
              <a:t>Уровень текста 1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ru-RU" sz="2300" spc="-1" strike="noStrike">
                <a:solidFill>
                  <a:srgbClr val="ffffff"/>
                </a:solidFill>
                <a:latin typeface="Arial"/>
                <a:ea typeface="Arial"/>
              </a:rPr>
              <a:t>Уровень текста 2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ru-RU" sz="2300" spc="-1" strike="noStrike">
                <a:solidFill>
                  <a:srgbClr val="ffffff"/>
                </a:solidFill>
                <a:latin typeface="Arial"/>
                <a:ea typeface="Arial"/>
              </a:rPr>
              <a:t>Уровень текста 3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ru-RU" sz="2300" spc="-1" strike="noStrike">
                <a:solidFill>
                  <a:srgbClr val="ffffff"/>
                </a:solidFill>
                <a:latin typeface="Arial"/>
                <a:ea typeface="Arial"/>
              </a:rPr>
              <a:t>Уровень текста 4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ru-RU" sz="2300" spc="-1" strike="noStrike">
                <a:solidFill>
                  <a:srgbClr val="ffffff"/>
                </a:solidFill>
                <a:latin typeface="Arial"/>
                <a:ea typeface="Arial"/>
              </a:rPr>
              <a:t>Уровень текста 5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Рисунок 21" descr="Рисунок 21"/>
          <p:cNvPicPr/>
          <p:nvPr/>
        </p:nvPicPr>
        <p:blipFill>
          <a:blip r:embed="rId4"/>
          <a:stretch/>
        </p:blipFill>
        <p:spPr>
          <a:xfrm>
            <a:off x="8770680" y="0"/>
            <a:ext cx="4189320" cy="6840000"/>
          </a:xfrm>
          <a:prstGeom prst="rect">
            <a:avLst/>
          </a:prstGeom>
          <a:ln w="12600">
            <a:noFill/>
          </a:ln>
        </p:spPr>
      </p:pic>
      <p:pic>
        <p:nvPicPr>
          <p:cNvPr id="8" name="Рисунок 13" descr="Рисунок 13"/>
          <p:cNvPicPr/>
          <p:nvPr/>
        </p:nvPicPr>
        <p:blipFill>
          <a:blip r:embed="rId5"/>
          <a:stretch/>
        </p:blipFill>
        <p:spPr>
          <a:xfrm>
            <a:off x="853920" y="329400"/>
            <a:ext cx="1862640" cy="819360"/>
          </a:xfrm>
          <a:prstGeom prst="rect">
            <a:avLst/>
          </a:prstGeom>
          <a:ln w="12600">
            <a:noFill/>
          </a:ln>
        </p:spPr>
      </p:pic>
      <p:sp>
        <p:nvSpPr>
          <p:cNvPr id="9" name="CustomShape 6"/>
          <p:cNvSpPr/>
          <p:nvPr/>
        </p:nvSpPr>
        <p:spPr>
          <a:xfrm rot="16200000">
            <a:off x="11744640" y="947880"/>
            <a:ext cx="690120" cy="2739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Arial"/>
              </a:rPr>
              <a:t>2024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0" name="Line 7"/>
          <p:cNvSpPr/>
          <p:nvPr/>
        </p:nvSpPr>
        <p:spPr>
          <a:xfrm>
            <a:off x="12128040" y="1404720"/>
            <a:ext cx="0" cy="2302560"/>
          </a:xfrm>
          <a:prstGeom prst="line">
            <a:avLst/>
          </a:prstGeom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" name="CustomShape 8"/>
          <p:cNvSpPr/>
          <p:nvPr/>
        </p:nvSpPr>
        <p:spPr>
          <a:xfrm rot="16200000">
            <a:off x="11542320" y="5622840"/>
            <a:ext cx="1096920" cy="2430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600" spc="97" strike="noStrike">
                <a:solidFill>
                  <a:srgbClr val="ffffff"/>
                </a:solidFill>
                <a:latin typeface="Arial"/>
                <a:ea typeface="Arial"/>
              </a:rPr>
              <a:t>РАНХиГС</a:t>
            </a:r>
            <a:endParaRPr b="0" lang="ru-RU" sz="1600" spc="-1" strike="noStrike">
              <a:latin typeface="Arial"/>
            </a:endParaRPr>
          </a:p>
        </p:txBody>
      </p:sp>
      <p:sp>
        <p:nvSpPr>
          <p:cNvPr id="12" name="PlaceHolder 9"/>
          <p:cNvSpPr>
            <a:spLocks noGrp="1"/>
          </p:cNvSpPr>
          <p:nvPr>
            <p:ph type="sldNum"/>
          </p:nvPr>
        </p:nvSpPr>
        <p:spPr>
          <a:xfrm>
            <a:off x="6261120" y="6148800"/>
            <a:ext cx="3022200" cy="367920"/>
          </a:xfrm>
          <a:prstGeom prst="rect">
            <a:avLst/>
          </a:prstGeom>
        </p:spPr>
        <p:txBody>
          <a:bodyPr lIns="45720" rIns="4572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DF0CEA3-4DE6-4DEF-97B0-BC08450EA309}" type="slidenum">
              <a:rPr b="0" lang="ru-RU" sz="1400" spc="-1" strike="noStrike">
                <a:solidFill>
                  <a:srgbClr val="ffffff"/>
                </a:solidFill>
                <a:latin typeface="Arial"/>
                <a:ea typeface="Arial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Рисунок 9" descr="Рисунок 9"/>
          <p:cNvPicPr/>
          <p:nvPr/>
        </p:nvPicPr>
        <p:blipFill>
          <a:blip r:embed="rId2"/>
          <a:stretch/>
        </p:blipFill>
        <p:spPr>
          <a:xfrm>
            <a:off x="10856520" y="124560"/>
            <a:ext cx="1574280" cy="686880"/>
          </a:xfrm>
          <a:prstGeom prst="rect">
            <a:avLst/>
          </a:prstGeom>
          <a:ln w="12600">
            <a:noFill/>
          </a:ln>
        </p:spPr>
      </p:pic>
      <p:sp>
        <p:nvSpPr>
          <p:cNvPr id="50" name="CustomShape 1" hidden="1"/>
          <p:cNvSpPr/>
          <p:nvPr/>
        </p:nvSpPr>
        <p:spPr>
          <a:xfrm>
            <a:off x="-3240" y="288720"/>
            <a:ext cx="893880" cy="319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CustomShape 2" hidden="1"/>
          <p:cNvSpPr/>
          <p:nvPr/>
        </p:nvSpPr>
        <p:spPr>
          <a:xfrm>
            <a:off x="600120" y="6408000"/>
            <a:ext cx="523800" cy="3027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808080"/>
                </a:solidFill>
                <a:latin typeface="Arial"/>
                <a:ea typeface="Arial"/>
              </a:rPr>
              <a:t>2023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2" name="Line 3"/>
          <p:cNvSpPr/>
          <p:nvPr/>
        </p:nvSpPr>
        <p:spPr>
          <a:xfrm>
            <a:off x="1258200" y="6571440"/>
            <a:ext cx="2303640" cy="0"/>
          </a:xfrm>
          <a:prstGeom prst="line">
            <a:avLst/>
          </a:prstGeom>
          <a:ln w="1908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53" name="Рисунок 7" descr="Рисунок 7"/>
          <p:cNvPicPr/>
          <p:nvPr/>
        </p:nvPicPr>
        <p:blipFill>
          <a:blip r:embed="rId3"/>
          <a:stretch/>
        </p:blipFill>
        <p:spPr>
          <a:xfrm>
            <a:off x="11902320" y="0"/>
            <a:ext cx="1057680" cy="6840000"/>
          </a:xfrm>
          <a:prstGeom prst="rect">
            <a:avLst/>
          </a:prstGeom>
          <a:ln w="12600">
            <a:noFill/>
          </a:ln>
        </p:spPr>
      </p:pic>
      <p:pic>
        <p:nvPicPr>
          <p:cNvPr id="54" name="Рисунок 9" descr="Рисунок 9"/>
          <p:cNvPicPr/>
          <p:nvPr/>
        </p:nvPicPr>
        <p:blipFill>
          <a:blip r:embed="rId4"/>
          <a:stretch/>
        </p:blipFill>
        <p:spPr>
          <a:xfrm>
            <a:off x="10856520" y="124560"/>
            <a:ext cx="1574280" cy="686880"/>
          </a:xfrm>
          <a:prstGeom prst="rect">
            <a:avLst/>
          </a:prstGeom>
          <a:ln w="12600">
            <a:noFill/>
          </a:ln>
        </p:spPr>
      </p:pic>
      <p:sp>
        <p:nvSpPr>
          <p:cNvPr id="55" name="CustomShape 4"/>
          <p:cNvSpPr/>
          <p:nvPr/>
        </p:nvSpPr>
        <p:spPr>
          <a:xfrm>
            <a:off x="-3240" y="288720"/>
            <a:ext cx="893880" cy="31932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CustomShape 5"/>
          <p:cNvSpPr/>
          <p:nvPr/>
        </p:nvSpPr>
        <p:spPr>
          <a:xfrm>
            <a:off x="600120" y="6408000"/>
            <a:ext cx="523800" cy="3027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808080"/>
                </a:solidFill>
                <a:latin typeface="Arial"/>
                <a:ea typeface="Arial"/>
              </a:rPr>
              <a:t>2023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7" name="Line 6"/>
          <p:cNvSpPr/>
          <p:nvPr/>
        </p:nvSpPr>
        <p:spPr>
          <a:xfrm>
            <a:off x="1258200" y="6571440"/>
            <a:ext cx="2303640" cy="0"/>
          </a:xfrm>
          <a:prstGeom prst="line">
            <a:avLst/>
          </a:prstGeom>
          <a:ln w="1908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PlaceHolder 7"/>
          <p:cNvSpPr>
            <a:spLocks noGrp="1"/>
          </p:cNvSpPr>
          <p:nvPr>
            <p:ph type="title"/>
          </p:nvPr>
        </p:nvSpPr>
        <p:spPr>
          <a:xfrm>
            <a:off x="900000" y="900000"/>
            <a:ext cx="9627480" cy="740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-RU" sz="3100" spc="-1" strike="noStrike">
                <a:solidFill>
                  <a:srgbClr val="000000"/>
                </a:solidFill>
                <a:latin typeface="Arial"/>
                <a:ea typeface="Arial"/>
              </a:rPr>
              <a:t>Образец заголовка</a:t>
            </a:r>
            <a:endParaRPr b="0" lang="ru-RU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body"/>
          </p:nvPr>
        </p:nvSpPr>
        <p:spPr>
          <a:xfrm>
            <a:off x="4340880" y="1674720"/>
            <a:ext cx="7726320" cy="4254120"/>
          </a:xfrm>
          <a:prstGeom prst="rect">
            <a:avLst/>
          </a:prstGeom>
        </p:spPr>
        <p:txBody>
          <a:bodyPr>
            <a:noAutofit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9"/>
          <p:cNvSpPr>
            <a:spLocks noGrp="1"/>
          </p:cNvSpPr>
          <p:nvPr>
            <p:ph type="body"/>
          </p:nvPr>
        </p:nvSpPr>
        <p:spPr>
          <a:xfrm>
            <a:off x="900000" y="1625040"/>
            <a:ext cx="2915640" cy="430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Arial"/>
              </a:rPr>
              <a:t>Уровень текста 1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Arial"/>
              </a:rPr>
              <a:t>Уровень текста 2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Arial"/>
              </a:rPr>
              <a:t>Уровень текста 3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Arial"/>
              </a:rPr>
              <a:t>Уровень текста 4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Arial"/>
              </a:rPr>
              <a:t>Уровень текста 5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10"/>
          <p:cNvSpPr>
            <a:spLocks noGrp="1"/>
          </p:cNvSpPr>
          <p:nvPr>
            <p:ph type="sldNum"/>
          </p:nvPr>
        </p:nvSpPr>
        <p:spPr>
          <a:xfrm>
            <a:off x="601560" y="304200"/>
            <a:ext cx="301680" cy="288360"/>
          </a:xfrm>
          <a:prstGeom prst="rect">
            <a:avLst/>
          </a:prstGeom>
        </p:spPr>
        <p:txBody>
          <a:bodyPr lIns="45720" rIns="4572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DAE9805-F190-4850-824B-6D37DB6E6266}" type="slidenum">
              <a:rPr b="0" lang="ru-RU" sz="1400" spc="-1" strike="noStrike">
                <a:solidFill>
                  <a:srgbClr val="ffffff"/>
                </a:solidFill>
                <a:latin typeface="Arial"/>
                <a:ea typeface="Arial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www.nalog.gov.ru/" TargetMode="External"/><Relationship Id="rId2" Type="http://schemas.openxmlformats.org/officeDocument/2006/relationships/slideLayout" Target="../slideLayouts/slideLayout1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5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5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5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hyperlink" Target="http://www.consultant.ru/document/cons_doc_LAW_42359/" TargetMode="External"/><Relationship Id="rId2" Type="http://schemas.openxmlformats.org/officeDocument/2006/relationships/hyperlink" Target="https://online-kassa.ru/blog/kak-rabotat-na-kasse-instruktsiya-dlya-kassira/" TargetMode="External"/><Relationship Id="rId3" Type="http://schemas.openxmlformats.org/officeDocument/2006/relationships/hyperlink" Target="https://torg.1c.ru/upload/iblock/5eb/5eb2d08927a7fe3ffebcf4a866836949.pdf" TargetMode="External"/><Relationship Id="rId4" Type="http://schemas.openxmlformats.org/officeDocument/2006/relationships/hyperlink" Target="https://www.nalog.gov.ru/" TargetMode="External"/><Relationship Id="rId5" Type="http://schemas.openxmlformats.org/officeDocument/2006/relationships/hyperlink" Target="https://bpmn2.0.ru/" TargetMode="External"/><Relationship Id="rId6" Type="http://schemas.openxmlformats.org/officeDocument/2006/relationships/hyperlink" Target="https://bpmn20.ru/docs/docly-documentation/elements/oficzialnaya-dokumentacziya-bpmn/" TargetMode="External"/><Relationship Id="rId7" Type="http://schemas.openxmlformats.org/officeDocument/2006/relationships/hyperlink" Target="https://stormbpmn.com/" TargetMode="External"/><Relationship Id="rId8" Type="http://schemas.openxmlformats.org/officeDocument/2006/relationships/slideLayout" Target="../slideLayouts/slideLayout15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693000" y="977400"/>
            <a:ext cx="11044800" cy="30405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rm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ru-RU" sz="5000" spc="-1" strike="noStrike">
                <a:solidFill>
                  <a:srgbClr val="ffffff"/>
                </a:solidFill>
                <a:latin typeface="Times New Roman"/>
                <a:ea typeface="Open Sans ExtraBold"/>
              </a:rPr>
              <a:t>Реквизитный анализ экономического документа и создание его внутримашинного представления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Shape 2"/>
          <p:cNvSpPr txBox="1"/>
          <p:nvPr/>
        </p:nvSpPr>
        <p:spPr>
          <a:xfrm>
            <a:off x="916920" y="4807440"/>
            <a:ext cx="10423080" cy="1047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ru-RU" sz="2300" spc="-1" strike="noStrike">
                <a:solidFill>
                  <a:srgbClr val="ffffff"/>
                </a:solidFill>
                <a:latin typeface="Times New Roman"/>
                <a:ea typeface="Times New Roman"/>
              </a:rPr>
              <a:t>Выполнили студенты группы Иб-321:</a:t>
            </a:r>
            <a:br/>
            <a:r>
              <a:rPr b="0" lang="ru-RU" sz="2300" spc="-1" strike="noStrike">
                <a:solidFill>
                  <a:srgbClr val="ffffff"/>
                </a:solidFill>
                <a:latin typeface="Times New Roman"/>
                <a:ea typeface="Times New Roman"/>
              </a:rPr>
              <a:t>Туманова Дарья Александровна</a:t>
            </a:r>
            <a:br/>
            <a:r>
              <a:rPr b="0" lang="ru-RU" sz="2300" spc="-1" strike="noStrike">
                <a:solidFill>
                  <a:srgbClr val="ffffff"/>
                </a:solidFill>
                <a:latin typeface="Times New Roman"/>
                <a:ea typeface="Times New Roman"/>
              </a:rPr>
              <a:t>Храмова Екатерина Ивановна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CustomShape 3"/>
          <p:cNvSpPr/>
          <p:nvPr/>
        </p:nvSpPr>
        <p:spPr>
          <a:xfrm>
            <a:off x="913680" y="6125760"/>
            <a:ext cx="2146680" cy="2134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Arial"/>
              </a:rPr>
              <a:t>Нижний Новгород, 202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01" name="CustomShape 4"/>
          <p:cNvSpPr/>
          <p:nvPr/>
        </p:nvSpPr>
        <p:spPr>
          <a:xfrm>
            <a:off x="11985480" y="707760"/>
            <a:ext cx="275040" cy="59076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CustomShape 2"/>
          <p:cNvSpPr/>
          <p:nvPr/>
        </p:nvSpPr>
        <p:spPr>
          <a:xfrm>
            <a:off x="963720" y="136800"/>
            <a:ext cx="390312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СОДЕРЖАНИЕ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04" name="CustomShape 3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2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05" name="CustomShape 4"/>
          <p:cNvSpPr/>
          <p:nvPr/>
        </p:nvSpPr>
        <p:spPr>
          <a:xfrm>
            <a:off x="2186640" y="719280"/>
            <a:ext cx="8580240" cy="55782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Цель работы………………………………………………………3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Задачи……………………………………………………………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..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4</a:t>
            </a:r>
            <a:br/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Используемое ПО……………...…………………………………5</a:t>
            </a:r>
            <a:br/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Выбор документа…………………………………………….…...6</a:t>
            </a:r>
            <a:br/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Реквизитный анализ документа…………………………………7</a:t>
            </a:r>
            <a:br/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Финансовые и экономические реквизиты………………………11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Описание процесса работы с документом……………...………13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Изучение назначения и особенностей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BPMN 2.0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……... ………15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История и стандартизация……………………………….... ……16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Ключевые особенности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BPMN 2.0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……………………….……..17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Преимущества использования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BPMN 2.0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……………….………20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Моделирование процесса в нотации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BPMN 2.0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………..………21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Проектирование базы данных…………………………….. ……23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Вывод……………………………….……………………………..36</a:t>
            </a:r>
            <a:br/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Используемые источники…………………………………..……37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106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CustomShape 2"/>
          <p:cNvSpPr/>
          <p:nvPr/>
        </p:nvSpPr>
        <p:spPr>
          <a:xfrm>
            <a:off x="963720" y="1788840"/>
            <a:ext cx="10980360" cy="32882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Провести реквизитный анализ экономического документа (кассового чека), смоделировать процесс его обработки с использованием нотации BPMN 2.0 и разработать структуру базы данных (концептуальную, логическую, физическую) для хранения его внутримашинного представления.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09" name="CustomShape 3"/>
          <p:cNvSpPr/>
          <p:nvPr/>
        </p:nvSpPr>
        <p:spPr>
          <a:xfrm>
            <a:off x="963720" y="136800"/>
            <a:ext cx="390312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ЦЕЛЬ РАБОТЫ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10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3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11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CustomShape 2"/>
          <p:cNvSpPr/>
          <p:nvPr/>
        </p:nvSpPr>
        <p:spPr>
          <a:xfrm>
            <a:off x="963720" y="849600"/>
            <a:ext cx="9895680" cy="53722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f1115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0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Выбрать экономический документ в соответствии с заданием.</a:t>
            </a:r>
            <a:endParaRPr b="0" lang="ru-RU" sz="20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f1115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0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Провести реквизитный анализ выбранного документа.</a:t>
            </a:r>
            <a:endParaRPr b="0" lang="ru-RU" sz="20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f1115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0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Выделить в документе финансовые и экономические реквизиты.</a:t>
            </a:r>
            <a:endParaRPr b="0" lang="ru-RU" sz="20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f1115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0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Изучить и описать процесс работы с документом, используя найденные в интернете источники.</a:t>
            </a:r>
            <a:endParaRPr b="0" lang="ru-RU" sz="20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f1115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0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Изучить стандарт BPMN 2.0 и освоить инструмент для создания диаграмм.</a:t>
            </a:r>
            <a:endParaRPr b="0" lang="ru-RU" sz="20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f1115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0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Разработать схему процесса обработки документа в нотации BPMN 2.0.</a:t>
            </a:r>
            <a:endParaRPr b="0" lang="ru-RU" sz="20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f1115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0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Спроектировать базу данных для хранения информации из документа на концептуальном, логическом и физическом уровнях.</a:t>
            </a:r>
            <a:endParaRPr b="0" lang="ru-RU" sz="20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f1115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0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Оформить отчет и сохранить его в репозитории.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14" name="CustomShape 3"/>
          <p:cNvSpPr/>
          <p:nvPr/>
        </p:nvSpPr>
        <p:spPr>
          <a:xfrm>
            <a:off x="963720" y="136800"/>
            <a:ext cx="390312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ЗАДАЧИ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15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4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16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CustomShape 2"/>
          <p:cNvSpPr/>
          <p:nvPr/>
        </p:nvSpPr>
        <p:spPr>
          <a:xfrm>
            <a:off x="963720" y="1532520"/>
            <a:ext cx="10849680" cy="32396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Операционная система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Microsoft Windows 11</a:t>
            </a:r>
            <a:r>
              <a:rPr b="0" lang="en-US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 pro</a:t>
            </a:r>
            <a:endParaRPr b="0" lang="ru-RU" sz="2400" spc="-1" strike="noStrike">
              <a:latin typeface="Arial"/>
            </a:endParaRPr>
          </a:p>
          <a:p>
            <a:pPr algn="just">
              <a:lnSpc>
                <a:spcPct val="15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Текстовый редактор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Microsoft Word 2021</a:t>
            </a:r>
            <a:endParaRPr b="0" lang="ru-RU" sz="2400" spc="-1" strike="noStrike">
              <a:latin typeface="Arial"/>
            </a:endParaRPr>
          </a:p>
          <a:p>
            <a:pPr algn="just">
              <a:lnSpc>
                <a:spcPct val="15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Инструмент BPMN-моделирования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Stormbpmn </a:t>
            </a:r>
            <a:endParaRPr b="0" lang="ru-RU" sz="2400" spc="-1" strike="noStrike">
              <a:latin typeface="Arial"/>
            </a:endParaRPr>
          </a:p>
          <a:p>
            <a:pPr algn="just">
              <a:lnSpc>
                <a:spcPct val="15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(онлайн-сервис, https://stormbpmn.com/)</a:t>
            </a:r>
            <a:endParaRPr b="0" lang="ru-RU" sz="2400" spc="-1" strike="noStrike">
              <a:latin typeface="Arial"/>
            </a:endParaRPr>
          </a:p>
          <a:p>
            <a:pPr algn="just">
              <a:lnSpc>
                <a:spcPct val="15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Инструмент проектирования БД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 pgAdmin 4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119" name="CustomShape 3"/>
          <p:cNvSpPr/>
          <p:nvPr/>
        </p:nvSpPr>
        <p:spPr>
          <a:xfrm>
            <a:off x="963720" y="136800"/>
            <a:ext cx="469944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ИСПОЛЬЗУЕМОЕ ПО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20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5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21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CustomShape 2"/>
          <p:cNvSpPr/>
          <p:nvPr/>
        </p:nvSpPr>
        <p:spPr>
          <a:xfrm>
            <a:off x="5142240" y="1095480"/>
            <a:ext cx="7250760" cy="44787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Для выполнения лабораторной работы был выбран документ, представленный на изображении. Это кассовый чек, сформированный обществом с ограниченной ответственностью «Альфа». Данный документ является первичным учетным документом, подтверждающим факт приобретения товара (мебельного гарнитура) и осуществления денежного расчета.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124" name="CustomShape 3"/>
          <p:cNvSpPr/>
          <p:nvPr/>
        </p:nvSpPr>
        <p:spPr>
          <a:xfrm>
            <a:off x="963720" y="167760"/>
            <a:ext cx="647892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ВЫБОР ДОКУМЕНТА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25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6</a:t>
            </a:r>
            <a:endParaRPr b="0" lang="ru-RU" sz="2000" spc="-1" strike="noStrike">
              <a:latin typeface="Arial"/>
            </a:endParaRPr>
          </a:p>
        </p:txBody>
      </p:sp>
      <p:pic>
        <p:nvPicPr>
          <p:cNvPr id="126" name="Рисунок 2" descr=""/>
          <p:cNvPicPr/>
          <p:nvPr/>
        </p:nvPicPr>
        <p:blipFill>
          <a:blip r:embed="rId1"/>
          <a:stretch/>
        </p:blipFill>
        <p:spPr>
          <a:xfrm>
            <a:off x="1347480" y="812160"/>
            <a:ext cx="3238200" cy="5401080"/>
          </a:xfrm>
          <a:prstGeom prst="rect">
            <a:avLst/>
          </a:prstGeom>
          <a:ln>
            <a:noFill/>
          </a:ln>
        </p:spPr>
      </p:pic>
      <p:sp>
        <p:nvSpPr>
          <p:cNvPr id="127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CustomShape 2"/>
          <p:cNvSpPr/>
          <p:nvPr/>
        </p:nvSpPr>
        <p:spPr>
          <a:xfrm>
            <a:off x="980640" y="974880"/>
            <a:ext cx="10658520" cy="53352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ru-RU" sz="2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В ходе анализа структуры кассового чека были выделены постоянные и переменные реквизиты, а также идентифицированы обязательные элементы, предусмотренные Федеральным законом № 54-ФЗ.</a:t>
            </a:r>
            <a:endParaRPr b="0" lang="ru-RU" sz="2800" spc="-1" strike="noStrike"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99"/>
              </a:spcBef>
              <a:spcAft>
                <a:spcPts val="799"/>
              </a:spcAft>
              <a:tabLst>
                <a:tab algn="l" pos="0"/>
              </a:tabLst>
            </a:pPr>
            <a:r>
              <a:rPr b="1" lang="ru-RU" sz="2800" spc="-1" strike="noStrike">
                <a:solidFill>
                  <a:srgbClr val="000000"/>
                </a:solidFill>
                <a:latin typeface="Times New Roman"/>
                <a:ea typeface="Calibri"/>
              </a:rPr>
              <a:t>Кассовый чек </a:t>
            </a:r>
            <a:r>
              <a:rPr b="0" lang="ru-RU" sz="2800" spc="-1" strike="noStrike">
                <a:solidFill>
                  <a:srgbClr val="000000"/>
                </a:solidFill>
                <a:latin typeface="Times New Roman"/>
                <a:ea typeface="Calibri"/>
              </a:rPr>
              <a:t>— это документ, подтверждающий факт оплаты товаров или услуг. Его структура включает следующие обязательные реквизиты.</a:t>
            </a:r>
            <a:endParaRPr b="0" lang="ru-RU" sz="28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ru-RU" sz="2800" spc="-1" strike="noStrike">
              <a:latin typeface="Arial"/>
            </a:endParaRPr>
          </a:p>
        </p:txBody>
      </p:sp>
      <p:sp>
        <p:nvSpPr>
          <p:cNvPr id="130" name="CustomShape 3"/>
          <p:cNvSpPr/>
          <p:nvPr/>
        </p:nvSpPr>
        <p:spPr>
          <a:xfrm>
            <a:off x="980640" y="186480"/>
            <a:ext cx="893700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РЕКВИЗИТНЫЙ АНАЛИЗ ДОКУМЕНТА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31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7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32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CustomShape 2"/>
          <p:cNvSpPr/>
          <p:nvPr/>
        </p:nvSpPr>
        <p:spPr>
          <a:xfrm>
            <a:off x="560520" y="1187280"/>
            <a:ext cx="11832840" cy="44787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Постоянные реквизиты (остаются неизменными для всех чеков данного продавца):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Наименование продавца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ООО «Альфа»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ИНН продавца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7701123456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Система налогообложения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ОСН (Общая система налогообложения)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Адрес и место расчетов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121000 г. Москва, ул. Лесная д. 8, Деловой центр «АВС», офис 500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Регистрационный номер ККТ (РН ККТ)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0000000012345678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Сайт ФНС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 </a:t>
            </a:r>
            <a:r>
              <a:rPr b="0" lang="ru-RU" sz="2400" spc="-1" strike="noStrike">
                <a:solidFill>
                  <a:srgbClr val="0000ff"/>
                </a:solidFill>
                <a:latin typeface="Times New Roman"/>
                <a:ea typeface="Times New Roman"/>
                <a:hlinkClick r:id="rId1"/>
              </a:rPr>
              <a:t>www.nalog.gov.ru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135" name="CustomShape 3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8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36" name="CustomShape 4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CustomShape 5"/>
          <p:cNvSpPr/>
          <p:nvPr/>
        </p:nvSpPr>
        <p:spPr>
          <a:xfrm>
            <a:off x="980640" y="186480"/>
            <a:ext cx="893700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РЕКВИЗИТНЫЙ АНАЛИЗ ДОКУМЕНТА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CustomShape 2"/>
          <p:cNvSpPr/>
          <p:nvPr/>
        </p:nvSpPr>
        <p:spPr>
          <a:xfrm>
            <a:off x="865080" y="736920"/>
            <a:ext cx="11213280" cy="55760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Переменные реквизиты (уникальны для каждой операции):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Наименование документа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«КАССОВЫЙ ЧЕК»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Признак расчета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Указание типа операции, "ПРИХОД" (получение средств от покупателя).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Наименование товара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Мебельный гарнитур «Вектор»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Количество товара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1.00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Цена за единицу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24 000.00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Стоимость с учетом скидок/наценок (ИТОГ)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24 000.00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Сумма НДС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4 000.00 (выделена отдельной строкой)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Признак предмета расчета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ТОВАР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140" name="CustomShape 3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9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41" name="CustomShape 4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CustomShape 5"/>
          <p:cNvSpPr/>
          <p:nvPr/>
        </p:nvSpPr>
        <p:spPr>
          <a:xfrm>
            <a:off x="980640" y="186480"/>
            <a:ext cx="893700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РЕКВИЗИТНЫЙ АНАЛИЗ ДОКУМЕНТА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CustomShape 2"/>
          <p:cNvSpPr/>
          <p:nvPr/>
        </p:nvSpPr>
        <p:spPr>
          <a:xfrm>
            <a:off x="649080" y="829800"/>
            <a:ext cx="11655720" cy="51796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Признак способа расчета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Полный расчет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Форма оплаты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НАЛИЧНЫМИ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Дата и время расчета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03.03.23 15:30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Фискальные данные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</a:t>
            </a:r>
            <a:endParaRPr b="0" lang="ru-RU" sz="2400" spc="-1" strike="noStrike">
              <a:latin typeface="Arial"/>
            </a:endParaRPr>
          </a:p>
          <a:p>
            <a:pPr lvl="1" marL="743040" indent="-285480" algn="just">
              <a:lnSpc>
                <a:spcPct val="150000"/>
              </a:lnSpc>
              <a:buClr>
                <a:srgbClr val="0f1115"/>
              </a:buClr>
              <a:buFont typeface="Courier New"/>
              <a:buChar char="o"/>
              <a:tabLst>
                <a:tab algn="l" pos="9144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ФН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(номер фискального накопителя): 9897078944322222</a:t>
            </a:r>
            <a:endParaRPr b="0" lang="ru-RU" sz="2400" spc="-1" strike="noStrike">
              <a:latin typeface="Arial"/>
            </a:endParaRPr>
          </a:p>
          <a:p>
            <a:pPr lvl="1" marL="743040" indent="-285480" algn="just">
              <a:lnSpc>
                <a:spcPct val="150000"/>
              </a:lnSpc>
              <a:buClr>
                <a:srgbClr val="0f1115"/>
              </a:buClr>
              <a:buFont typeface="Courier New"/>
              <a:buChar char="o"/>
              <a:tabLst>
                <a:tab algn="l" pos="9144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ФД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(фискальный документ): 181</a:t>
            </a:r>
            <a:endParaRPr b="0" lang="ru-RU" sz="2400" spc="-1" strike="noStrike">
              <a:latin typeface="Arial"/>
            </a:endParaRPr>
          </a:p>
          <a:p>
            <a:pPr lvl="1" marL="743040" indent="-285480" algn="just">
              <a:lnSpc>
                <a:spcPct val="150000"/>
              </a:lnSpc>
              <a:buClr>
                <a:srgbClr val="0f1115"/>
              </a:buClr>
              <a:buFont typeface="Courier New"/>
              <a:buChar char="o"/>
              <a:tabLst>
                <a:tab algn="l" pos="9144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ФПД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(фискальный признак документа): 1438138231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ФИО Кассира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Иванова Анна Ивановна</a:t>
            </a:r>
            <a:endParaRPr b="0" lang="ru-RU" sz="2400" spc="-1" strike="noStrike"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Calibri"/>
              </a:rPr>
              <a:t>Обязательные реквизиты кассового чека регламентируются законодательством РФ.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10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46" name="CustomShape 4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CustomShape 5"/>
          <p:cNvSpPr/>
          <p:nvPr/>
        </p:nvSpPr>
        <p:spPr>
          <a:xfrm>
            <a:off x="980640" y="186480"/>
            <a:ext cx="893700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РЕКВИЗИТНЫЙ АНАЛИЗ ДОКУМЕНТА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CustomShape 2"/>
          <p:cNvSpPr/>
          <p:nvPr/>
        </p:nvSpPr>
        <p:spPr>
          <a:xfrm>
            <a:off x="953640" y="1048680"/>
            <a:ext cx="10886400" cy="46126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В предоставленном чеке присутствуют следующие реквизиты, имеющие финансовое и экономическое значение:</a:t>
            </a:r>
            <a:endParaRPr b="0" lang="ru-RU" sz="22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Финансовые реквизиты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(непосредственно отражают движение денежных средств):</a:t>
            </a:r>
            <a:endParaRPr b="0" lang="ru-RU" sz="22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Цена за единицу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24 000.00 руб. — стоимость одного товара.</a:t>
            </a:r>
            <a:endParaRPr b="0" lang="ru-RU" sz="22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Итоговая сумма (ИТОГ)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24 000.00 руб. — общая сумма денежных средств, полученных от покупателя. Является ключевым финансовым показателем операции.</a:t>
            </a:r>
            <a:endParaRPr b="0" lang="ru-RU" sz="22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Сумма НДС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4 000.00 руб. — сумма налога на добавленную стоимость, подлежащая уплате в бюджет.</a:t>
            </a:r>
            <a:endParaRPr b="0" lang="ru-RU" sz="22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Форма оплаты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НАЛИЧНЫМИ — указывает на форму денежного обращения.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150" name="CustomShape 3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ФИНАНСОВЫЕ И ЭКОНОМИЧЕСКИЕ РЕКВИЗИТЫ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51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11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52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CustomShape 2"/>
          <p:cNvSpPr/>
          <p:nvPr/>
        </p:nvSpPr>
        <p:spPr>
          <a:xfrm>
            <a:off x="406800" y="965160"/>
            <a:ext cx="12139920" cy="51152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Экономические реквизиты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(характеризуют хозяйственную операцию, ее состав и участников):</a:t>
            </a:r>
            <a:endParaRPr b="0" lang="ru-RU" sz="22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Наименование товара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Мебельный гарнитур «Вектор» — объект хозяйственной операции.</a:t>
            </a:r>
            <a:endParaRPr b="0" lang="ru-RU" sz="22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Количество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1.00 — количественная мера товара.</a:t>
            </a:r>
            <a:endParaRPr b="0" lang="ru-RU" sz="22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ИНН продавца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7701123456 — идентификатор экономического субъекта (продавца) для налогового учета.</a:t>
            </a:r>
            <a:endParaRPr b="0" lang="ru-RU" sz="22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Система налогообложения (СНО)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ОСН — определяет порядок налогового учета и расчета налогов.</a:t>
            </a:r>
            <a:endParaRPr b="0" lang="ru-RU" sz="22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Дата и время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03.03.23 15:30 — временная характеристика экономического события.</a:t>
            </a:r>
            <a:endParaRPr b="0" lang="ru-RU" sz="22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Фискальный признак (ФПД)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1438138231 — уникальный идентификатор документа в системе ФНС, гарантирующий его подлинность и неизменность.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155" name="CustomShape 3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ФИНАНСОВЫЕ И ЭКОНОМИЧЕСКИЕ РЕКВИЗИТЫ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56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12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57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CustomShape 2"/>
          <p:cNvSpPr/>
          <p:nvPr/>
        </p:nvSpPr>
        <p:spPr>
          <a:xfrm>
            <a:off x="435240" y="833760"/>
            <a:ext cx="12083400" cy="55731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Процесс работы с кассовым чеком в общем случае включает несколько этапов, как со стороны продавца, так и со стороны покупателя. </a:t>
            </a:r>
            <a:endParaRPr b="0" lang="ru-RU" sz="2200" spc="-1" strike="noStrike">
              <a:latin typeface="Arial"/>
            </a:endParaRPr>
          </a:p>
          <a:p>
            <a:pPr marL="457200" indent="-456840" algn="just">
              <a:lnSpc>
                <a:spcPct val="150000"/>
              </a:lnSpc>
              <a:buClr>
                <a:srgbClr val="0f1115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Инициирование покупки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Покупатель выбирает товар и предъявляет его кассиру для оплаты.</a:t>
            </a:r>
            <a:endParaRPr b="0" lang="ru-RU" sz="2200" spc="-1" strike="noStrike">
              <a:latin typeface="Arial"/>
            </a:endParaRPr>
          </a:p>
          <a:p>
            <a:pPr marL="457200" indent="-456840" algn="just">
              <a:lnSpc>
                <a:spcPct val="150000"/>
              </a:lnSpc>
              <a:buClr>
                <a:srgbClr val="0f1115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Регистрация товара в системе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Кассир с помощью сканера или вручную вносит информацию о товаре (его наименование, цену, количество) в кассовое программное обеспечение. В данном случае, товар один, поэтому процесс прост.</a:t>
            </a:r>
            <a:endParaRPr b="0" lang="ru-RU" sz="2200" spc="-1" strike="noStrike">
              <a:latin typeface="Arial"/>
            </a:endParaRPr>
          </a:p>
          <a:p>
            <a:pPr marL="457200" indent="-456840" algn="just">
              <a:lnSpc>
                <a:spcPct val="150000"/>
              </a:lnSpc>
              <a:buClr>
                <a:srgbClr val="0f1115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Формирование итога чека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Кассовая программа автоматически рассчитывает итоговую сумму покупки, включая налоги (НДС), и отображает ее для покупателя.</a:t>
            </a:r>
            <a:endParaRPr b="0" lang="ru-RU" sz="2200" spc="-1" strike="noStrike">
              <a:latin typeface="Arial"/>
            </a:endParaRPr>
          </a:p>
          <a:p>
            <a:pPr marL="457200" indent="-456840" algn="just">
              <a:lnSpc>
                <a:spcPct val="150000"/>
              </a:lnSpc>
              <a:buClr>
                <a:srgbClr val="0f1115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Осуществление оплаты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Покупатель производит оплату наличными денежными средствами. Кассир принимает деньги.</a:t>
            </a:r>
            <a:endParaRPr b="0" lang="ru-RU" sz="22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160" name="CustomShape 3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ОПИСАНИЕ ПРОЦЕССА РАБОТЫ С ДОКУМЕНТОМ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61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13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62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CustomShape 2"/>
          <p:cNvSpPr/>
          <p:nvPr/>
        </p:nvSpPr>
        <p:spPr>
          <a:xfrm>
            <a:off x="861480" y="995760"/>
            <a:ext cx="11230560" cy="51152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Calibri"/>
              <a:buAutoNum type="arabicPeriod" startAt="5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Фискализация и печать чека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После внесения суммы оплаты, кассир закрывает чек. Контрольно-кассовая техника (ККТ) передает данные о чеке в фискальный накопитель, который формирует фискальные признаки (ФД, ФПД). Затем ККТ печатает чек на бумажном носителе.</a:t>
            </a:r>
            <a:endParaRPr b="0" lang="ru-RU" sz="22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Calibri"/>
              <a:buAutoNum type="arabicPeriod" startAt="5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Передача чека покупателю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Кассир отдает покупателю бумажный чек, который служит единственным подтверждением покупки при расчете наличными.</a:t>
            </a:r>
            <a:endParaRPr b="0" lang="ru-RU" sz="22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Calibri"/>
              <a:buAutoNum type="arabicPeriod" startAt="5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Передача данных в ФНС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Фискальный накопитель хранит данные о всех операциях и периодически (в соответствии с настройками) передает их оператору фискальных данных (ОФД), который, в свою очередь, направляет их в Федеральную налоговую службу (ФНС).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165" name="CustomShape 3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ОПИСАНИЕ ПРОЦЕССА РАБОТЫ С ДОКУМЕНТОМ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66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14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67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CustomShape 2"/>
          <p:cNvSpPr/>
          <p:nvPr/>
        </p:nvSpPr>
        <p:spPr>
          <a:xfrm>
            <a:off x="154800" y="851760"/>
            <a:ext cx="12643920" cy="58356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n-US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	</a:t>
            </a:r>
            <a:r>
              <a:rPr b="1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BPMN 2.0 (Business Process Model and Notation)</a:t>
            </a:r>
            <a:r>
              <a:rPr b="0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— это международный стандарт моделирования бизнес-процессов, разработанный для создания понятных и единообразных схем, описывающих последовательность действий, роли участников и потоки информации в организации.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	</a:t>
            </a:r>
            <a:r>
              <a:rPr b="0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Основная цель BPMN 2.0 — создать универсальный язык общения между разными участниками процесса: бизнес-аналитиками, разработчиками, менеджерами и исполнителями. Стандарт позволяет :</a:t>
            </a:r>
            <a:endParaRPr b="0" lang="ru-RU" sz="20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Arial"/>
              <a:buChar char="•"/>
              <a:tabLst>
                <a:tab algn="l" pos="457200"/>
              </a:tabLst>
            </a:pPr>
            <a:r>
              <a:rPr b="1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Визуализировать процессы</a:t>
            </a:r>
            <a:r>
              <a:rPr b="0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— наглядно представить, как работает тот или иной процесс от начала до конца.</a:t>
            </a:r>
            <a:endParaRPr b="0" lang="ru-RU" sz="20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Arial"/>
              <a:buChar char="•"/>
              <a:tabLst>
                <a:tab algn="l" pos="457200"/>
              </a:tabLst>
            </a:pPr>
            <a:r>
              <a:rPr b="1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Устранить неоднозначности</a:t>
            </a:r>
            <a:r>
              <a:rPr b="0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— графические схемы понятнее текстовых описаний и исключают разночтения.</a:t>
            </a:r>
            <a:endParaRPr b="0" lang="ru-RU" sz="20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Arial"/>
              <a:buChar char="•"/>
              <a:tabLst>
                <a:tab algn="l" pos="457200"/>
              </a:tabLst>
            </a:pPr>
            <a:r>
              <a:rPr b="1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Связать бизнес и IT</a:t>
            </a:r>
            <a:r>
              <a:rPr b="0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— диаграммы BPMN могут быть преобразованы в исполняемый код (XML) для движков бизнес-процессов .</a:t>
            </a:r>
            <a:endParaRPr b="0" lang="ru-RU" sz="20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Arial"/>
              <a:buChar char="•"/>
              <a:tabLst>
                <a:tab algn="l" pos="457200"/>
              </a:tabLst>
            </a:pPr>
            <a:r>
              <a:rPr b="1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Оптимизировать деятельность</a:t>
            </a:r>
            <a:r>
              <a:rPr b="0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— выявлять узкие места, дублирование функций и возможности для автоматизации.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99"/>
              </a:spcBef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</p:txBody>
      </p:sp>
      <p:sp>
        <p:nvSpPr>
          <p:cNvPr id="170" name="CustomShape 3"/>
          <p:cNvSpPr/>
          <p:nvPr/>
        </p:nvSpPr>
        <p:spPr>
          <a:xfrm>
            <a:off x="893880" y="18108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ИЗУЧЕНИЕ НАЗНАЧЕНИЯ И ОСОБЕННОСТЕЙ </a:t>
            </a:r>
            <a:r>
              <a:rPr b="1" lang="en-US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BPMN 2.0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71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15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72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CustomShape 2"/>
          <p:cNvSpPr/>
          <p:nvPr/>
        </p:nvSpPr>
        <p:spPr>
          <a:xfrm>
            <a:off x="765720" y="1187280"/>
            <a:ext cx="11063520" cy="44787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	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BPMN был изначально разработан организацией BPMI.org в 2004 году. В 2005 году BPMI объединилась с Object Management Group (OMG), которая взяла на себя дальнейшее развитие стандарта. Версия </a:t>
            </a: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BPMN 2.0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 была выпущена в 2011 году и стала важным этапом развития, так как ввела не только графическую нотацию, но и формальную метамодель, а также формат обмена данными.</a:t>
            </a:r>
            <a:endParaRPr b="0" lang="ru-RU" sz="24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В 2013 году BPMN 2.0 получил официальное признание как международный стандарт ISO </a:t>
            </a: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ISO/IEC 19510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, что подтверждает его глобальное значение и применение в различных отраслях.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934200" y="18972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ИСТОРИЯ И СТАНДАРТИЗАЦИЯ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76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16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77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CustomShape 2"/>
          <p:cNvSpPr/>
          <p:nvPr/>
        </p:nvSpPr>
        <p:spPr>
          <a:xfrm>
            <a:off x="154800" y="851760"/>
            <a:ext cx="12643920" cy="7779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7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ru-RU" sz="1800" spc="-1" strike="noStrike">
                <a:solidFill>
                  <a:srgbClr val="0f1115"/>
                </a:solidFill>
                <a:latin typeface="Times New Roman"/>
                <a:ea typeface="Calibri"/>
              </a:rPr>
              <a:t>1. Четыре основные категории элементов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Нотация BPMN 2.0 включает более 100 различных символов, но все они группируются в четыре основные категории: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80" name="CustomShape 3"/>
          <p:cNvSpPr/>
          <p:nvPr/>
        </p:nvSpPr>
        <p:spPr>
          <a:xfrm>
            <a:off x="943920" y="17928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КЛЮЧЕВЫЕ ОСОБЕННОСТИ </a:t>
            </a:r>
            <a:r>
              <a:rPr b="1" lang="en-US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BPMN 2.0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81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17</a:t>
            </a:r>
            <a:endParaRPr b="0" lang="ru-RU" sz="2000" spc="-1" strike="noStrike">
              <a:latin typeface="Arial"/>
            </a:endParaRPr>
          </a:p>
        </p:txBody>
      </p:sp>
      <p:graphicFrame>
        <p:nvGraphicFramePr>
          <p:cNvPr id="182" name="Table 5"/>
          <p:cNvGraphicFramePr/>
          <p:nvPr/>
        </p:nvGraphicFramePr>
        <p:xfrm>
          <a:off x="602280" y="1768680"/>
          <a:ext cx="11749320" cy="4255920"/>
        </p:xfrm>
        <a:graphic>
          <a:graphicData uri="http://schemas.openxmlformats.org/drawingml/2006/table">
            <a:tbl>
              <a:tblPr/>
              <a:tblGrid>
                <a:gridCol w="3578760"/>
                <a:gridCol w="3441240"/>
                <a:gridCol w="4729320"/>
              </a:tblGrid>
              <a:tr h="411840">
                <a:tc>
                  <a:txBody>
                    <a:bodyPr lIns="68040" rIns="6804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Категория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040" marR="680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68040" rIns="6804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Описание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040" marR="680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68040" rIns="6804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Примеры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040" marR="680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</a:tr>
              <a:tr h="1234800">
                <a:tc>
                  <a:txBody>
                    <a:bodyPr lIns="68040" rIns="6804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Объекты потока (Flow Objects)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040" marR="680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040" rIns="6804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Основные строительные блоки, определяющие поведение процесса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040" marR="680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040" rIns="6804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События (круги), действия (прямоугольники со скруглениями), шлюзы (ромбы)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040" marR="680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62640">
                <a:tc>
                  <a:txBody>
                    <a:bodyPr lIns="68040" rIns="6804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Соединяющие объекты (Connecting Objects)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040" marR="680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040" rIns="6804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Показывают, как элементы связаны между собой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040" marR="680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040" rIns="6804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Поток управления (сплошная стрелка), поток сообщений (пунктирная), ассоциации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040" marR="680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23320">
                <a:tc>
                  <a:txBody>
                    <a:bodyPr lIns="68040" rIns="6804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Зоны ответственности (Swimlanes)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040" marR="680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040" rIns="6804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Группируют действия по исполнителям или отделам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040" marR="680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040" rIns="6804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Пулы (целые организации) и дорожки (роли внутри пула)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040" marR="680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23320">
                <a:tc>
                  <a:txBody>
                    <a:bodyPr lIns="68040" rIns="6804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Артефакты (Artifacts)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040" marR="680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040" rIns="6804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Добавляют дополнительную информацию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040" marR="680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040" rIns="6804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Объекты данных, группы, текстовые аннотации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040" marR="680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3" name="CustomShape 6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CustomShape 2"/>
          <p:cNvSpPr/>
          <p:nvPr/>
        </p:nvSpPr>
        <p:spPr>
          <a:xfrm>
            <a:off x="154800" y="1024200"/>
            <a:ext cx="12643920" cy="50680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7000"/>
              </a:lnSpc>
              <a:spcBef>
                <a:spcPts val="1199"/>
              </a:spcBef>
              <a:spcAft>
                <a:spcPts val="799"/>
              </a:spcAft>
              <a:tabLst>
                <a:tab algn="l" pos="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Times New Roman"/>
                <a:ea typeface="Calibri"/>
              </a:rPr>
              <a:t>2. Исполняемость и переносимость</a:t>
            </a:r>
            <a:endParaRPr b="0" lang="ru-RU" sz="24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В отличие от предыдущих версий, BPMN 2.0 определяет не только графическую нотацию, но и формальный XML-формат для обмена моделями между различными инструментами. Это означает, что процесс, созданный в одном редакторе (например, Camunda Modeler), может быть открыт в другом (например, Bizagi) и даже исполнен на движке бизнес-процессов.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7000"/>
              </a:lnSpc>
              <a:spcBef>
                <a:spcPts val="1199"/>
              </a:spcBef>
              <a:spcAft>
                <a:spcPts val="799"/>
              </a:spcAft>
              <a:tabLst>
                <a:tab algn="l" pos="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Times New Roman"/>
                <a:ea typeface="Calibri"/>
              </a:rPr>
              <a:t>3. Расширяемость</a:t>
            </a:r>
            <a:endParaRPr b="0" lang="ru-RU" sz="24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Стандарт предусматривает возможность расширения за счет добавления собственных атрибутов и элементов, что позволяет адаптировать его под специфические нужды организаций, сохраняя совместимость с базовым стандартом.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186" name="CustomShape 3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КЛЮЧЕВЫЕ ОСОБЕННОСТИ </a:t>
            </a:r>
            <a:r>
              <a:rPr b="1" lang="en-US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BPMN 2.0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87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18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88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CustomShape 2"/>
          <p:cNvSpPr/>
          <p:nvPr/>
        </p:nvSpPr>
        <p:spPr>
          <a:xfrm>
            <a:off x="565200" y="1233000"/>
            <a:ext cx="10935720" cy="49874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7000"/>
              </a:lnSpc>
              <a:spcBef>
                <a:spcPts val="1199"/>
              </a:spcBef>
              <a:spcAft>
                <a:spcPts val="799"/>
              </a:spcAft>
              <a:tabLst>
                <a:tab algn="l" pos="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Times New Roman"/>
                <a:ea typeface="Calibri"/>
              </a:rPr>
              <a:t>4. Поддержка различных уровней детализации</a:t>
            </a:r>
            <a:endParaRPr b="0" lang="ru-RU" sz="24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BPMN 2.0 позволяет создавать модели с разной степенью детализации в зависимости от целевой аудитории: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Для менеджмента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— общие схемы верхнего уровня, показывающие основные этапы.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Для бизнес-аналитиков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— детализированные модели с условиями и исключениями.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Для разработчиков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— исполняемые модели с техническими деталями.</a:t>
            </a:r>
            <a:endParaRPr b="0" lang="ru-RU" sz="2400" spc="-1" strike="noStrike"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99"/>
              </a:spcBef>
              <a:tabLst>
                <a:tab algn="l" pos="0"/>
              </a:tabLst>
            </a:pPr>
            <a:endParaRPr b="0" lang="ru-RU" sz="2400" spc="-1" strike="noStrike">
              <a:latin typeface="Arial"/>
            </a:endParaRPr>
          </a:p>
        </p:txBody>
      </p:sp>
      <p:sp>
        <p:nvSpPr>
          <p:cNvPr id="191" name="CustomShape 3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КЛЮЧЕВЫЕ ОСОБЕННОСТИ </a:t>
            </a:r>
            <a:r>
              <a:rPr b="1" lang="en-US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BPMN 2.0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92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19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93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CustomShape 2"/>
          <p:cNvSpPr/>
          <p:nvPr/>
        </p:nvSpPr>
        <p:spPr>
          <a:xfrm>
            <a:off x="953640" y="1604160"/>
            <a:ext cx="10895040" cy="39279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Стандартизация</a:t>
            </a:r>
            <a:r>
              <a:rPr b="0" lang="ru-RU" sz="2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— единый язык понятен всем участникам,</a:t>
            </a:r>
            <a:endParaRPr b="0" lang="ru-RU" sz="2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Интуитивность</a:t>
            </a:r>
            <a:r>
              <a:rPr b="0" lang="ru-RU" sz="2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— даже нетехнические специалисты могут читать диаграммы,</a:t>
            </a:r>
            <a:endParaRPr b="0" lang="ru-RU" sz="2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Межфункциональное взаимодействие</a:t>
            </a:r>
            <a:r>
              <a:rPr b="0" lang="ru-RU" sz="2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— объединяет бизнес и IT,</a:t>
            </a:r>
            <a:endParaRPr b="0" lang="ru-RU" sz="2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Масштабируемость</a:t>
            </a:r>
            <a:r>
              <a:rPr b="0" lang="ru-RU" sz="2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— подходит для простых и сверхсложных процессов.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96" name="CustomShape 3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ПРИЕМУЩЕСТВА ИСПОЛЬЗОВАНИЯ </a:t>
            </a:r>
            <a:r>
              <a:rPr b="1" lang="en-US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BPMN 2.0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97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20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98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Рисунок 8" descr=""/>
          <p:cNvPicPr/>
          <p:nvPr/>
        </p:nvPicPr>
        <p:blipFill>
          <a:blip r:embed="rId1"/>
          <a:srcRect l="3870" t="8249" r="3455" b="39207"/>
          <a:stretch/>
        </p:blipFill>
        <p:spPr>
          <a:xfrm>
            <a:off x="363240" y="3715560"/>
            <a:ext cx="12227040" cy="2979720"/>
          </a:xfrm>
          <a:prstGeom prst="rect">
            <a:avLst/>
          </a:prstGeom>
          <a:ln>
            <a:noFill/>
          </a:ln>
        </p:spPr>
      </p:pic>
      <p:sp>
        <p:nvSpPr>
          <p:cNvPr id="200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CustomShape 2"/>
          <p:cNvSpPr/>
          <p:nvPr/>
        </p:nvSpPr>
        <p:spPr>
          <a:xfrm>
            <a:off x="154800" y="690840"/>
            <a:ext cx="12643920" cy="13240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Для наглядного представления процесса работы с кассовым чеком была выбрана нотация BPMN 2.0. В качестве инструмента моделирования использовался онлайн-сервис Stormbpmn.</a:t>
            </a:r>
            <a:endParaRPr b="0" lang="ru-RU" sz="18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                                                                                                                  </a:t>
            </a:r>
            <a:r>
              <a:rPr b="1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Основные элементы диаграммы: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02" name="CustomShape 3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МОДЕЛИРОВАНИЕ ПРОЦЕССА В НОТАЦИИ </a:t>
            </a:r>
            <a:r>
              <a:rPr b="1" lang="en-US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BPMN 2.0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03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21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204" name="CustomShape 5"/>
          <p:cNvSpPr/>
          <p:nvPr/>
        </p:nvSpPr>
        <p:spPr>
          <a:xfrm>
            <a:off x="2927520" y="1941480"/>
            <a:ext cx="8664480" cy="23270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85840" indent="-285480" algn="r">
              <a:lnSpc>
                <a:spcPct val="150000"/>
              </a:lnSpc>
              <a:buClr>
                <a:srgbClr val="0f1115"/>
              </a:buClr>
              <a:buFont typeface="Arial"/>
              <a:buChar char="•"/>
              <a:tabLst>
                <a:tab algn="l" pos="457200"/>
              </a:tabLst>
            </a:pPr>
            <a:r>
              <a:rPr b="1" lang="ru-RU" sz="16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Участники процесса (Pools)</a:t>
            </a:r>
            <a:r>
              <a:rPr b="0" lang="ru-RU" sz="16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 «Покупатель», «Кассир», «Кассовый аппарат (ККТ)».</a:t>
            </a:r>
            <a:endParaRPr b="0" lang="ru-RU" sz="1600" spc="-1" strike="noStrike">
              <a:latin typeface="Arial"/>
            </a:endParaRPr>
          </a:p>
          <a:p>
            <a:pPr marL="285840" indent="-285480" algn="r">
              <a:lnSpc>
                <a:spcPct val="150000"/>
              </a:lnSpc>
              <a:buClr>
                <a:srgbClr val="0f1115"/>
              </a:buClr>
              <a:buFont typeface="Arial"/>
              <a:buChar char="•"/>
              <a:tabLst>
                <a:tab algn="l" pos="457200"/>
              </a:tabLst>
            </a:pPr>
            <a:r>
              <a:rPr b="1" lang="ru-RU" sz="16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События (Events)</a:t>
            </a:r>
            <a:r>
              <a:rPr b="0" lang="ru-RU" sz="16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</a:t>
            </a:r>
            <a:endParaRPr b="0" lang="ru-RU" sz="1600" spc="-1" strike="noStrike">
              <a:latin typeface="Arial"/>
            </a:endParaRPr>
          </a:p>
          <a:p>
            <a:pPr lvl="1" marL="743040" indent="-285480" algn="r">
              <a:lnSpc>
                <a:spcPct val="150000"/>
              </a:lnSpc>
              <a:buClr>
                <a:srgbClr val="0f1115"/>
              </a:buClr>
              <a:buFont typeface="Courier New"/>
              <a:buChar char="o"/>
              <a:tabLst>
                <a:tab algn="l" pos="914400"/>
              </a:tabLst>
            </a:pPr>
            <a:r>
              <a:rPr b="0" i="1" lang="ru-RU" sz="16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Стартовое:</a:t>
            </a:r>
            <a:r>
              <a:rPr b="0" lang="ru-RU" sz="16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«Товар выбран для покупки»</a:t>
            </a:r>
            <a:endParaRPr b="0" lang="ru-RU" sz="1600" spc="-1" strike="noStrike">
              <a:latin typeface="Arial"/>
            </a:endParaRPr>
          </a:p>
          <a:p>
            <a:pPr lvl="1" marL="743040" indent="-285480" algn="r">
              <a:lnSpc>
                <a:spcPct val="150000"/>
              </a:lnSpc>
              <a:buClr>
                <a:srgbClr val="0f1115"/>
              </a:buClr>
              <a:buFont typeface="Courier New"/>
              <a:buChar char="o"/>
              <a:tabLst>
                <a:tab algn="l" pos="914400"/>
              </a:tabLst>
            </a:pPr>
            <a:r>
              <a:rPr b="0" i="1" lang="ru-RU" sz="16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Промежуточные:</a:t>
            </a:r>
            <a:r>
              <a:rPr b="0" lang="ru-RU" sz="16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«Оплата наличными получена»</a:t>
            </a:r>
            <a:endParaRPr b="0" lang="ru-RU" sz="1600" spc="-1" strike="noStrike">
              <a:latin typeface="Arial"/>
            </a:endParaRPr>
          </a:p>
          <a:p>
            <a:pPr lvl="1" marL="743040" indent="-285480" algn="r">
              <a:lnSpc>
                <a:spcPct val="150000"/>
              </a:lnSpc>
              <a:buClr>
                <a:srgbClr val="0f1115"/>
              </a:buClr>
              <a:buFont typeface="Courier New"/>
              <a:buChar char="o"/>
              <a:tabLst>
                <a:tab algn="l" pos="914400"/>
              </a:tabLst>
            </a:pPr>
            <a:r>
              <a:rPr b="0" i="1" lang="ru-RU" sz="16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Конечное:</a:t>
            </a:r>
            <a:r>
              <a:rPr b="0" lang="ru-RU" sz="16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«Чек получен покупателем»</a:t>
            </a:r>
            <a:endParaRPr b="0" lang="ru-RU" sz="1600" spc="-1" strike="noStrike">
              <a:latin typeface="Arial"/>
            </a:endParaRPr>
          </a:p>
          <a:p>
            <a:pPr algn="ctr">
              <a:lnSpc>
                <a:spcPct val="150000"/>
              </a:lnSpc>
              <a:tabLst>
                <a:tab algn="l" pos="0"/>
              </a:tabLst>
            </a:pPr>
            <a:endParaRPr b="0" lang="ru-RU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CustomShape 2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МОДЕЛИРОВАНИЕ ПРОЦЕССА В НОТАЦИИ </a:t>
            </a:r>
            <a:r>
              <a:rPr b="1" lang="en-US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BPMN 2.0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07" name="CustomShape 3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22</a:t>
            </a:r>
            <a:endParaRPr b="0" lang="ru-RU" sz="2000" spc="-1" strike="noStrike">
              <a:latin typeface="Arial"/>
            </a:endParaRPr>
          </a:p>
        </p:txBody>
      </p:sp>
      <p:pic>
        <p:nvPicPr>
          <p:cNvPr id="208" name="Рисунок 6" descr=""/>
          <p:cNvPicPr/>
          <p:nvPr/>
        </p:nvPicPr>
        <p:blipFill>
          <a:blip r:embed="rId1"/>
          <a:srcRect l="3870" t="8242" r="3456" b="39505"/>
          <a:stretch/>
        </p:blipFill>
        <p:spPr>
          <a:xfrm>
            <a:off x="235800" y="4317840"/>
            <a:ext cx="9812520" cy="2377440"/>
          </a:xfrm>
          <a:prstGeom prst="rect">
            <a:avLst/>
          </a:prstGeom>
          <a:ln>
            <a:noFill/>
          </a:ln>
        </p:spPr>
      </p:pic>
      <p:sp>
        <p:nvSpPr>
          <p:cNvPr id="209" name="CustomShape 4"/>
          <p:cNvSpPr/>
          <p:nvPr/>
        </p:nvSpPr>
        <p:spPr>
          <a:xfrm>
            <a:off x="-2520" y="601200"/>
            <a:ext cx="6478920" cy="2558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Задачи (Tasks)</a:t>
            </a: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</a:t>
            </a:r>
            <a:endParaRPr b="0" lang="ru-RU" sz="1800" spc="-1" strike="noStrike">
              <a:latin typeface="Arial"/>
            </a:endParaRPr>
          </a:p>
          <a:p>
            <a:pPr lvl="1" marL="743040" indent="-285480" algn="just">
              <a:lnSpc>
                <a:spcPct val="150000"/>
              </a:lnSpc>
              <a:buClr>
                <a:srgbClr val="0f1115"/>
              </a:buClr>
              <a:buFont typeface="Courier New"/>
              <a:buChar char="o"/>
              <a:tabLst>
                <a:tab algn="l" pos="9144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«Внести/считать товар» (для Кассира)</a:t>
            </a:r>
            <a:endParaRPr b="0" lang="ru-RU" sz="1800" spc="-1" strike="noStrike">
              <a:latin typeface="Arial"/>
            </a:endParaRPr>
          </a:p>
          <a:p>
            <a:pPr lvl="1" marL="743040" indent="-285480" algn="just">
              <a:lnSpc>
                <a:spcPct val="150000"/>
              </a:lnSpc>
              <a:buClr>
                <a:srgbClr val="0f1115"/>
              </a:buClr>
              <a:buFont typeface="Courier New"/>
              <a:buChar char="o"/>
              <a:tabLst>
                <a:tab algn="l" pos="9144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«Рассчитать итоговую сумму» (для ККТ)</a:t>
            </a:r>
            <a:endParaRPr b="0" lang="ru-RU" sz="1800" spc="-1" strike="noStrike">
              <a:latin typeface="Arial"/>
            </a:endParaRPr>
          </a:p>
          <a:p>
            <a:pPr lvl="1" marL="743040" indent="-285480" algn="just">
              <a:lnSpc>
                <a:spcPct val="150000"/>
              </a:lnSpc>
              <a:buClr>
                <a:srgbClr val="0f1115"/>
              </a:buClr>
              <a:buFont typeface="Courier New"/>
              <a:buChar char="o"/>
              <a:tabLst>
                <a:tab algn="l" pos="9144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«Принять наличные» (для Кассира)</a:t>
            </a:r>
            <a:endParaRPr b="0" lang="ru-RU" sz="1800" spc="-1" strike="noStrike">
              <a:latin typeface="Arial"/>
            </a:endParaRPr>
          </a:p>
          <a:p>
            <a:pPr lvl="1" marL="743040" indent="-285480" algn="just">
              <a:lnSpc>
                <a:spcPct val="150000"/>
              </a:lnSpc>
              <a:buClr>
                <a:srgbClr val="0f1115"/>
              </a:buClr>
              <a:buFont typeface="Courier New"/>
              <a:buChar char="o"/>
              <a:tabLst>
                <a:tab algn="l" pos="9144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«Зафиксировать оплату и напечатать чек» (для ККТ)</a:t>
            </a:r>
            <a:endParaRPr b="0" lang="ru-RU" sz="1800" spc="-1" strike="noStrike">
              <a:latin typeface="Arial"/>
            </a:endParaRPr>
          </a:p>
          <a:p>
            <a:pPr lvl="1" marL="743040" indent="-285480" algn="just">
              <a:lnSpc>
                <a:spcPct val="150000"/>
              </a:lnSpc>
              <a:buClr>
                <a:srgbClr val="0f1115"/>
              </a:buClr>
              <a:buFont typeface="Courier New"/>
              <a:buChar char="o"/>
              <a:tabLst>
                <a:tab algn="l" pos="9144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«Передать чек покупателю» (для Кассира)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10" name="CustomShape 5"/>
          <p:cNvSpPr/>
          <p:nvPr/>
        </p:nvSpPr>
        <p:spPr>
          <a:xfrm>
            <a:off x="6317280" y="702360"/>
            <a:ext cx="4881240" cy="17355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Шлюзы (Gateways)</a:t>
            </a: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Использовался простой поток, без ветвлений.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Потоки данных (Data Objects)</a:t>
            </a: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: «Информация о товаре», «Чек».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11" name="CustomShape 6"/>
          <p:cNvSpPr/>
          <p:nvPr/>
        </p:nvSpPr>
        <p:spPr>
          <a:xfrm>
            <a:off x="5925240" y="2979360"/>
            <a:ext cx="6665040" cy="17355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5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Кассир и кассовый аппарат выполняют последовательные операции по регистрации товара, расчету, приему оплаты и печати чека, который в итоге передается покупателю, </a:t>
            </a:r>
            <a:endParaRPr b="0" lang="ru-RU" sz="1800" spc="-1" strike="noStrike">
              <a:latin typeface="Arial"/>
            </a:endParaRPr>
          </a:p>
          <a:p>
            <a:pPr algn="r">
              <a:lnSpc>
                <a:spcPct val="15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завершая процесс.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12" name="CustomShape 7"/>
          <p:cNvSpPr/>
          <p:nvPr/>
        </p:nvSpPr>
        <p:spPr>
          <a:xfrm>
            <a:off x="6356880" y="2435760"/>
            <a:ext cx="6233400" cy="6390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На диаграмме видно взаимодействие трех участников. Процесс начинается с действия покупателя. 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CustomShape 2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ПРОЕКТИРОВАНИЕ БАЗЫ ДАННЫХ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15" name="CustomShape 3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23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216" name="CustomShape 4"/>
          <p:cNvSpPr/>
          <p:nvPr/>
        </p:nvSpPr>
        <p:spPr>
          <a:xfrm>
            <a:off x="821160" y="965160"/>
            <a:ext cx="10967400" cy="51152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Для хранения информации о кассовых чеках была спроектирована реляционная база данных на трех уровнях абстракции.</a:t>
            </a:r>
            <a:endParaRPr b="0" lang="ru-RU" sz="22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1. Концептуальная модель (инфологическая)</a:t>
            </a:r>
            <a:endParaRPr b="0" lang="ru-RU" sz="22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Концептуальная модель отвечает на вопрос </a:t>
            </a:r>
            <a:r>
              <a:rPr b="1" lang="ru-RU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«Что храним?»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. Она не зависит от конкретной СУБД и показывает основные сущности (объекты) и связи между ними.</a:t>
            </a:r>
            <a:endParaRPr b="0" lang="ru-RU" sz="22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Сущность «Чек»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— содержит общую информацию о фискальном документе </a:t>
            </a:r>
            <a:endParaRPr b="0" lang="ru-RU" sz="22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Сущность «Позиция чека»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— содержит информацию о каждой купленной товарной позиции </a:t>
            </a:r>
            <a:endParaRPr b="0" lang="ru-RU" sz="22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Сущность «Продавец»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— содержит реквизиты организации-продавца </a:t>
            </a:r>
            <a:endParaRPr b="0" lang="ru-RU" sz="22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1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Сущность «Кассир»</a:t>
            </a:r>
            <a:r>
              <a:rPr b="0" lang="ru-RU" sz="22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— содержит информацию о сотруднике, оформившем чек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217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CustomShape 2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ПРОЕКТИРОВАНИЕ БАЗЫ ДАННЫХ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20" name="CustomShape 3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24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221" name="CustomShape 4"/>
          <p:cNvSpPr/>
          <p:nvPr/>
        </p:nvSpPr>
        <p:spPr>
          <a:xfrm>
            <a:off x="162000" y="870120"/>
            <a:ext cx="3677040" cy="4561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400" spc="-1" strike="noStrike">
                <a:solidFill>
                  <a:srgbClr val="a30236"/>
                </a:solidFill>
                <a:latin typeface="Times New Roman"/>
                <a:ea typeface="Calibri"/>
              </a:rPr>
              <a:t>Сущности и их атрибуты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222" name="CustomShape 5"/>
          <p:cNvSpPr/>
          <p:nvPr/>
        </p:nvSpPr>
        <p:spPr>
          <a:xfrm>
            <a:off x="404280" y="1332000"/>
            <a:ext cx="3912840" cy="28335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i="1" lang="ru-RU" sz="1800" spc="-1" strike="noStrike" u="sng">
                <a:solidFill>
                  <a:srgbClr val="0f1115"/>
                </a:solidFill>
                <a:uFillTx/>
                <a:latin typeface="Times New Roman"/>
                <a:ea typeface="Times New Roman"/>
              </a:rPr>
              <a:t>Сущность «Продавец» (Seller)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Идентификатор продавца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Наименование организации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ИНН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Адрес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Система налогообложения (СНО)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Calibri"/>
              </a:rPr>
              <a:t>Регистрационный номер ККТ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23" name="CustomShape 6"/>
          <p:cNvSpPr/>
          <p:nvPr/>
        </p:nvSpPr>
        <p:spPr>
          <a:xfrm>
            <a:off x="404280" y="4601520"/>
            <a:ext cx="3794760" cy="13240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i="1" lang="ru-RU" sz="1800" spc="-1" strike="noStrike" u="sng">
                <a:solidFill>
                  <a:srgbClr val="0f1115"/>
                </a:solidFill>
                <a:uFillTx/>
                <a:latin typeface="Times New Roman"/>
                <a:ea typeface="Times New Roman"/>
              </a:rPr>
              <a:t>Сущность «Кассир» (Cashier)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Идентификатор кассира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ФИО кассира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24" name="CustomShape 7"/>
          <p:cNvSpPr/>
          <p:nvPr/>
        </p:nvSpPr>
        <p:spPr>
          <a:xfrm>
            <a:off x="4651920" y="1281960"/>
            <a:ext cx="4620960" cy="42044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i="1" lang="ru-RU" sz="1800" spc="-1" strike="noStrike" u="sng">
                <a:solidFill>
                  <a:srgbClr val="0f1115"/>
                </a:solidFill>
                <a:uFillTx/>
                <a:latin typeface="Times New Roman"/>
                <a:ea typeface="Times New Roman"/>
              </a:rPr>
              <a:t>Сущность «Чек» (Receipt)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Идентификатор чека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Дата и время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Итоговая сумма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Сумма НДС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Форма оплаты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Фискальный признак </a:t>
            </a:r>
            <a:endParaRPr b="0" lang="ru-RU" sz="18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документа (ФПД)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Ссылка на продавца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Ссылка на кассира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25" name="CustomShape 8"/>
          <p:cNvSpPr/>
          <p:nvPr/>
        </p:nvSpPr>
        <p:spPr>
          <a:xfrm>
            <a:off x="8412840" y="1281960"/>
            <a:ext cx="4424040" cy="2558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i="1" lang="ru-RU" sz="1800" spc="-1" strike="noStrike" u="sng">
                <a:solidFill>
                  <a:srgbClr val="0f1115"/>
                </a:solidFill>
                <a:uFillTx/>
                <a:latin typeface="Times New Roman"/>
                <a:ea typeface="Times New Roman"/>
              </a:rPr>
              <a:t>Сущность «Позиция чека» (Receipt_Item)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Идентификатор позиции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Наименование товара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Количество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Цена за единицу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Ссылка на чек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26" name="CustomShape 9"/>
          <p:cNvSpPr/>
          <p:nvPr/>
        </p:nvSpPr>
        <p:spPr>
          <a:xfrm>
            <a:off x="7437960" y="4088880"/>
            <a:ext cx="5284440" cy="21121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  <a:spcAft>
                <a:spcPts val="799"/>
              </a:spcAft>
              <a:tabLst>
                <a:tab algn="l" pos="0"/>
              </a:tabLst>
            </a:pPr>
            <a:r>
              <a:rPr b="1" lang="ru-RU" sz="1800" spc="-1" strike="noStrike" u="sng">
                <a:solidFill>
                  <a:srgbClr val="000000"/>
                </a:solidFill>
                <a:uFillTx/>
                <a:latin typeface="Times New Roman"/>
                <a:ea typeface="Calibri"/>
              </a:rPr>
              <a:t>Связи: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0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Один чек может содержать одну или несколько позиций (связь </a:t>
            </a:r>
            <a:r>
              <a:rPr b="1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1: N</a:t>
            </a: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).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0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Один продавец может выдавать много чеков (связь </a:t>
            </a:r>
            <a:r>
              <a:rPr b="1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1: N</a:t>
            </a: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).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00000"/>
              </a:lnSpc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Один кассир может оформлять много чеков (связь </a:t>
            </a:r>
            <a:r>
              <a:rPr b="1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1: N</a:t>
            </a: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).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27" name="CustomShape 10"/>
          <p:cNvSpPr/>
          <p:nvPr/>
        </p:nvSpPr>
        <p:spPr>
          <a:xfrm>
            <a:off x="7423200" y="4090320"/>
            <a:ext cx="5407560" cy="2143080"/>
          </a:xfrm>
          <a:prstGeom prst="roundRect">
            <a:avLst>
              <a:gd name="adj" fmla="val 16667"/>
            </a:avLst>
          </a:prstGeom>
          <a:noFill/>
          <a:ln w="19080">
            <a:solidFill>
              <a:schemeClr val="accent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CustomShape 11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CustomShape 2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ПРОЕКТИРОВАНИЕ БАЗЫ ДАННЫХ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31" name="CustomShape 3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25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232" name="CustomShape 4"/>
          <p:cNvSpPr/>
          <p:nvPr/>
        </p:nvSpPr>
        <p:spPr>
          <a:xfrm>
            <a:off x="1049760" y="1310400"/>
            <a:ext cx="10854360" cy="42346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2. Логическая модель (даталогическая)</a:t>
            </a:r>
            <a:endParaRPr b="0" lang="ru-RU" sz="24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Логическая модель отвечает на вопрос </a:t>
            </a:r>
            <a:r>
              <a:rPr b="1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«В виде каких таблиц храним?».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 Здесь мы определяем: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Названия таблиц и полей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Типы данных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Первичные ключи (PK — Primary Key)</a:t>
            </a:r>
            <a:endParaRPr b="0" lang="ru-RU" sz="24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f1115"/>
              </a:buClr>
              <a:buFont typeface="Symbol"/>
              <a:buChar char=""/>
              <a:tabLst>
                <a:tab algn="l" pos="457200"/>
              </a:tabLst>
            </a:pP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Внешние ключи (FK — Foreign Key) для связей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233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CustomShape 2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ПРОЕКТИРОВАНИЕ БАЗЫ ДАННЫХ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36" name="CustomShape 3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26</a:t>
            </a:r>
            <a:endParaRPr b="0" lang="ru-RU" sz="2000" spc="-1" strike="noStrike">
              <a:latin typeface="Arial"/>
            </a:endParaRPr>
          </a:p>
        </p:txBody>
      </p:sp>
      <p:graphicFrame>
        <p:nvGraphicFramePr>
          <p:cNvPr id="237" name="Table 4"/>
          <p:cNvGraphicFramePr/>
          <p:nvPr/>
        </p:nvGraphicFramePr>
        <p:xfrm>
          <a:off x="487800" y="1490760"/>
          <a:ext cx="11658240" cy="0"/>
        </p:xfrm>
        <a:graphic>
          <a:graphicData uri="http://schemas.openxmlformats.org/drawingml/2006/table">
            <a:tbl>
              <a:tblPr/>
              <a:tblGrid>
                <a:gridCol w="2914560"/>
                <a:gridCol w="2914560"/>
                <a:gridCol w="2914560"/>
                <a:gridCol w="2914560"/>
              </a:tblGrid>
              <a:tr h="0"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Поле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Тип данных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Описание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Ограничения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</a:tr>
              <a:tr h="0"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seller_id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INT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Идентификатор продавца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PRIMARY KEY, AUTO_INCREMENT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name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VARCHAR(255)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Наименование организации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NOT NULL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inn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VARCHAR(12)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ИНН (12 символов для юрлиц)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NOT NULL, UNIQUE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address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TEXT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Юридический адрес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tax_system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VARCHAR(50)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Система налогообложения (ОСН, УСН и т.д.)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kkt_reg_number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VARCHAR(20)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Регистрационный номер ККТ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8" name="CustomShape 5"/>
          <p:cNvSpPr/>
          <p:nvPr/>
        </p:nvSpPr>
        <p:spPr>
          <a:xfrm>
            <a:off x="896040" y="781920"/>
            <a:ext cx="4006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Times New Roman"/>
                <a:ea typeface="Calibri"/>
              </a:rPr>
              <a:t>Таблица Sellers (Продавцы)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239" name="CustomShape 6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CustomShape 2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ПРОЕКТИРОВАНИЕ БАЗЫ ДАННЫХ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42" name="CustomShape 3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27</a:t>
            </a:r>
            <a:endParaRPr b="0" lang="ru-RU" sz="2000" spc="-1" strike="noStrike">
              <a:latin typeface="Arial"/>
            </a:endParaRPr>
          </a:p>
        </p:txBody>
      </p:sp>
      <p:graphicFrame>
        <p:nvGraphicFramePr>
          <p:cNvPr id="243" name="Table 4"/>
          <p:cNvGraphicFramePr/>
          <p:nvPr/>
        </p:nvGraphicFramePr>
        <p:xfrm>
          <a:off x="2345040" y="2126520"/>
          <a:ext cx="8263800" cy="2847960"/>
        </p:xfrm>
        <a:graphic>
          <a:graphicData uri="http://schemas.openxmlformats.org/drawingml/2006/table">
            <a:tbl>
              <a:tblPr/>
              <a:tblGrid>
                <a:gridCol w="1461240"/>
                <a:gridCol w="1827720"/>
                <a:gridCol w="2172600"/>
                <a:gridCol w="2802240"/>
              </a:tblGrid>
              <a:tr h="558000"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Поле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Тип данных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Описание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Ограничения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</a:tr>
              <a:tr h="1331640"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cashier_id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INT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Идентификатор кассира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PRIMARY KEY, AUTO_INCREMENT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58320"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full_name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VARCHAR(255)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ФИО кассира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NOT NULL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4" name="CustomShape 5"/>
          <p:cNvSpPr/>
          <p:nvPr/>
        </p:nvSpPr>
        <p:spPr>
          <a:xfrm>
            <a:off x="953640" y="940680"/>
            <a:ext cx="6478920" cy="4809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07000"/>
              </a:lnSpc>
              <a:spcBef>
                <a:spcPts val="1199"/>
              </a:spcBef>
              <a:spcAft>
                <a:spcPts val="799"/>
              </a:spcAft>
              <a:tabLst>
                <a:tab algn="l" pos="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Times New Roman"/>
                <a:ea typeface="Calibri"/>
              </a:rPr>
              <a:t>Таблица Cashiers (Кассиры)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245" name="CustomShape 6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CustomShape 2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ПРОЕКТИРОВАНИЕ БАЗЫ ДАННЫХ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48" name="CustomShape 3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28</a:t>
            </a:r>
            <a:endParaRPr b="0" lang="ru-RU" sz="2000" spc="-1" strike="noStrike">
              <a:latin typeface="Arial"/>
            </a:endParaRPr>
          </a:p>
        </p:txBody>
      </p:sp>
      <p:graphicFrame>
        <p:nvGraphicFramePr>
          <p:cNvPr id="249" name="Table 4"/>
          <p:cNvGraphicFramePr/>
          <p:nvPr/>
        </p:nvGraphicFramePr>
        <p:xfrm>
          <a:off x="2133720" y="1171800"/>
          <a:ext cx="8111160" cy="5238360"/>
        </p:xfrm>
        <a:graphic>
          <a:graphicData uri="http://schemas.openxmlformats.org/drawingml/2006/table">
            <a:tbl>
              <a:tblPr/>
              <a:tblGrid>
                <a:gridCol w="1464840"/>
                <a:gridCol w="1690920"/>
                <a:gridCol w="2103840"/>
                <a:gridCol w="2851560"/>
              </a:tblGrid>
              <a:tr h="312120"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Поле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Тип данных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Описание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Ограничения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</a:tr>
              <a:tr h="748800"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receipt_id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INT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Идентификатор чека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PRIMARY KEY, AUTO_INCREMENT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29120"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datetime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DATETIME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Дата и время операции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NOT NULL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22920"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total_amount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DECIMAL(10,2)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Итоговая сумма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NOT NULL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22920"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vat_amount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DECIMAL(10,2)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Сумма НДС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55360"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payment_form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VARCHAR(50)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Форма оплаты (НАЛИЧНЫМИ, БЕЗНАЛ и т.д.)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35680"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fiscal_attribute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VARCHAR(50)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Фискальный признак (ФПД)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UNIQUE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55360"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seller_id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INT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 продавца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FOREIGN KEY REFERENCES Sellers(seller_id)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56080"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cashier_id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INT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 кассира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3240" rIns="3240" tIns="32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FOREIGN KEY REFERENCES Cashiers(cashier_id)</a:t>
                      </a:r>
                      <a:endParaRPr b="0" lang="ru-RU" sz="1600" spc="-1" strike="noStrike">
                        <a:latin typeface="Arial"/>
                      </a:endParaRPr>
                    </a:p>
                  </a:txBody>
                  <a:tcPr marL="3240" marR="32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0" name="CustomShape 5"/>
          <p:cNvSpPr/>
          <p:nvPr/>
        </p:nvSpPr>
        <p:spPr>
          <a:xfrm>
            <a:off x="953640" y="629280"/>
            <a:ext cx="6478920" cy="4158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07000"/>
              </a:lnSpc>
              <a:spcBef>
                <a:spcPts val="1199"/>
              </a:spcBef>
              <a:spcAft>
                <a:spcPts val="799"/>
              </a:spcAft>
              <a:tabLst>
                <a:tab algn="l" pos="0"/>
              </a:tabLst>
            </a:pPr>
            <a:r>
              <a:rPr b="1" lang="ru-RU" sz="2000" spc="-1" strike="noStrike">
                <a:solidFill>
                  <a:srgbClr val="000000"/>
                </a:solidFill>
                <a:latin typeface="Times New Roman"/>
                <a:ea typeface="Calibri"/>
              </a:rPr>
              <a:t>Таблица Receipts (Чеки)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251" name="CustomShape 6"/>
          <p:cNvSpPr/>
          <p:nvPr/>
        </p:nvSpPr>
        <p:spPr>
          <a:xfrm>
            <a:off x="1047600" y="644868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stomShape 1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CustomShape 2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CustomShape 3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ПРОЕКТИРОВАНИЕ БАЗЫ ДАННЫХ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55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29</a:t>
            </a:r>
            <a:endParaRPr b="0" lang="ru-RU" sz="2000" spc="-1" strike="noStrike">
              <a:latin typeface="Arial"/>
            </a:endParaRPr>
          </a:p>
        </p:txBody>
      </p:sp>
      <p:graphicFrame>
        <p:nvGraphicFramePr>
          <p:cNvPr id="256" name="Table 5"/>
          <p:cNvGraphicFramePr/>
          <p:nvPr/>
        </p:nvGraphicFramePr>
        <p:xfrm>
          <a:off x="309600" y="1403280"/>
          <a:ext cx="8521920" cy="3740400"/>
        </p:xfrm>
        <a:graphic>
          <a:graphicData uri="http://schemas.openxmlformats.org/drawingml/2006/table">
            <a:tbl>
              <a:tblPr/>
              <a:tblGrid>
                <a:gridCol w="1985760"/>
                <a:gridCol w="1934280"/>
                <a:gridCol w="1762560"/>
                <a:gridCol w="2839320"/>
              </a:tblGrid>
              <a:tr h="502200"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Поле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Тип данных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Описание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Ограничения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</a:tr>
              <a:tr h="1110960"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item_id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INT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Идентификатор позиции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PRIMARY KEY, AUTO_INCREMENT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04320"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product_name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VARCHAR(255)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Наименование товара/услуги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NOT NULL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70240"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quantity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DECIMAL(10,3)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Количество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NOT NULL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52680"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price_per_unit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DECIMAL(10,2)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Цена за единицу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" rIns="7560" tIns="75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NOT NULL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marL="7560" marR="75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7" name="CustomShape 6"/>
          <p:cNvSpPr/>
          <p:nvPr/>
        </p:nvSpPr>
        <p:spPr>
          <a:xfrm>
            <a:off x="953640" y="758520"/>
            <a:ext cx="6478920" cy="4482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07000"/>
              </a:lnSpc>
              <a:spcBef>
                <a:spcPts val="1199"/>
              </a:spcBef>
              <a:spcAft>
                <a:spcPts val="799"/>
              </a:spcAft>
              <a:tabLst>
                <a:tab algn="l" pos="0"/>
              </a:tabLst>
            </a:pPr>
            <a:r>
              <a:rPr b="1" lang="ru-RU" sz="2200" spc="-1" strike="noStrike">
                <a:solidFill>
                  <a:srgbClr val="000000"/>
                </a:solidFill>
                <a:latin typeface="Times New Roman"/>
                <a:ea typeface="Calibri"/>
              </a:rPr>
              <a:t>Таблица Receipt_Items (Позиции чека)</a:t>
            </a:r>
            <a:endParaRPr b="0" lang="ru-RU" sz="2200" spc="-1" strike="noStrike">
              <a:latin typeface="Arial"/>
            </a:endParaRPr>
          </a:p>
        </p:txBody>
      </p:sp>
      <p:graphicFrame>
        <p:nvGraphicFramePr>
          <p:cNvPr id="258" name="Table 7"/>
          <p:cNvGraphicFramePr/>
          <p:nvPr/>
        </p:nvGraphicFramePr>
        <p:xfrm>
          <a:off x="309600" y="5146200"/>
          <a:ext cx="8519400" cy="0"/>
        </p:xfrm>
        <a:graphic>
          <a:graphicData uri="http://schemas.openxmlformats.org/drawingml/2006/table">
            <a:tbl>
              <a:tblPr/>
              <a:tblGrid>
                <a:gridCol w="1982160"/>
                <a:gridCol w="1935360"/>
                <a:gridCol w="1762560"/>
                <a:gridCol w="2838960"/>
              </a:tblGrid>
              <a:tr h="0"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receipt_id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INT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 чека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FOREIGN KEY REFERENCES Receipts(receipt_id) ON DELETE CASCADE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9" name="CustomShape 8"/>
          <p:cNvSpPr/>
          <p:nvPr/>
        </p:nvSpPr>
        <p:spPr>
          <a:xfrm>
            <a:off x="8937360" y="2148480"/>
            <a:ext cx="4016160" cy="17355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CASCADE</a:t>
            </a:r>
            <a:r>
              <a:rPr b="0" lang="ru-RU" sz="18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 означает, что если удалить чек, все связанные с ним позиции тоже удалятся автоматически.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CustomShape 2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ПРОЕКТИРОВАНИЕ БАЗЫ ДАННЫХ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62" name="CustomShape 3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30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263" name="CustomShape 4"/>
          <p:cNvSpPr/>
          <p:nvPr/>
        </p:nvSpPr>
        <p:spPr>
          <a:xfrm>
            <a:off x="211320" y="549360"/>
            <a:ext cx="11242800" cy="10040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 Физическая модель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Физическая модель отвечает на вопрос </a:t>
            </a:r>
            <a:r>
              <a:rPr b="1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«Как именно создать таблицы в конкретной СУБД?»</a:t>
            </a:r>
            <a:r>
              <a:rPr b="0" lang="ru-RU" sz="2000" spc="-1" strike="noStrike">
                <a:solidFill>
                  <a:srgbClr val="0f1115"/>
                </a:solidFill>
                <a:latin typeface="Times New Roman"/>
                <a:ea typeface="Times New Roman"/>
              </a:rPr>
              <a:t>.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264" name="CustomShape 5"/>
          <p:cNvSpPr/>
          <p:nvPr/>
        </p:nvSpPr>
        <p:spPr>
          <a:xfrm>
            <a:off x="7203960" y="1112040"/>
            <a:ext cx="5439960" cy="445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101520" anchor="ctr">
            <a:spAutoFit/>
          </a:bodyPr>
          <a:p>
            <a:pPr>
              <a:lnSpc>
                <a:spcPct val="100000"/>
              </a:lnSpc>
            </a:pP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Создаём таблицу </a:t>
            </a: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Sellers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 (продавцы) с реквизитами организации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Создаём таблицу </a:t>
            </a: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Cashiers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 (кассиры) с ФИО сотрудников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Создаём таблицу </a:t>
            </a: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Receipts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 (чеки) с финансовыми данными и фискальными признаками</a:t>
            </a:r>
            <a:endParaRPr b="0" lang="ru-RU" sz="18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Создаём таблицу </a:t>
            </a:r>
            <a:r>
              <a:rPr b="1" lang="ru-RU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Receipt_Items </a:t>
            </a: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(позиции чека), которая хранит информацию о каждом купленном товаре в чеке.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</p:txBody>
      </p:sp>
      <p:pic>
        <p:nvPicPr>
          <p:cNvPr id="265" name="Рисунок 9" descr=""/>
          <p:cNvPicPr/>
          <p:nvPr/>
        </p:nvPicPr>
        <p:blipFill>
          <a:blip r:embed="rId1"/>
          <a:stretch/>
        </p:blipFill>
        <p:spPr>
          <a:xfrm>
            <a:off x="309600" y="1727280"/>
            <a:ext cx="5920560" cy="4937400"/>
          </a:xfrm>
          <a:prstGeom prst="rect">
            <a:avLst/>
          </a:prstGeom>
          <a:ln>
            <a:noFill/>
          </a:ln>
        </p:spPr>
      </p:pic>
      <p:pic>
        <p:nvPicPr>
          <p:cNvPr id="266" name="Рисунок 10" descr=""/>
          <p:cNvPicPr/>
          <p:nvPr/>
        </p:nvPicPr>
        <p:blipFill>
          <a:blip r:embed="rId2"/>
          <a:stretch/>
        </p:blipFill>
        <p:spPr>
          <a:xfrm>
            <a:off x="6530400" y="5265360"/>
            <a:ext cx="5940000" cy="1287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CustomShape 2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ПРОЕКТИРОВАНИЕ БАЗЫ ДАННЫХ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69" name="CustomShape 3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31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270" name="CustomShape 4"/>
          <p:cNvSpPr/>
          <p:nvPr/>
        </p:nvSpPr>
        <p:spPr>
          <a:xfrm>
            <a:off x="457200" y="1146600"/>
            <a:ext cx="6478920" cy="8218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Заполняем созданные таблицы тестовыми данными из выбранного нами кассового чека</a:t>
            </a:r>
            <a:endParaRPr b="0" lang="ru-RU" sz="2400" spc="-1" strike="noStrike">
              <a:latin typeface="Arial"/>
            </a:endParaRPr>
          </a:p>
        </p:txBody>
      </p:sp>
      <p:pic>
        <p:nvPicPr>
          <p:cNvPr id="271" name="Рисунок 6" descr=""/>
          <p:cNvPicPr/>
          <p:nvPr/>
        </p:nvPicPr>
        <p:blipFill>
          <a:blip r:embed="rId1"/>
          <a:stretch/>
        </p:blipFill>
        <p:spPr>
          <a:xfrm>
            <a:off x="565200" y="2211480"/>
            <a:ext cx="10176120" cy="3353400"/>
          </a:xfrm>
          <a:prstGeom prst="rect">
            <a:avLst/>
          </a:prstGeom>
          <a:ln>
            <a:noFill/>
          </a:ln>
        </p:spPr>
      </p:pic>
      <p:sp>
        <p:nvSpPr>
          <p:cNvPr id="272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CustomShape 1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CustomShape 2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CustomShape 3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ПРОЕКТИРОВАНИЕ БАЗЫ ДАННЫХ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76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32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277" name="CustomShape 5"/>
          <p:cNvSpPr/>
          <p:nvPr/>
        </p:nvSpPr>
        <p:spPr>
          <a:xfrm>
            <a:off x="292680" y="688320"/>
            <a:ext cx="6478920" cy="4561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Связи между таблицами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278" name="CustomShape 6"/>
          <p:cNvSpPr/>
          <p:nvPr/>
        </p:nvSpPr>
        <p:spPr>
          <a:xfrm>
            <a:off x="6324480" y="3263760"/>
            <a:ext cx="304560" cy="30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79" name="Рисунок 9" descr=""/>
          <p:cNvPicPr/>
          <p:nvPr/>
        </p:nvPicPr>
        <p:blipFill>
          <a:blip r:embed="rId1"/>
          <a:stretch/>
        </p:blipFill>
        <p:spPr>
          <a:xfrm>
            <a:off x="2026440" y="1149840"/>
            <a:ext cx="8595720" cy="5514840"/>
          </a:xfrm>
          <a:prstGeom prst="rect">
            <a:avLst/>
          </a:prstGeom>
          <a:ln>
            <a:noFill/>
          </a:ln>
        </p:spPr>
      </p:pic>
      <p:sp>
        <p:nvSpPr>
          <p:cNvPr id="280" name="CustomShape 7"/>
          <p:cNvSpPr/>
          <p:nvPr/>
        </p:nvSpPr>
        <p:spPr>
          <a:xfrm>
            <a:off x="2874960" y="1594440"/>
            <a:ext cx="1739880" cy="39276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CustomShape 8"/>
          <p:cNvSpPr/>
          <p:nvPr/>
        </p:nvSpPr>
        <p:spPr>
          <a:xfrm>
            <a:off x="5879520" y="913680"/>
            <a:ext cx="2108520" cy="39276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CustomShape 9"/>
          <p:cNvSpPr/>
          <p:nvPr/>
        </p:nvSpPr>
        <p:spPr>
          <a:xfrm>
            <a:off x="8673480" y="1754280"/>
            <a:ext cx="1995480" cy="39276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CustomShape 10"/>
          <p:cNvSpPr/>
          <p:nvPr/>
        </p:nvSpPr>
        <p:spPr>
          <a:xfrm>
            <a:off x="6330600" y="4582440"/>
            <a:ext cx="1646640" cy="39276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CustomShape 11"/>
          <p:cNvSpPr/>
          <p:nvPr/>
        </p:nvSpPr>
        <p:spPr>
          <a:xfrm>
            <a:off x="3373920" y="1542240"/>
            <a:ext cx="992520" cy="4575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400" spc="-1" strike="noStrike">
                <a:solidFill>
                  <a:srgbClr val="ffffff"/>
                </a:solidFill>
                <a:latin typeface="Times New Roman"/>
                <a:ea typeface="Arial"/>
              </a:rPr>
              <a:t>Чек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285" name="CustomShape 12"/>
          <p:cNvSpPr/>
          <p:nvPr/>
        </p:nvSpPr>
        <p:spPr>
          <a:xfrm>
            <a:off x="5879520" y="883080"/>
            <a:ext cx="2450520" cy="4561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400" spc="-1" strike="noStrike">
                <a:solidFill>
                  <a:srgbClr val="ffffff"/>
                </a:solidFill>
                <a:latin typeface="Times New Roman"/>
                <a:ea typeface="Arial"/>
              </a:rPr>
              <a:t>Позиция чека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286" name="CustomShape 13"/>
          <p:cNvSpPr/>
          <p:nvPr/>
        </p:nvSpPr>
        <p:spPr>
          <a:xfrm>
            <a:off x="8848080" y="1692720"/>
            <a:ext cx="2235240" cy="4561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400" spc="-1" strike="noStrike">
                <a:solidFill>
                  <a:srgbClr val="ffffff"/>
                </a:solidFill>
                <a:latin typeface="Times New Roman"/>
                <a:ea typeface="Arial"/>
              </a:rPr>
              <a:t>Продавец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287" name="CustomShape 14"/>
          <p:cNvSpPr/>
          <p:nvPr/>
        </p:nvSpPr>
        <p:spPr>
          <a:xfrm>
            <a:off x="6477120" y="4525560"/>
            <a:ext cx="1500120" cy="4561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400" spc="-1" strike="noStrike">
                <a:solidFill>
                  <a:srgbClr val="ffffff"/>
                </a:solidFill>
                <a:latin typeface="Times New Roman"/>
                <a:ea typeface="Arial"/>
              </a:rPr>
              <a:t>Кассир</a:t>
            </a:r>
            <a:endParaRPr b="0" lang="ru-RU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CustomShape 1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CustomShape 2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CustomShape 3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ПРОЕКТИРОВАНИЕ БАЗЫ ДАННЫХ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291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33</a:t>
            </a:r>
            <a:endParaRPr b="0" lang="ru-RU" sz="2000" spc="-1" strike="noStrike">
              <a:latin typeface="Arial"/>
            </a:endParaRPr>
          </a:p>
        </p:txBody>
      </p:sp>
      <p:pic>
        <p:nvPicPr>
          <p:cNvPr id="292" name="Рисунок 2" descr=""/>
          <p:cNvPicPr/>
          <p:nvPr/>
        </p:nvPicPr>
        <p:blipFill>
          <a:blip r:embed="rId1"/>
          <a:stretch/>
        </p:blipFill>
        <p:spPr>
          <a:xfrm>
            <a:off x="447480" y="1140840"/>
            <a:ext cx="10951920" cy="1451520"/>
          </a:xfrm>
          <a:prstGeom prst="rect">
            <a:avLst/>
          </a:prstGeom>
          <a:ln>
            <a:noFill/>
          </a:ln>
        </p:spPr>
      </p:pic>
      <p:pic>
        <p:nvPicPr>
          <p:cNvPr id="293" name="Рисунок 3" descr=""/>
          <p:cNvPicPr/>
          <p:nvPr/>
        </p:nvPicPr>
        <p:blipFill>
          <a:blip r:embed="rId2"/>
          <a:stretch/>
        </p:blipFill>
        <p:spPr>
          <a:xfrm>
            <a:off x="309600" y="2761200"/>
            <a:ext cx="4734360" cy="1990800"/>
          </a:xfrm>
          <a:prstGeom prst="rect">
            <a:avLst/>
          </a:prstGeom>
          <a:ln>
            <a:noFill/>
          </a:ln>
        </p:spPr>
      </p:pic>
      <p:pic>
        <p:nvPicPr>
          <p:cNvPr id="294" name="Рисунок 6" descr=""/>
          <p:cNvPicPr/>
          <p:nvPr/>
        </p:nvPicPr>
        <p:blipFill>
          <a:blip r:embed="rId3"/>
          <a:stretch/>
        </p:blipFill>
        <p:spPr>
          <a:xfrm>
            <a:off x="447480" y="4828320"/>
            <a:ext cx="10892160" cy="1698480"/>
          </a:xfrm>
          <a:prstGeom prst="rect">
            <a:avLst/>
          </a:prstGeom>
          <a:ln>
            <a:noFill/>
          </a:ln>
        </p:spPr>
      </p:pic>
      <p:pic>
        <p:nvPicPr>
          <p:cNvPr id="295" name="Рисунок 7" descr=""/>
          <p:cNvPicPr/>
          <p:nvPr/>
        </p:nvPicPr>
        <p:blipFill>
          <a:blip r:embed="rId4"/>
          <a:stretch/>
        </p:blipFill>
        <p:spPr>
          <a:xfrm>
            <a:off x="5044680" y="2685240"/>
            <a:ext cx="7721640" cy="1857600"/>
          </a:xfrm>
          <a:prstGeom prst="rect">
            <a:avLst/>
          </a:prstGeom>
          <a:ln>
            <a:noFill/>
          </a:ln>
        </p:spPr>
      </p:pic>
      <p:sp>
        <p:nvSpPr>
          <p:cNvPr id="296" name="CustomShape 5"/>
          <p:cNvSpPr/>
          <p:nvPr/>
        </p:nvSpPr>
        <p:spPr>
          <a:xfrm>
            <a:off x="536400" y="690480"/>
            <a:ext cx="3077280" cy="4575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Проверяем данные</a:t>
            </a:r>
            <a:endParaRPr b="0" lang="ru-RU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CustomShape 2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CustomShape 3"/>
          <p:cNvSpPr/>
          <p:nvPr/>
        </p:nvSpPr>
        <p:spPr>
          <a:xfrm>
            <a:off x="102240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ПРОЕКТИРОВАНИЕ БАЗЫ ДАННЫХ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300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34</a:t>
            </a:r>
            <a:endParaRPr b="0" lang="ru-RU" sz="2000" spc="-1" strike="noStrike">
              <a:latin typeface="Arial"/>
            </a:endParaRPr>
          </a:p>
        </p:txBody>
      </p:sp>
      <p:pic>
        <p:nvPicPr>
          <p:cNvPr id="301" name="Рисунок 2" descr=""/>
          <p:cNvPicPr/>
          <p:nvPr/>
        </p:nvPicPr>
        <p:blipFill>
          <a:blip r:embed="rId1"/>
          <a:stretch/>
        </p:blipFill>
        <p:spPr>
          <a:xfrm>
            <a:off x="953640" y="2354400"/>
            <a:ext cx="10353240" cy="4198680"/>
          </a:xfrm>
          <a:prstGeom prst="rect">
            <a:avLst/>
          </a:prstGeom>
          <a:ln>
            <a:noFill/>
          </a:ln>
        </p:spPr>
      </p:pic>
      <p:sp>
        <p:nvSpPr>
          <p:cNvPr id="302" name="CustomShape 5"/>
          <p:cNvSpPr/>
          <p:nvPr/>
        </p:nvSpPr>
        <p:spPr>
          <a:xfrm>
            <a:off x="865080" y="703080"/>
            <a:ext cx="10977480" cy="1553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Выполняем проверку созданной базы данных в среде PostgreSQL. Видим, что все 4 спроектированные таблицы (sellers, cashiers, receipts, receipt_items) успешно созданы в базе. Физическая модель БД реализована правильно и все связи работают как задумано.</a:t>
            </a:r>
            <a:endParaRPr b="0" lang="ru-RU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CustomShape 2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ПРОЕКТИРОВАНИЕ БАЗЫ ДАННЫХ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305" name="CustomShape 3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35</a:t>
            </a:r>
            <a:endParaRPr b="0" lang="ru-RU" sz="2000" spc="-1" strike="noStrike">
              <a:latin typeface="Arial"/>
            </a:endParaRPr>
          </a:p>
        </p:txBody>
      </p:sp>
      <p:pic>
        <p:nvPicPr>
          <p:cNvPr id="306" name="Рисунок 2" descr=""/>
          <p:cNvPicPr/>
          <p:nvPr/>
        </p:nvPicPr>
        <p:blipFill>
          <a:blip r:embed="rId1"/>
          <a:stretch/>
        </p:blipFill>
        <p:spPr>
          <a:xfrm>
            <a:off x="1569960" y="2188800"/>
            <a:ext cx="9315360" cy="4034520"/>
          </a:xfrm>
          <a:prstGeom prst="rect">
            <a:avLst/>
          </a:prstGeom>
          <a:ln>
            <a:noFill/>
          </a:ln>
        </p:spPr>
      </p:pic>
      <p:sp>
        <p:nvSpPr>
          <p:cNvPr id="307" name="CustomShape 4"/>
          <p:cNvSpPr/>
          <p:nvPr/>
        </p:nvSpPr>
        <p:spPr>
          <a:xfrm>
            <a:off x="953640" y="690840"/>
            <a:ext cx="9708840" cy="11876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Создаём представление (VIEW) для удобного просмотра полной информации о чеках и выполняем запрос к нему (получаем полную информацию о конкретном чеке).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308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CustomShape 1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CustomShape 2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ВЫВОД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311" name="CustomShape 3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36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312" name="CustomShape 4"/>
          <p:cNvSpPr/>
          <p:nvPr/>
        </p:nvSpPr>
        <p:spPr>
          <a:xfrm>
            <a:off x="565200" y="1073160"/>
            <a:ext cx="11724480" cy="48452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Arial"/>
              </a:rPr>
              <a:t>	</a:t>
            </a:r>
            <a:r>
              <a:rPr b="0" lang="ru-RU" sz="2400" spc="-1" strike="noStrike">
                <a:solidFill>
                  <a:srgbClr val="0f1115"/>
                </a:solidFill>
                <a:latin typeface="Times New Roman"/>
                <a:ea typeface="Arial"/>
              </a:rPr>
              <a:t>В ходе выполнения лабораторной работы был проведен полный цикл анализа и моделирования первичного учетного документа на примере кассового чека ООО «Альфа». Выполнен реквизитный анализ документа с классификацией реквизитов на постоянные и переменные, а также выделены ключевые финансовые и экономические показатели. Изучена нормативная база (ФЗ-54) и описан бизнес-процесс работы с кассовым чеком от инициации покупки до фискализации данных. Освоен стандарт BPMN 2.0 и инструмент Stormbpmn, разработана схема процесса, отражающая взаимодействие покупателя, кассира и ККТ. Спроектирована структура базы данных для хранения внутримашинного представления документа: на концептуальном уровне определены сущности «Продавец», «Кассир», «Чек», «Позиция чека» и связи между ними; на логическом уровне разработана реляционная схема с атрибутами, типами данных, первичными и внешними ключами; на физическом уровне подготовлена детализированная схема для реализации в СУБД с учетом каскадного удаления.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313" name="CustomShape 5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CustomShape 1"/>
          <p:cNvSpPr/>
          <p:nvPr/>
        </p:nvSpPr>
        <p:spPr>
          <a:xfrm>
            <a:off x="1047600" y="6410520"/>
            <a:ext cx="2742840" cy="28476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CustomShape 2"/>
          <p:cNvSpPr/>
          <p:nvPr/>
        </p:nvSpPr>
        <p:spPr>
          <a:xfrm>
            <a:off x="609480" y="6410520"/>
            <a:ext cx="510840" cy="284760"/>
          </a:xfrm>
          <a:prstGeom prst="rect">
            <a:avLst/>
          </a:prstGeom>
          <a:solidFill>
            <a:srgbClr val="ffffff"/>
          </a:solidFill>
          <a:ln w="12600">
            <a:solidFill>
              <a:schemeClr val="bg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CustomShape 3"/>
          <p:cNvSpPr/>
          <p:nvPr/>
        </p:nvSpPr>
        <p:spPr>
          <a:xfrm>
            <a:off x="953640" y="167760"/>
            <a:ext cx="10726560" cy="518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a30236"/>
                </a:solidFill>
                <a:latin typeface="Times New Roman"/>
                <a:ea typeface="Arial"/>
              </a:rPr>
              <a:t>ИСПОЛЬЗУЕМЫЕ ИСТОЧНИКИ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317" name="CustomShape 4"/>
          <p:cNvSpPr/>
          <p:nvPr/>
        </p:nvSpPr>
        <p:spPr>
          <a:xfrm>
            <a:off x="309600" y="229320"/>
            <a:ext cx="510840" cy="396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ffffff"/>
                </a:solidFill>
                <a:latin typeface="Times New Roman"/>
                <a:ea typeface="Arial"/>
              </a:rPr>
              <a:t>37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318" name="CustomShape 5"/>
          <p:cNvSpPr/>
          <p:nvPr/>
        </p:nvSpPr>
        <p:spPr>
          <a:xfrm>
            <a:off x="243000" y="808920"/>
            <a:ext cx="12403080" cy="62006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00000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0" lang="ru-RU" sz="1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Российская Федерация. Законы. О применении контрольно-кассовой техники при осуществлении расчетов в Российской Федерации : Федеральный закон № 54-ФЗ : [принят Государственной Думой 25 апреля 2003 года : одобрен Советом Федерации 14 мая 2003 года]. — Москва : Кремль, 2003. — Текст : электронный // КонсультантПлюс : [сайт]. — URL: </a:t>
            </a:r>
            <a:r>
              <a:rPr b="0" lang="ru-RU" sz="1500" spc="-1" strike="noStrike">
                <a:solidFill>
                  <a:srgbClr val="0000ff"/>
                </a:solidFill>
                <a:latin typeface="Times New Roman"/>
                <a:ea typeface="Times New Roman"/>
                <a:hlinkClick r:id="rId1"/>
              </a:rPr>
              <a:t>http://www.consultant.ru/document/cons_doc_LAW_42359/</a:t>
            </a:r>
            <a:r>
              <a:rPr b="0" lang="ru-RU" sz="1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(дата обращения: 03.03.2026).</a:t>
            </a:r>
            <a:endParaRPr b="0" lang="ru-RU" sz="15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00000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0" lang="ru-RU" sz="1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Как работать на кассе: инструкция для кассира : Как пробивать товары, закрывать смену и возвращать покупки. — Текст : электронный // Онлайн-касса : [сайт]. — 2024. — URL: </a:t>
            </a:r>
            <a:r>
              <a:rPr b="0" lang="ru-RU" sz="1500" spc="-1" strike="noStrike">
                <a:solidFill>
                  <a:srgbClr val="0000ff"/>
                </a:solidFill>
                <a:latin typeface="Times New Roman"/>
                <a:ea typeface="Times New Roman"/>
                <a:hlinkClick r:id="rId2"/>
              </a:rPr>
              <a:t>https://online-kassa.ru/blog/kak-rabotat-na-kasse-instruktsiya-dlya-kassira/</a:t>
            </a:r>
            <a:r>
              <a:rPr b="0" lang="ru-RU" sz="1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(дата обращения: 03.03.2026).</a:t>
            </a:r>
            <a:endParaRPr b="0" lang="ru-RU" sz="15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00000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0" lang="ru-RU" sz="1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Регламент порядка работы пользователей на контрольно-кассовой технике (ККТ) в приложениях "1С:Розница 8", "1С:Управление торговлей 8", "1С:Комплексная автоматизация 8", "1С:ERP Управление холдингом 8". — Текст : электронный // 1С:ИТС : [сайт]. — Москва : Фирма "1С", 2025. — URL: </a:t>
            </a:r>
            <a:r>
              <a:rPr b="0" lang="ru-RU" sz="1500" spc="-1" strike="noStrike">
                <a:solidFill>
                  <a:srgbClr val="0000ff"/>
                </a:solidFill>
                <a:latin typeface="Times New Roman"/>
                <a:ea typeface="Times New Roman"/>
                <a:hlinkClick r:id="rId3"/>
              </a:rPr>
              <a:t>https://torg.1c.ru/upload/iblock/5eb/5eb2d08927a7fe3ffebcf4a866836949.pdf</a:t>
            </a:r>
            <a:r>
              <a:rPr b="0" lang="ru-RU" sz="1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(дата обращения: 03.03.2026).</a:t>
            </a:r>
            <a:endParaRPr b="0" lang="ru-RU" sz="15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00000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0" lang="ru-RU" sz="1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Федеральная налоговая служба : официальный сайт. — Москва. — Обновляется в течение суток. — URL: </a:t>
            </a:r>
            <a:r>
              <a:rPr b="0" lang="ru-RU" sz="1500" spc="-1" strike="noStrike">
                <a:solidFill>
                  <a:srgbClr val="0000ff"/>
                </a:solidFill>
                <a:latin typeface="Times New Roman"/>
                <a:ea typeface="Times New Roman"/>
                <a:hlinkClick r:id="rId4"/>
              </a:rPr>
              <a:t>https://www.nalog.gov.ru/</a:t>
            </a:r>
            <a:r>
              <a:rPr b="0" lang="ru-RU" sz="1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(дата обращения: 03.03.2026). — Текст : электронный.</a:t>
            </a:r>
            <a:endParaRPr b="0" lang="ru-RU" sz="15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00000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0" lang="ru-RU" sz="1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Официальная документация BPMN. — Текст : электронный // </a:t>
            </a:r>
            <a:r>
              <a:rPr b="0" lang="ru-RU" sz="1500" spc="-1" strike="noStrike">
                <a:solidFill>
                  <a:srgbClr val="0000ff"/>
                </a:solidFill>
                <a:latin typeface="Times New Roman"/>
                <a:ea typeface="Times New Roman"/>
                <a:hlinkClick r:id="rId5"/>
              </a:rPr>
              <a:t>BPMN2.0.ru</a:t>
            </a:r>
            <a:r>
              <a:rPr b="0" lang="ru-RU" sz="1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: Документация по нотации BPMN. — URL: </a:t>
            </a:r>
            <a:r>
              <a:rPr b="0" lang="ru-RU" sz="1500" spc="-1" strike="noStrike">
                <a:solidFill>
                  <a:srgbClr val="0000ff"/>
                </a:solidFill>
                <a:latin typeface="Times New Roman"/>
                <a:ea typeface="Times New Roman"/>
                <a:hlinkClick r:id="rId6"/>
              </a:rPr>
              <a:t>https://bpmn20.ru/docs/docly-documentation/elements/oficzialnaya-dokumentacziya-bpmn/</a:t>
            </a:r>
            <a:r>
              <a:rPr b="0" lang="ru-RU" sz="1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(дата обращения: 03.03.2026).</a:t>
            </a:r>
            <a:endParaRPr b="0" lang="ru-RU" sz="1500" spc="-1" strike="noStrike">
              <a:latin typeface="Arial"/>
            </a:endParaRPr>
          </a:p>
          <a:p>
            <a:pPr marL="343080" indent="-342720" algn="just">
              <a:lnSpc>
                <a:spcPct val="150000"/>
              </a:lnSpc>
              <a:spcAft>
                <a:spcPts val="799"/>
              </a:spcAft>
              <a:buClr>
                <a:srgbClr val="000000"/>
              </a:buClr>
              <a:buFont typeface="Calibri"/>
              <a:buAutoNum type="arabicPeriod"/>
              <a:tabLst>
                <a:tab algn="l" pos="457200"/>
              </a:tabLst>
            </a:pPr>
            <a:r>
              <a:rPr b="0" lang="ru-RU" sz="1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Stormbpmn : онлайн-сервис для моделирования бизнес-процессов. — URL: </a:t>
            </a:r>
            <a:r>
              <a:rPr b="0" lang="ru-RU" sz="1500" spc="-1" strike="noStrike">
                <a:solidFill>
                  <a:srgbClr val="0000ff"/>
                </a:solidFill>
                <a:latin typeface="Times New Roman"/>
                <a:ea typeface="Times New Roman"/>
                <a:hlinkClick r:id="rId7"/>
              </a:rPr>
              <a:t>https://stormbpmn.com/</a:t>
            </a:r>
            <a:r>
              <a:rPr b="0" lang="ru-RU" sz="1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(дата обращения: 03.03.2026). — Текст : электронный.</a:t>
            </a:r>
            <a:endParaRPr b="0" lang="ru-RU" sz="15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ru-RU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Shape 1"/>
          <p:cNvSpPr txBox="1"/>
          <p:nvPr/>
        </p:nvSpPr>
        <p:spPr>
          <a:xfrm>
            <a:off x="1065240" y="2235600"/>
            <a:ext cx="10423080" cy="22006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ru-RU" sz="6900" spc="-1" strike="noStrike">
                <a:solidFill>
                  <a:srgbClr val="ffffff"/>
                </a:solidFill>
                <a:latin typeface="Times New Roman"/>
                <a:ea typeface="Times New Roman"/>
              </a:rPr>
              <a:t>СПАСИБО ЗА ВНИМАНИЕ!</a:t>
            </a:r>
            <a:endParaRPr b="0" lang="ru-RU" sz="6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CustomShape 2"/>
          <p:cNvSpPr/>
          <p:nvPr/>
        </p:nvSpPr>
        <p:spPr>
          <a:xfrm>
            <a:off x="913680" y="6125760"/>
            <a:ext cx="2146680" cy="2134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Arial"/>
              </a:rPr>
              <a:t>Нижний Новгород, 202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321" name="CustomShape 3"/>
          <p:cNvSpPr/>
          <p:nvPr/>
        </p:nvSpPr>
        <p:spPr>
          <a:xfrm>
            <a:off x="11955960" y="698040"/>
            <a:ext cx="353520" cy="58968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</TotalTime>
  <Application>LibreOffice/6.4.5.2$Windows_x86 LibreOffice_project/a726b36747cf2001e06b58ad5db1aa3a9a1872d6</Application>
  <Words>3056</Words>
  <Paragraphs>375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dc:description/>
  <dc:language>ru-RU</dc:language>
  <cp:lastModifiedBy/>
  <dcterms:modified xsi:type="dcterms:W3CDTF">2026-03-05T18:24:22Z</dcterms:modified>
  <cp:revision>11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Произвольный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38</vt:i4>
  </property>
</Properties>
</file>